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984" r:id="rId3"/>
    <p:sldId id="1144" r:id="rId5"/>
    <p:sldId id="1145" r:id="rId6"/>
    <p:sldId id="256" r:id="rId7"/>
    <p:sldId id="1213" r:id="rId8"/>
    <p:sldId id="1198" r:id="rId9"/>
    <p:sldId id="1218" r:id="rId10"/>
    <p:sldId id="1199" r:id="rId11"/>
    <p:sldId id="1214" r:id="rId12"/>
    <p:sldId id="1200" r:id="rId13"/>
    <p:sldId id="1217" r:id="rId14"/>
    <p:sldId id="1201" r:id="rId15"/>
    <p:sldId id="1215" r:id="rId16"/>
    <p:sldId id="1203" r:id="rId17"/>
    <p:sldId id="1204" r:id="rId18"/>
    <p:sldId id="1205" r:id="rId19"/>
    <p:sldId id="1206" r:id="rId20"/>
    <p:sldId id="1209" r:id="rId21"/>
    <p:sldId id="1210" r:id="rId22"/>
    <p:sldId id="1219" r:id="rId23"/>
    <p:sldId id="1211" r:id="rId24"/>
    <p:sldId id="1220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4B"/>
    <a:srgbClr val="D29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" name="Google Shape;8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10;p46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46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46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46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5" name="Google Shape;15;p4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" name="Google Shape;16;p4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" name="Google Shape;17;p4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8" name="Google Shape;18;p4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" name="Google Shape;19;p4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0" name="Google Shape;20;p4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" name="Google Shape;21;p4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2" name="Google Shape;22;p4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" name="Google Shape;23;p4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4" name="Google Shape;24;p4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5" name="Google Shape;25;p4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" name="Google Shape;26;p4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" name="Google Shape;27;p4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" name="Google Shape;30;p4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Google Shape;31;p4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47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4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" name="Google Shape;34;p4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5" name="Google Shape;35;p4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" name="Google Shape;36;p4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7" name="Google Shape;37;p4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" name="Google Shape;38;p4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" name="Google Shape;39;p4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" name="Google Shape;40;p4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1" name="Google Shape;41;p4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" name="Google Shape;42;p4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" name="Google Shape;43;p4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" name="Google Shape;44;p4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5" name="Google Shape;45;p4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6" name="Google Shape;46;p4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6" name="Google Shape;76;p4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49"/>
          <p:cNvSpPr txBox="1">
            <a:spLocks noGrp="1"/>
          </p:cNvSpPr>
          <p:nvPr>
            <p:ph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49"/>
          <p:cNvSpPr txBox="1">
            <a:spLocks noGrp="1"/>
          </p:cNvSpPr>
          <p:nvPr>
            <p:ph type="title" idx="2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49"/>
          <p:cNvSpPr txBox="1">
            <a:spLocks noGrp="1"/>
          </p:cNvSpPr>
          <p:nvPr>
            <p:ph type="subTitle" idx="1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1" name="Google Shape;81;p4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2" name="Google Shape;82;p4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3" name="Google Shape;83;p4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4" name="Google Shape;84;p4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5" name="Google Shape;85;p4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6" name="Google Shape;86;p4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7" name="Google Shape;87;p4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8" name="Google Shape;88;p4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89" name="Google Shape;89;p4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90" name="Google Shape;90;p4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91" name="Google Shape;91;p4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92" name="Google Shape;92;p4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93" name="Google Shape;93;p4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50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50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8" name="Google Shape;98;p50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9" name="Google Shape;99;p50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5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1" name="Google Shape;101;p5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2" name="Google Shape;102;p5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3" name="Google Shape;103;p5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4" name="Google Shape;104;p5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5" name="Google Shape;105;p5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6" name="Google Shape;106;p5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7" name="Google Shape;107;p5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8" name="Google Shape;108;p5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9" name="Google Shape;109;p5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10" name="Google Shape;110;p5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11" name="Google Shape;111;p5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12" name="Google Shape;112;p5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13" name="Google Shape;113;p5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14" name="Google Shape;114;p50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5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51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9" name="Google Shape;119;p51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0" name="Google Shape;120;p5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1" name="Google Shape;121;p5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2" name="Google Shape;122;p5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3" name="Google Shape;123;p5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4" name="Google Shape;124;p5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5" name="Google Shape;125;p5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6" name="Google Shape;126;p5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7" name="Google Shape;127;p5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8" name="Google Shape;128;p5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29" name="Google Shape;129;p5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30" name="Google Shape;130;p5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31" name="Google Shape;131;p5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32" name="Google Shape;132;p5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33" name="Google Shape;133;p5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6" name="Google Shape;136;p52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7" name="Google Shape;137;p5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38" name="Google Shape;138;p5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39" name="Google Shape;139;p5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0" name="Google Shape;140;p5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1" name="Google Shape;141;p5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2" name="Google Shape;142;p5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3" name="Google Shape;143;p5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4" name="Google Shape;144;p5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5" name="Google Shape;145;p5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6" name="Google Shape;146;p5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7" name="Google Shape;147;p5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8" name="Google Shape;148;p5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49" name="Google Shape;149;p5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50" name="Google Shape;150;p5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51" name="Google Shape;151;p52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5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5" name="Google Shape;155;p53"/>
          <p:cNvSpPr txBox="1">
            <a:spLocks noGrp="1"/>
          </p:cNvSpPr>
          <p:nvPr>
            <p:ph type="subTitle" idx="1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6" name="Google Shape;156;p53"/>
          <p:cNvSpPr txBox="1">
            <a:spLocks noGrp="1"/>
          </p:cNvSpPr>
          <p:nvPr>
            <p:ph type="subTitle" idx="2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7" name="Google Shape;157;p53"/>
          <p:cNvSpPr txBox="1">
            <a:spLocks noGrp="1"/>
          </p:cNvSpPr>
          <p:nvPr>
            <p:ph type="subTitle" idx="3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53"/>
          <p:cNvSpPr txBox="1">
            <a:spLocks noGrp="1"/>
          </p:cNvSpPr>
          <p:nvPr>
            <p:ph type="subTitle" idx="4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9" name="Google Shape;159;p53"/>
          <p:cNvSpPr txBox="1">
            <a:spLocks noGrp="1"/>
          </p:cNvSpPr>
          <p:nvPr>
            <p:ph type="subTitle" idx="5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53"/>
          <p:cNvSpPr txBox="1">
            <a:spLocks noGrp="1"/>
          </p:cNvSpPr>
          <p:nvPr>
            <p:ph type="subTitle" idx="6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5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2" name="Google Shape;162;p5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3" name="Google Shape;163;p5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4" name="Google Shape;164;p5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5" name="Google Shape;165;p5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6" name="Google Shape;166;p5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7" name="Google Shape;167;p5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8" name="Google Shape;168;p5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69" name="Google Shape;169;p5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0" name="Google Shape;170;p5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1" name="Google Shape;171;p5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2" name="Google Shape;172;p5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3" name="Google Shape;173;p5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4" name="Google Shape;174;p5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75" name="Google Shape;175;p53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8" name="Google Shape;178;p5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9" name="Google Shape;179;p54"/>
          <p:cNvSpPr txBox="1">
            <a:spLocks noGrp="1"/>
          </p:cNvSpPr>
          <p:nvPr>
            <p:ph type="subTitle" idx="1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0" name="Google Shape;180;p54"/>
          <p:cNvSpPr txBox="1">
            <a:spLocks noGrp="1"/>
          </p:cNvSpPr>
          <p:nvPr>
            <p:ph type="subTitle" idx="2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1" name="Google Shape;181;p54"/>
          <p:cNvSpPr txBox="1">
            <a:spLocks noGrp="1"/>
          </p:cNvSpPr>
          <p:nvPr>
            <p:ph type="subTitle" idx="3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2" name="Google Shape;182;p54"/>
          <p:cNvSpPr txBox="1">
            <a:spLocks noGrp="1"/>
          </p:cNvSpPr>
          <p:nvPr>
            <p:ph type="subTitle" idx="4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54"/>
          <p:cNvSpPr txBox="1">
            <a:spLocks noGrp="1"/>
          </p:cNvSpPr>
          <p:nvPr>
            <p:ph type="subTitle" idx="5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4" name="Google Shape;184;p54"/>
          <p:cNvSpPr txBox="1">
            <a:spLocks noGrp="1"/>
          </p:cNvSpPr>
          <p:nvPr>
            <p:ph type="subTitle" idx="6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54"/>
          <p:cNvSpPr txBox="1">
            <a:spLocks noGrp="1"/>
          </p:cNvSpPr>
          <p:nvPr>
            <p:ph type="subTitle" idx="7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54"/>
          <p:cNvSpPr txBox="1">
            <a:spLocks noGrp="1"/>
          </p:cNvSpPr>
          <p:nvPr>
            <p:ph type="subTitle" idx="8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5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88" name="Google Shape;188;p5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89" name="Google Shape;189;p5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0" name="Google Shape;190;p5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1" name="Google Shape;191;p5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2" name="Google Shape;192;p5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3" name="Google Shape;193;p5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4" name="Google Shape;194;p5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5" name="Google Shape;195;p5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6" name="Google Shape;196;p5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7" name="Google Shape;197;p5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8" name="Google Shape;198;p5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99" name="Google Shape;199;p5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00" name="Google Shape;200;p5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01" name="Google Shape;201;p5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4" name="Google Shape;204;p5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5" name="Google Shape;205;p55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206" name="Google Shape;206;p5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07" name="Google Shape;207;p5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08" name="Google Shape;208;p5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09" name="Google Shape;209;p5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0" name="Google Shape;210;p5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1" name="Google Shape;211;p5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2" name="Google Shape;212;p5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3" name="Google Shape;213;p5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4" name="Google Shape;214;p5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5" name="Google Shape;215;p5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6" name="Google Shape;216;p5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7" name="Google Shape;217;p5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8" name="Google Shape;218;p5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19" name="Google Shape;219;p5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20" name="Google Shape;220;p55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" name="Google Shape;221;p55"/>
          <p:cNvSpPr txBox="1">
            <a:spLocks noGrp="1"/>
          </p:cNvSpPr>
          <p:nvPr>
            <p:ph type="title" idx="2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2" name="Google Shape;222;p55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223" name="Google Shape;223;p55"/>
          <p:cNvSpPr txBox="1">
            <a:spLocks noGrp="1"/>
          </p:cNvSpPr>
          <p:nvPr>
            <p:ph type="title" idx="4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4" name="Google Shape;224;p55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7" name="Google Shape;227;p56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29" name="Google Shape;229;p56"/>
          <p:cNvSpPr txBox="1">
            <a:spLocks noGrp="1"/>
          </p:cNvSpPr>
          <p:nvPr>
            <p:ph type="subTitle" idx="1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5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1" name="Google Shape;231;p5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2" name="Google Shape;232;p5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3" name="Google Shape;233;p5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4" name="Google Shape;234;p5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5" name="Google Shape;235;p5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6" name="Google Shape;236;p5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7" name="Google Shape;237;p5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8" name="Google Shape;238;p5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39" name="Google Shape;239;p5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40" name="Google Shape;240;p5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41" name="Google Shape;241;p5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42" name="Google Shape;242;p5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43" name="Google Shape;243;p5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44" name="Google Shape;244;p56"/>
          <p:cNvSpPr txBox="1">
            <a:spLocks noGrp="1"/>
          </p:cNvSpPr>
          <p:nvPr>
            <p:ph type="title" idx="2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45" name="Google Shape;245;p56"/>
          <p:cNvSpPr txBox="1">
            <a:spLocks noGrp="1"/>
          </p:cNvSpPr>
          <p:nvPr>
            <p:ph type="subTitle" idx="3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56"/>
          <p:cNvSpPr txBox="1">
            <a:spLocks noGrp="1"/>
          </p:cNvSpPr>
          <p:nvPr>
            <p:ph type="title" idx="4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247" name="Google Shape;247;p56"/>
          <p:cNvSpPr txBox="1">
            <a:spLocks noGrp="1"/>
          </p:cNvSpPr>
          <p:nvPr>
            <p:ph type="subTitle" idx="5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7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2" name="Google Shape;252;p5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3" name="Google Shape;253;p5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4" name="Google Shape;254;p5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55" name="Google Shape;255;p5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56" name="Google Shape;256;p5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57" name="Google Shape;257;p5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58" name="Google Shape;258;p5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59" name="Google Shape;259;p5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0" name="Google Shape;260;p5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1" name="Google Shape;261;p5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2" name="Google Shape;262;p5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3" name="Google Shape;263;p5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4" name="Google Shape;264;p5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5" name="Google Shape;265;p5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6" name="Google Shape;266;p5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67" name="Google Shape;267;p5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0" name="Google Shape;270;p59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1" name="Google Shape;271;p59"/>
          <p:cNvSpPr txBox="1">
            <a:spLocks noGrp="1"/>
          </p:cNvSpPr>
          <p:nvPr>
            <p:ph type="subTitle" idx="1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2" name="Google Shape;272;p59"/>
          <p:cNvSpPr txBox="1">
            <a:spLocks noGrp="1"/>
          </p:cNvSpPr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5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4" name="Google Shape;274;p5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5" name="Google Shape;275;p5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6" name="Google Shape;276;p5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7" name="Google Shape;277;p5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8" name="Google Shape;278;p5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79" name="Google Shape;279;p5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0" name="Google Shape;280;p5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1" name="Google Shape;281;p5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2" name="Google Shape;282;p5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3" name="Google Shape;283;p5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4" name="Google Shape;284;p5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5" name="Google Shape;285;p5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86" name="Google Shape;286;p5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9" name="Google Shape;289;p60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0" name="Google Shape;290;p60"/>
          <p:cNvSpPr txBox="1">
            <a:spLocks noGrp="1"/>
          </p:cNvSpPr>
          <p:nvPr>
            <p:ph type="title" hasCustomPrompt="1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1" name="Google Shape;291;p60"/>
          <p:cNvSpPr txBox="1">
            <a:spLocks noGrp="1"/>
          </p:cNvSpPr>
          <p:nvPr>
            <p:ph type="body" idx="1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marL="914400" lvl="1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2" name="Google Shape;292;p6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3" name="Google Shape;293;p6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4" name="Google Shape;294;p6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5" name="Google Shape;295;p6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6" name="Google Shape;296;p6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7" name="Google Shape;297;p6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8" name="Google Shape;298;p6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99" name="Google Shape;299;p6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00" name="Google Shape;300;p6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01" name="Google Shape;301;p6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02" name="Google Shape;302;p6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03" name="Google Shape;303;p6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04" name="Google Shape;304;p6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05" name="Google Shape;305;p6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8" name="Google Shape;308;p6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9" name="Google Shape;309;p61"/>
          <p:cNvSpPr txBox="1">
            <a:spLocks noGrp="1"/>
          </p:cNvSpPr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0" name="Google Shape;310;p61"/>
          <p:cNvSpPr txBox="1">
            <a:spLocks noGrp="1"/>
          </p:cNvSpPr>
          <p:nvPr>
            <p:ph type="subTitle" idx="1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1" name="Google Shape;311;p6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2" name="Google Shape;312;p6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3" name="Google Shape;313;p6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4" name="Google Shape;314;p6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5" name="Google Shape;315;p6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6" name="Google Shape;316;p6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7" name="Google Shape;317;p6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8" name="Google Shape;318;p6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19" name="Google Shape;319;p6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20" name="Google Shape;320;p6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21" name="Google Shape;321;p6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22" name="Google Shape;322;p6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23" name="Google Shape;323;p6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24" name="Google Shape;324;p6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7" name="Google Shape;327;p62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8" name="Google Shape;328;p62"/>
          <p:cNvSpPr txBox="1">
            <a:spLocks noGrp="1"/>
          </p:cNvSpPr>
          <p:nvPr>
            <p:ph type="subTitle" idx="1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9" name="Google Shape;329;p62"/>
          <p:cNvSpPr txBox="1">
            <a:spLocks noGrp="1"/>
          </p:cNvSpPr>
          <p:nvPr>
            <p:ph type="subTitle" idx="2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0" name="Google Shape;330;p62"/>
          <p:cNvSpPr txBox="1">
            <a:spLocks noGrp="1"/>
          </p:cNvSpPr>
          <p:nvPr>
            <p:ph type="subTitle" idx="3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1" name="Google Shape;331;p62"/>
          <p:cNvSpPr txBox="1">
            <a:spLocks noGrp="1"/>
          </p:cNvSpPr>
          <p:nvPr>
            <p:ph type="subTitle" idx="4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62"/>
          <p:cNvSpPr txBox="1">
            <a:spLocks noGrp="1"/>
          </p:cNvSpPr>
          <p:nvPr>
            <p:ph type="subTitle" idx="5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3" name="Google Shape;333;p62"/>
          <p:cNvSpPr txBox="1">
            <a:spLocks noGrp="1"/>
          </p:cNvSpPr>
          <p:nvPr>
            <p:ph type="subTitle" idx="6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62"/>
          <p:cNvSpPr txBox="1">
            <a:spLocks noGrp="1"/>
          </p:cNvSpPr>
          <p:nvPr>
            <p:ph type="subTitle" idx="7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5" name="Google Shape;335;p62"/>
          <p:cNvSpPr txBox="1">
            <a:spLocks noGrp="1"/>
          </p:cNvSpPr>
          <p:nvPr>
            <p:ph type="subTitle" idx="8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62"/>
          <p:cNvSpPr txBox="1">
            <a:spLocks noGrp="1"/>
          </p:cNvSpPr>
          <p:nvPr>
            <p:ph type="subTitle" idx="9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7" name="Google Shape;337;p62"/>
          <p:cNvSpPr txBox="1">
            <a:spLocks noGrp="1"/>
          </p:cNvSpPr>
          <p:nvPr>
            <p:ph type="subTitle" idx="13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62"/>
          <p:cNvSpPr txBox="1">
            <a:spLocks noGrp="1"/>
          </p:cNvSpPr>
          <p:nvPr>
            <p:ph type="subTitle" idx="14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62"/>
          <p:cNvSpPr txBox="1">
            <a:spLocks noGrp="1"/>
          </p:cNvSpPr>
          <p:nvPr>
            <p:ph type="subTitle" idx="15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6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1" name="Google Shape;341;p6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2" name="Google Shape;342;p6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3" name="Google Shape;343;p6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4" name="Google Shape;344;p6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5" name="Google Shape;345;p6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6" name="Google Shape;346;p6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7" name="Google Shape;347;p6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8" name="Google Shape;348;p6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49" name="Google Shape;349;p6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50" name="Google Shape;350;p6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51" name="Google Shape;351;p6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52" name="Google Shape;352;p6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53" name="Google Shape;353;p6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54" name="Google Shape;354;p62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7" name="Google Shape;357;p6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8" name="Google Shape;358;p63"/>
          <p:cNvSpPr txBox="1">
            <a:spLocks noGrp="1"/>
          </p:cNvSpPr>
          <p:nvPr>
            <p:ph type="subTitle" idx="1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63"/>
          <p:cNvSpPr txBox="1">
            <a:spLocks noGrp="1"/>
          </p:cNvSpPr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0" name="Google Shape;360;p6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1" name="Google Shape;361;p6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2" name="Google Shape;362;p6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3" name="Google Shape;363;p6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4" name="Google Shape;364;p6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5" name="Google Shape;365;p6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6" name="Google Shape;366;p6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7" name="Google Shape;367;p6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8" name="Google Shape;368;p6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69" name="Google Shape;369;p6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70" name="Google Shape;370;p6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71" name="Google Shape;371;p6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72" name="Google Shape;372;p6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73" name="Google Shape;373;p6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6" name="Google Shape;376;p6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7" name="Google Shape;377;p64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8" name="Google Shape;378;p64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9" name="Google Shape;379;p64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0" name="Google Shape;380;p6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1" name="Google Shape;381;p6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2" name="Google Shape;382;p6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3" name="Google Shape;383;p6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4" name="Google Shape;384;p6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5" name="Google Shape;385;p6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6" name="Google Shape;386;p6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7" name="Google Shape;387;p6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8" name="Google Shape;388;p6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89" name="Google Shape;389;p6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0" name="Google Shape;390;p6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1" name="Google Shape;391;p6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2" name="Google Shape;392;p6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3" name="Google Shape;393;p6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4" name="Google Shape;394;p64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CREDITS: This presentation template was created by </a:t>
            </a:r>
            <a:r>
              <a:rPr lang="en-GB" sz="1200" b="1" i="0" u="none" strike="noStrike" cap="none">
                <a:solidFill>
                  <a:schemeClr val="accent3"/>
                </a:solidFill>
                <a:uFill>
                  <a:noFill/>
                </a:u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  <a:hlinkClick r:id="rId2"/>
              </a:rPr>
              <a:t>Slidesgo</a:t>
            </a:r>
            <a:r>
              <a:rPr lang="en-GB" sz="12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, including icons by </a:t>
            </a:r>
            <a:r>
              <a:rPr lang="en-GB" sz="1200" b="1" i="0" u="none" strike="noStrike" cap="none">
                <a:solidFill>
                  <a:schemeClr val="accent3"/>
                </a:solidFill>
                <a:uFill>
                  <a:noFill/>
                </a:u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  <a:hlinkClick r:id="rId3"/>
              </a:rPr>
              <a:t>Flaticon</a:t>
            </a:r>
            <a:r>
              <a:rPr lang="en-GB" sz="12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, and infographics &amp; images by </a:t>
            </a:r>
            <a:r>
              <a:rPr lang="en-GB" sz="1200" b="1" i="0" u="none" strike="noStrike" cap="none">
                <a:solidFill>
                  <a:schemeClr val="accent3"/>
                </a:solidFill>
                <a:uFill>
                  <a:noFill/>
                </a:u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  <a:hlinkClick r:id="rId4"/>
              </a:rPr>
              <a:t>Freepik</a:t>
            </a:r>
            <a:endParaRPr sz="1200" b="1" i="0" u="sng" strike="noStrike" cap="none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7" name="Google Shape;397;p6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8" name="Google Shape;398;p6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99" name="Google Shape;399;p6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0" name="Google Shape;400;p6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1" name="Google Shape;401;p6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2" name="Google Shape;402;p6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3" name="Google Shape;403;p6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4" name="Google Shape;404;p6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5" name="Google Shape;405;p6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6" name="Google Shape;406;p6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7" name="Google Shape;407;p6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8" name="Google Shape;408;p6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09" name="Google Shape;409;p6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10" name="Google Shape;410;p6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11" name="Google Shape;411;p6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12" name="Google Shape;412;p65"/>
          <p:cNvSpPr txBox="1">
            <a:spLocks noGrp="1"/>
          </p:cNvSpPr>
          <p:nvPr>
            <p:ph type="body" idx="1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3" name="Google Shape;413;p65"/>
          <p:cNvSpPr txBox="1">
            <a:spLocks noGrp="1"/>
          </p:cNvSpPr>
          <p:nvPr>
            <p:ph type="subTitle" idx="2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4" name="Google Shape;414;p65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8" name="Google Shape;418;p6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9" name="Google Shape;419;p6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0" name="Google Shape;420;p6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1" name="Google Shape;421;p6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2" name="Google Shape;422;p6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3" name="Google Shape;423;p6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4" name="Google Shape;424;p6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5" name="Google Shape;425;p6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6" name="Google Shape;426;p6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7" name="Google Shape;427;p6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8" name="Google Shape;428;p6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29" name="Google Shape;429;p6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0" name="Google Shape;430;p6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1" name="Google Shape;431;p6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2" name="Google Shape;432;p6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5" name="Google Shape;435;p70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6" name="Google Shape;436;p7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7" name="Google Shape;437;p7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8" name="Google Shape;438;p7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39" name="Google Shape;439;p7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0" name="Google Shape;440;p7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1" name="Google Shape;441;p7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2" name="Google Shape;442;p7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3" name="Google Shape;443;p7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4" name="Google Shape;444;p7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5" name="Google Shape;445;p7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6" name="Google Shape;446;p7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7" name="Google Shape;447;p7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8" name="Google Shape;448;p7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49" name="Google Shape;449;p7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9" name="Google Shape;49;p48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" name="Google Shape;50;p48"/>
          <p:cNvSpPr txBox="1">
            <a:spLocks noGrp="1"/>
          </p:cNvSpPr>
          <p:nvPr>
            <p:ph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48"/>
          <p:cNvSpPr txBox="1">
            <a:spLocks noGrp="1"/>
          </p:cNvSpPr>
          <p:nvPr>
            <p:ph type="subTitle" idx="1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48"/>
          <p:cNvSpPr txBox="1">
            <a:spLocks noGrp="1"/>
          </p:cNvSpPr>
          <p:nvPr>
            <p:ph type="subTitle" idx="2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48"/>
          <p:cNvSpPr txBox="1">
            <a:spLocks noGrp="1"/>
          </p:cNvSpPr>
          <p:nvPr>
            <p:ph type="title" idx="3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" name="Google Shape;54;p48"/>
          <p:cNvSpPr txBox="1">
            <a:spLocks noGrp="1"/>
          </p:cNvSpPr>
          <p:nvPr>
            <p:ph type="subTitle" idx="4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48"/>
          <p:cNvSpPr txBox="1">
            <a:spLocks noGrp="1"/>
          </p:cNvSpPr>
          <p:nvPr>
            <p:ph type="subTitle" idx="5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48"/>
          <p:cNvSpPr txBox="1">
            <a:spLocks noGrp="1"/>
          </p:cNvSpPr>
          <p:nvPr>
            <p:ph type="title" idx="6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48"/>
          <p:cNvSpPr txBox="1">
            <a:spLocks noGrp="1"/>
          </p:cNvSpPr>
          <p:nvPr>
            <p:ph type="subTitle" idx="7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48"/>
          <p:cNvSpPr txBox="1">
            <a:spLocks noGrp="1"/>
          </p:cNvSpPr>
          <p:nvPr>
            <p:ph type="subTitle" idx="8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4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0" name="Google Shape;60;p4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1" name="Google Shape;61;p4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2" name="Google Shape;62;p4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3" name="Google Shape;63;p4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5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4" name="Google Shape;64;p4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6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5" name="Google Shape;65;p4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7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6" name="Google Shape;66;p4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8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7" name="Google Shape;67;p4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9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8" name="Google Shape;68;p4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10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9" name="Google Shape;69;p4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11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70" name="Google Shape;70;p4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12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71" name="Google Shape;71;p4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13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72" name="Google Shape;72;p4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707070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14</a:t>
            </a:r>
            <a:endParaRPr sz="1400" b="0" i="0" u="none" strike="noStrike" cap="none">
              <a:solidFill>
                <a:srgbClr val="707070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73" name="Google Shape;73;p48"/>
          <p:cNvSpPr txBox="1">
            <a:spLocks noGrp="1"/>
          </p:cNvSpPr>
          <p:nvPr>
            <p:ph type="title" idx="9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/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13;p13"/>
          <p:cNvSpPr txBox="1">
            <a:spLocks noGrp="1"/>
          </p:cNvSpPr>
          <p:nvPr>
            <p:ph type="title"/>
          </p:nvPr>
        </p:nvSpPr>
        <p:spPr>
          <a:xfrm>
            <a:off x="709930" y="542290"/>
            <a:ext cx="4483735" cy="1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>
                <a:solidFill>
                  <a:schemeClr val="accent2"/>
                </a:solidFill>
              </a:rPr>
              <a:t>‘</a:t>
            </a:r>
            <a:r>
              <a:rPr lang="es-AR" altLang="en-GB" b="1">
                <a:solidFill>
                  <a:schemeClr val="accent2"/>
                </a:solidFill>
              </a:rPr>
              <a:t>Unidad 4:</a:t>
            </a:r>
            <a:r>
              <a:rPr lang="en-GB">
                <a:solidFill>
                  <a:schemeClr val="accent2"/>
                </a:solidFill>
              </a:rPr>
              <a:t>’</a:t>
            </a:r>
            <a:r>
              <a:rPr lang="en-GB"/>
              <a:t> </a:t>
            </a:r>
            <a:br>
              <a:rPr lang="en-GB"/>
            </a:br>
            <a:r>
              <a:rPr lang="en-GB">
                <a:solidFill>
                  <a:schemeClr val="accent6"/>
                </a:solidFill>
              </a:rPr>
              <a:t>{</a:t>
            </a:r>
            <a:r>
              <a:rPr lang="en-GB"/>
              <a:t> </a:t>
            </a:r>
            <a:r>
              <a:rPr lang="es-AR" altLang="en-GB" b="1">
                <a:solidFill>
                  <a:schemeClr val="accent1"/>
                </a:solidFill>
              </a:rPr>
              <a:t>Programación del Lado del Servidor y Persistencia de Datos</a:t>
            </a:r>
            <a:endParaRPr lang="es-AR" altLang="en-GB" b="1">
              <a:solidFill>
                <a:schemeClr val="accent1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67360" y="1637030"/>
            <a:ext cx="506095" cy="1088390"/>
            <a:chOff x="1063" y="2494"/>
            <a:chExt cx="797" cy="1714"/>
          </a:xfrm>
        </p:grpSpPr>
        <p:sp>
          <p:nvSpPr>
            <p:cNvPr id="7" name="Google Shape;814;p13"/>
            <p:cNvSpPr txBox="1"/>
            <p:nvPr/>
          </p:nvSpPr>
          <p:spPr>
            <a:xfrm>
              <a:off x="1063" y="3190"/>
              <a:ext cx="797" cy="1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3000" b="0" i="0" u="none" strike="noStrike" cap="none">
                  <a:solidFill>
                    <a:schemeClr val="accent6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30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  <p:cxnSp>
          <p:nvCxnSpPr>
            <p:cNvPr id="8" name="Google Shape;815;p13"/>
            <p:cNvCxnSpPr>
              <a:endCxn id="7" idx="0"/>
            </p:cNvCxnSpPr>
            <p:nvPr/>
          </p:nvCxnSpPr>
          <p:spPr>
            <a:xfrm>
              <a:off x="1462" y="2494"/>
              <a:ext cx="0" cy="695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" name="CuadroTexto 2"/>
          <p:cNvSpPr txBox="1"/>
          <p:nvPr/>
        </p:nvSpPr>
        <p:spPr>
          <a:xfrm>
            <a:off x="4293393" y="409829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4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4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4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4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Tec. En Desarrollo de Software </a:t>
            </a:r>
            <a:r>
              <a:rPr lang="en-GB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Multiplataforma</a:t>
            </a:r>
            <a:endParaRPr lang="en-GB" sz="14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/>
              <a:t>CONTENIDOS DE LA CLASE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35" name="Google Shape;635;p8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28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}</a:t>
            </a:r>
            <a:endParaRPr sz="2800" b="0" i="0" u="none" strike="noStrike" cap="none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40" name="Google Shape;640;p8"/>
          <p:cNvSpPr txBox="1"/>
          <p:nvPr/>
        </p:nvSpPr>
        <p:spPr>
          <a:xfrm>
            <a:off x="2484120" y="2568575"/>
            <a:ext cx="663448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sz="2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Introducción a Server-Side Rendering (SSR) </a:t>
            </a:r>
            <a:endParaRPr sz="2400" b="0" i="0" u="none" strike="noStrike" cap="none">
              <a:solidFill>
                <a:schemeClr val="dk2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sz="24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y Client-Side Rendering (CSR)</a:t>
            </a:r>
            <a:endParaRPr sz="2400" b="0" i="0" u="none" strike="noStrike" cap="none">
              <a:solidFill>
                <a:schemeClr val="dk2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cxnSp>
        <p:nvCxnSpPr>
          <p:cNvPr id="647" name="Google Shape;647;p8"/>
          <p:cNvCxnSpPr/>
          <p:nvPr/>
        </p:nvCxnSpPr>
        <p:spPr>
          <a:xfrm flipH="1">
            <a:off x="1337945" y="1131570"/>
            <a:ext cx="1270" cy="172847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51" name="Google Shape;651;p8"/>
          <p:cNvCxnSpPr/>
          <p:nvPr/>
        </p:nvCxnSpPr>
        <p:spPr>
          <a:xfrm>
            <a:off x="1339145" y="2860333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MX" altLang="es-AR"/>
              <a:t>OBJETIVOS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35" name="Google Shape;635;p8"/>
          <p:cNvSpPr txBox="1"/>
          <p:nvPr/>
        </p:nvSpPr>
        <p:spPr>
          <a:xfrm>
            <a:off x="1084825" y="3954425"/>
            <a:ext cx="506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GB" sz="28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}</a:t>
            </a:r>
            <a:endParaRPr sz="2800" b="0" i="0" u="none" strike="noStrike" cap="none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38" name="Google Shape;638;p8"/>
          <p:cNvSpPr txBox="1"/>
          <p:nvPr/>
        </p:nvSpPr>
        <p:spPr>
          <a:xfrm>
            <a:off x="2078990" y="1708150"/>
            <a:ext cx="70612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s-AR" altLang="en-GB" sz="16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Conocer cuáles son y cómo funcionan las principales tecnologías y estratégias de presentación de información web actualmente</a:t>
            </a:r>
            <a:endParaRPr lang="es-AR" altLang="en-GB" sz="1600" b="0" i="0" u="none" strike="noStrike" cap="none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40" name="Google Shape;640;p8"/>
          <p:cNvSpPr txBox="1"/>
          <p:nvPr/>
        </p:nvSpPr>
        <p:spPr>
          <a:xfrm>
            <a:off x="2484120" y="2568575"/>
            <a:ext cx="663448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s-AR" altLang="en-GB" sz="16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Conocer las diferencias, debilidades y fortalezas de dichas estratégias</a:t>
            </a:r>
            <a:endParaRPr lang="es-AR" altLang="en-GB" sz="1600" b="0" i="0" u="none" strike="noStrike" cap="none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642" name="Google Shape;642;p8"/>
          <p:cNvSpPr txBox="1"/>
          <p:nvPr/>
        </p:nvSpPr>
        <p:spPr>
          <a:xfrm>
            <a:off x="3724275" y="3429000"/>
            <a:ext cx="538670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s-AR" altLang="en-GB" sz="16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Saber cómo se aplican dichas estrategías en el mundo real</a:t>
            </a:r>
            <a:endParaRPr lang="es-AR" altLang="en-GB" sz="1600" b="0" i="0" u="none" strike="noStrike" cap="none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cxnSp>
        <p:nvCxnSpPr>
          <p:cNvPr id="647" name="Google Shape;647;p8"/>
          <p:cNvCxnSpPr/>
          <p:nvPr/>
        </p:nvCxnSpPr>
        <p:spPr>
          <a:xfrm flipH="1">
            <a:off x="1331595" y="1131570"/>
            <a:ext cx="7620" cy="2592705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9" name="Google Shape;649;p8"/>
          <p:cNvCxnSpPr/>
          <p:nvPr/>
        </p:nvCxnSpPr>
        <p:spPr>
          <a:xfrm>
            <a:off x="1341685" y="1991085"/>
            <a:ext cx="698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51" name="Google Shape;651;p8"/>
          <p:cNvCxnSpPr/>
          <p:nvPr/>
        </p:nvCxnSpPr>
        <p:spPr>
          <a:xfrm>
            <a:off x="1341685" y="2858428"/>
            <a:ext cx="1152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" name="Google Shape;653;p8"/>
          <p:cNvCxnSpPr/>
          <p:nvPr/>
        </p:nvCxnSpPr>
        <p:spPr>
          <a:xfrm>
            <a:off x="1341755" y="3724910"/>
            <a:ext cx="239268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13525" y="627360"/>
            <a:ext cx="5788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/>
              <a:t>¿Qué es Server-Side Rendering (SSR)?</a:t>
            </a:r>
            <a:r>
              <a:rPr lang="en-GB" sz="2000">
                <a:solidFill>
                  <a:schemeClr val="accent3"/>
                </a:solidFill>
              </a:rPr>
              <a:t>{</a:t>
            </a:r>
            <a:endParaRPr sz="2000">
              <a:solidFill>
                <a:schemeClr val="accent3"/>
              </a:solidFill>
            </a:endParaRPr>
          </a:p>
        </p:txBody>
      </p:sp>
      <p:sp>
        <p:nvSpPr>
          <p:cNvPr id="459" name="Google Shape;459;p1"/>
          <p:cNvSpPr txBox="1">
            <a:spLocks noGrp="1"/>
          </p:cNvSpPr>
          <p:nvPr>
            <p:ph type="subTitle" idx="1"/>
          </p:nvPr>
        </p:nvSpPr>
        <p:spPr>
          <a:xfrm>
            <a:off x="2058035" y="1323395"/>
            <a:ext cx="6202680" cy="311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Tx/>
              <a:buChar char="-"/>
            </a:pPr>
            <a:r>
              <a:rPr sz="1600" dirty="0" smtClean="0"/>
              <a:t>Server-Side </a:t>
            </a:r>
            <a:r>
              <a:rPr sz="1600" dirty="0"/>
              <a:t>Rendering (SSR) </a:t>
            </a:r>
            <a:r>
              <a:rPr sz="1600" dirty="0" err="1"/>
              <a:t>es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técnica</a:t>
            </a:r>
            <a:r>
              <a:rPr sz="1600" dirty="0"/>
              <a:t> de </a:t>
            </a:r>
            <a:r>
              <a:rPr sz="1600" dirty="0" err="1"/>
              <a:t>renderizado</a:t>
            </a:r>
            <a:r>
              <a:rPr sz="1600" dirty="0"/>
              <a:t> de </a:t>
            </a:r>
            <a:r>
              <a:rPr sz="1600" dirty="0" err="1"/>
              <a:t>aplicaciones</a:t>
            </a:r>
            <a:r>
              <a:rPr sz="1600" dirty="0"/>
              <a:t> web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implica</a:t>
            </a:r>
            <a:r>
              <a:rPr sz="1600" dirty="0"/>
              <a:t> </a:t>
            </a:r>
            <a:r>
              <a:rPr sz="1600" dirty="0" err="1"/>
              <a:t>generar</a:t>
            </a:r>
            <a:r>
              <a:rPr sz="1600" dirty="0"/>
              <a:t> la </a:t>
            </a:r>
            <a:r>
              <a:rPr sz="1600" dirty="0" err="1"/>
              <a:t>estructura</a:t>
            </a:r>
            <a:r>
              <a:rPr sz="1600" dirty="0"/>
              <a:t> HTML de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página</a:t>
            </a:r>
            <a:r>
              <a:rPr sz="1600" dirty="0"/>
              <a:t> en el </a:t>
            </a:r>
            <a:r>
              <a:rPr sz="1600" dirty="0" err="1"/>
              <a:t>servidor</a:t>
            </a:r>
            <a:r>
              <a:rPr sz="1600" dirty="0"/>
              <a:t> antes de </a:t>
            </a:r>
            <a:r>
              <a:rPr sz="1600" dirty="0" err="1"/>
              <a:t>enviarla</a:t>
            </a:r>
            <a:r>
              <a:rPr sz="1600" dirty="0"/>
              <a:t> al </a:t>
            </a:r>
            <a:r>
              <a:rPr sz="1600" dirty="0" err="1"/>
              <a:t>navegador</a:t>
            </a:r>
            <a:r>
              <a:rPr sz="1600" dirty="0"/>
              <a:t> del </a:t>
            </a:r>
            <a:r>
              <a:rPr sz="1600" dirty="0" err="1" smtClean="0"/>
              <a:t>usuario</a:t>
            </a:r>
            <a:r>
              <a:rPr sz="1600" dirty="0" smtClean="0"/>
              <a:t>.</a:t>
            </a:r>
            <a:endParaRPr lang="es-MX" sz="1600" dirty="0" smtClean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Tx/>
              <a:buChar char="-"/>
            </a:pPr>
            <a:endParaRPr lang="es-MX" sz="16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Tx/>
              <a:buChar char="-"/>
            </a:pPr>
            <a:r>
              <a:rPr lang="es-MX" sz="1600" dirty="0" smtClean="0"/>
              <a:t>E</a:t>
            </a:r>
            <a:r>
              <a:rPr sz="1600" dirty="0" smtClean="0"/>
              <a:t>l </a:t>
            </a:r>
            <a:r>
              <a:rPr sz="1600" dirty="0" err="1"/>
              <a:t>servidor</a:t>
            </a:r>
            <a:r>
              <a:rPr sz="1600" dirty="0"/>
              <a:t> </a:t>
            </a:r>
            <a:r>
              <a:rPr sz="1600" dirty="0" err="1"/>
              <a:t>procesa</a:t>
            </a:r>
            <a:r>
              <a:rPr sz="1600" dirty="0"/>
              <a:t> la </a:t>
            </a:r>
            <a:r>
              <a:rPr sz="1600" dirty="0" err="1"/>
              <a:t>solicitud</a:t>
            </a:r>
            <a:r>
              <a:rPr sz="1600" dirty="0"/>
              <a:t> de la </a:t>
            </a:r>
            <a:r>
              <a:rPr sz="1600" dirty="0" err="1"/>
              <a:t>página</a:t>
            </a:r>
            <a:r>
              <a:rPr sz="1600" dirty="0"/>
              <a:t>, </a:t>
            </a:r>
            <a:r>
              <a:rPr sz="1600" dirty="0" err="1"/>
              <a:t>realiza</a:t>
            </a:r>
            <a:r>
              <a:rPr sz="1600" dirty="0"/>
              <a:t> </a:t>
            </a:r>
            <a:r>
              <a:rPr sz="1600" dirty="0" err="1"/>
              <a:t>todas</a:t>
            </a:r>
            <a:r>
              <a:rPr sz="1600" dirty="0"/>
              <a:t> </a:t>
            </a:r>
            <a:r>
              <a:rPr sz="1600" dirty="0" err="1"/>
              <a:t>las</a:t>
            </a:r>
            <a:r>
              <a:rPr sz="1600" dirty="0"/>
              <a:t> </a:t>
            </a:r>
            <a:r>
              <a:rPr sz="1600" dirty="0" err="1"/>
              <a:t>operaciones</a:t>
            </a:r>
            <a:r>
              <a:rPr sz="1600" dirty="0"/>
              <a:t> </a:t>
            </a:r>
            <a:r>
              <a:rPr sz="1600" dirty="0" err="1"/>
              <a:t>necesarias</a:t>
            </a:r>
            <a:r>
              <a:rPr sz="1600" dirty="0"/>
              <a:t> para </a:t>
            </a:r>
            <a:r>
              <a:rPr sz="1600" dirty="0" err="1"/>
              <a:t>generar</a:t>
            </a:r>
            <a:r>
              <a:rPr sz="1600" dirty="0"/>
              <a:t> </a:t>
            </a:r>
            <a:r>
              <a:rPr sz="1600" dirty="0" err="1"/>
              <a:t>su</a:t>
            </a:r>
            <a:r>
              <a:rPr sz="1600" dirty="0"/>
              <a:t> </a:t>
            </a:r>
            <a:r>
              <a:rPr sz="1600" dirty="0" err="1"/>
              <a:t>contenido</a:t>
            </a:r>
            <a:r>
              <a:rPr sz="1600" dirty="0"/>
              <a:t> y </a:t>
            </a:r>
            <a:r>
              <a:rPr sz="1600" dirty="0" err="1"/>
              <a:t>luego</a:t>
            </a:r>
            <a:r>
              <a:rPr sz="1600" dirty="0"/>
              <a:t> </a:t>
            </a:r>
            <a:r>
              <a:rPr sz="1600" dirty="0" err="1"/>
              <a:t>envía</a:t>
            </a:r>
            <a:r>
              <a:rPr sz="1600" dirty="0"/>
              <a:t> el HTML </a:t>
            </a:r>
            <a:r>
              <a:rPr sz="1600" dirty="0" err="1"/>
              <a:t>resultante</a:t>
            </a:r>
            <a:r>
              <a:rPr sz="1600" dirty="0"/>
              <a:t> al </a:t>
            </a:r>
            <a:r>
              <a:rPr sz="1600" dirty="0" err="1"/>
              <a:t>navegador</a:t>
            </a:r>
            <a:r>
              <a:rPr sz="1600" dirty="0"/>
              <a:t> del </a:t>
            </a:r>
            <a:r>
              <a:rPr sz="1600" dirty="0" err="1"/>
              <a:t>usuario</a:t>
            </a:r>
            <a:r>
              <a:rPr sz="1600" dirty="0" smtClean="0"/>
              <a:t>.</a:t>
            </a:r>
            <a:endParaRPr lang="es-AR" sz="1600" dirty="0">
              <a:sym typeface="+mn-e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s-AR" dirty="0">
              <a:sym typeface="+mn-e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GB" dirty="0"/>
          </a:p>
        </p:txBody>
      </p:sp>
      <p:grpSp>
        <p:nvGrpSpPr>
          <p:cNvPr id="462" name="Google Shape;462;p1"/>
          <p:cNvGrpSpPr/>
          <p:nvPr/>
        </p:nvGrpSpPr>
        <p:grpSpPr>
          <a:xfrm>
            <a:off x="1403350" y="1215390"/>
            <a:ext cx="506095" cy="3429588"/>
            <a:chOff x="1403365" y="1759900"/>
            <a:chExt cx="506100" cy="2873303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51956" y="1759900"/>
              <a:ext cx="0" cy="2490833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403365" y="4223561"/>
              <a:ext cx="506100" cy="409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465" name="Google Shape;465;p1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961" y="838795"/>
            <a:ext cx="5247263" cy="3498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13510" y="62738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/>
              <a:t>¿En que contexto nace Server-Side Rendering (SSR)?</a:t>
            </a:r>
            <a:r>
              <a:rPr lang="en-GB" sz="2000">
                <a:solidFill>
                  <a:schemeClr val="accent3"/>
                </a:solidFill>
              </a:rPr>
              <a:t>{</a:t>
            </a:r>
            <a:endParaRPr sz="2000">
              <a:solidFill>
                <a:schemeClr val="accent3"/>
              </a:solidFill>
            </a:endParaRPr>
          </a:p>
        </p:txBody>
      </p:sp>
      <p:sp>
        <p:nvSpPr>
          <p:cNvPr id="459" name="Google Shape;459;p1"/>
          <p:cNvSpPr txBox="1">
            <a:spLocks noGrp="1"/>
          </p:cNvSpPr>
          <p:nvPr>
            <p:ph type="subTitle" idx="1"/>
          </p:nvPr>
        </p:nvSpPr>
        <p:spPr>
          <a:xfrm>
            <a:off x="2058035" y="1358228"/>
            <a:ext cx="6202680" cy="3368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Tx/>
              <a:buChar char="-"/>
            </a:pPr>
            <a:r>
              <a:rPr lang="es-MX" sz="1400" dirty="0" smtClean="0"/>
              <a:t>SSR </a:t>
            </a:r>
            <a:r>
              <a:rPr lang="es-MX" sz="1400" dirty="0"/>
              <a:t>surge como solución en el desarrollo de aplicaciones web modernas, que usan JavaScript y frameworks como </a:t>
            </a:r>
            <a:r>
              <a:rPr lang="es-MX" sz="1400" dirty="0" err="1"/>
              <a:t>React</a:t>
            </a:r>
            <a:r>
              <a:rPr lang="es-MX" sz="1400" dirty="0"/>
              <a:t>, </a:t>
            </a:r>
            <a:r>
              <a:rPr lang="es-MX" sz="1400" dirty="0" err="1"/>
              <a:t>Vue</a:t>
            </a:r>
            <a:r>
              <a:rPr lang="es-MX" sz="1400" dirty="0"/>
              <a:t> o </a:t>
            </a:r>
            <a:r>
              <a:rPr lang="es-MX" sz="1400" dirty="0" smtClean="0"/>
              <a:t>Angular.</a:t>
            </a:r>
            <a:endParaRPr lang="es-MX" sz="1400" dirty="0" smtClean="0"/>
          </a:p>
          <a:p>
            <a:pPr>
              <a:buFontTx/>
              <a:buChar char="-"/>
            </a:pPr>
            <a:endParaRPr lang="es-MX" sz="1400" dirty="0"/>
          </a:p>
          <a:p>
            <a:pPr>
              <a:buFontTx/>
              <a:buChar char="-"/>
            </a:pPr>
            <a:r>
              <a:rPr lang="es-MX" sz="1400" dirty="0" smtClean="0"/>
              <a:t>Estas </a:t>
            </a:r>
            <a:r>
              <a:rPr lang="es-MX" sz="1400" dirty="0"/>
              <a:t>aplicaciones se cargan en el navegador del usuario, lo que puede hacer que el inicio sea lento, sobre todo en conexiones lentas o dispositivos poco </a:t>
            </a:r>
            <a:r>
              <a:rPr lang="es-MX" sz="1400" dirty="0" smtClean="0"/>
              <a:t>potentes.</a:t>
            </a:r>
            <a:endParaRPr lang="es-MX" sz="1400" dirty="0" smtClean="0"/>
          </a:p>
          <a:p>
            <a:pPr>
              <a:buFontTx/>
              <a:buChar char="-"/>
            </a:pPr>
            <a:endParaRPr lang="es-MX" sz="1400" dirty="0"/>
          </a:p>
          <a:p>
            <a:pPr>
              <a:buFontTx/>
              <a:buChar char="-"/>
            </a:pPr>
            <a:r>
              <a:rPr lang="es-MX" sz="1400" dirty="0" smtClean="0"/>
              <a:t>Con </a:t>
            </a:r>
            <a:r>
              <a:rPr lang="es-MX" sz="1400" dirty="0"/>
              <a:t>SSR, la página se genera en el servidor y se envía ya lista al navegador. Esto acelera la carga inicial y mejora la experiencia del usuario, ya que ve el contenido más rápido.</a:t>
            </a:r>
            <a:endParaRPr lang="es-MX"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GB" sz="1400" dirty="0"/>
          </a:p>
        </p:txBody>
      </p:sp>
      <p:grpSp>
        <p:nvGrpSpPr>
          <p:cNvPr id="462" name="Google Shape;462;p1"/>
          <p:cNvGrpSpPr/>
          <p:nvPr/>
        </p:nvGrpSpPr>
        <p:grpSpPr>
          <a:xfrm>
            <a:off x="1403350" y="1215390"/>
            <a:ext cx="506095" cy="3429588"/>
            <a:chOff x="1403365" y="1759900"/>
            <a:chExt cx="506100" cy="2873303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51956" y="1759900"/>
              <a:ext cx="0" cy="2490833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403365" y="4223561"/>
              <a:ext cx="506100" cy="409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3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5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77" y="581058"/>
            <a:ext cx="3981264" cy="3981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13525" y="627360"/>
            <a:ext cx="5788800" cy="5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/>
              <a:t>¿Qué es Client-Side Rendering (CSR)?</a:t>
            </a:r>
            <a:r>
              <a:rPr lang="en-GB" sz="2000">
                <a:solidFill>
                  <a:schemeClr val="accent3"/>
                </a:solidFill>
              </a:rPr>
              <a:t>{</a:t>
            </a:r>
            <a:endParaRPr sz="2000">
              <a:solidFill>
                <a:schemeClr val="accent3"/>
              </a:solidFill>
            </a:endParaRPr>
          </a:p>
        </p:txBody>
      </p:sp>
      <p:sp>
        <p:nvSpPr>
          <p:cNvPr id="459" name="Google Shape;459;p1"/>
          <p:cNvSpPr txBox="1">
            <a:spLocks noGrp="1"/>
          </p:cNvSpPr>
          <p:nvPr>
            <p:ph type="subTitle" idx="1"/>
          </p:nvPr>
        </p:nvSpPr>
        <p:spPr>
          <a:xfrm>
            <a:off x="2170430" y="1131570"/>
            <a:ext cx="6202680" cy="311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Tx/>
              <a:buChar char="-"/>
            </a:pPr>
            <a:r>
              <a:rPr lang="es-MX" sz="1600" dirty="0" smtClean="0"/>
              <a:t>CSR </a:t>
            </a:r>
            <a:r>
              <a:rPr lang="es-MX" sz="1600" dirty="0"/>
              <a:t>es una técnica donde el navegador del usuario se encarga de generar y mostrar la página usando </a:t>
            </a:r>
            <a:r>
              <a:rPr lang="es-MX" sz="1600" dirty="0" smtClean="0"/>
              <a:t>JavaScript.</a:t>
            </a:r>
            <a:endParaRPr lang="es-MX" sz="1600" dirty="0" smtClean="0"/>
          </a:p>
          <a:p>
            <a:pPr>
              <a:buFontTx/>
              <a:buChar char="-"/>
            </a:pPr>
            <a:endParaRPr lang="es-MX" sz="1600" dirty="0"/>
          </a:p>
          <a:p>
            <a:pPr>
              <a:buFontTx/>
              <a:buChar char="-"/>
            </a:pPr>
            <a:r>
              <a:rPr lang="es-MX" sz="1600" dirty="0" smtClean="0"/>
              <a:t>El </a:t>
            </a:r>
            <a:r>
              <a:rPr lang="es-MX" sz="1600" dirty="0"/>
              <a:t>servidor solo envía una estructura HTML básica, y luego el navegador completa la página cargando y ejecutando el código JavaScript.</a:t>
            </a:r>
            <a:endParaRPr lang="es-MX" sz="16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s-AR" dirty="0">
              <a:sym typeface="+mn-e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GB" dirty="0"/>
          </a:p>
        </p:txBody>
      </p:sp>
      <p:grpSp>
        <p:nvGrpSpPr>
          <p:cNvPr id="462" name="Google Shape;462;p1"/>
          <p:cNvGrpSpPr/>
          <p:nvPr/>
        </p:nvGrpSpPr>
        <p:grpSpPr>
          <a:xfrm>
            <a:off x="1403350" y="1215390"/>
            <a:ext cx="506095" cy="3429588"/>
            <a:chOff x="1403365" y="1759900"/>
            <a:chExt cx="506100" cy="2873303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51956" y="1759900"/>
              <a:ext cx="0" cy="2490833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403365" y="4223561"/>
              <a:ext cx="506100" cy="409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3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5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88" y="697873"/>
            <a:ext cx="5572873" cy="3715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13510" y="62738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 dirty="0"/>
              <a:t>¿En que contexto nace </a:t>
            </a:r>
            <a:r>
              <a:rPr lang="es-AR" sz="2000" dirty="0" err="1" smtClean="0"/>
              <a:t>Client-Side</a:t>
            </a:r>
            <a:r>
              <a:rPr lang="es-AR" sz="2000" dirty="0" smtClean="0"/>
              <a:t> </a:t>
            </a:r>
            <a:r>
              <a:rPr lang="es-AR" sz="2000" dirty="0" err="1"/>
              <a:t>Rendering</a:t>
            </a:r>
            <a:r>
              <a:rPr lang="es-AR" sz="2000" dirty="0"/>
              <a:t> (SSR)?</a:t>
            </a:r>
            <a:r>
              <a:rPr lang="en-GB" sz="2000" dirty="0">
                <a:solidFill>
                  <a:schemeClr val="accent3"/>
                </a:solidFill>
              </a:rPr>
              <a:t>{</a:t>
            </a:r>
            <a:endParaRPr sz="2000" dirty="0">
              <a:solidFill>
                <a:schemeClr val="accent3"/>
              </a:solidFill>
            </a:endParaRPr>
          </a:p>
        </p:txBody>
      </p:sp>
      <p:sp>
        <p:nvSpPr>
          <p:cNvPr id="459" name="Google Shape;459;p1"/>
          <p:cNvSpPr txBox="1">
            <a:spLocks noGrp="1"/>
          </p:cNvSpPr>
          <p:nvPr>
            <p:ph type="subTitle" idx="1"/>
          </p:nvPr>
        </p:nvSpPr>
        <p:spPr>
          <a:xfrm>
            <a:off x="2058035" y="1506361"/>
            <a:ext cx="6202680" cy="30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Tx/>
              <a:buChar char="-"/>
            </a:pPr>
            <a:r>
              <a:rPr lang="es-MX" sz="1400" dirty="0" smtClean="0"/>
              <a:t>CSR </a:t>
            </a:r>
            <a:r>
              <a:rPr lang="es-MX" sz="1400" dirty="0"/>
              <a:t>aparece en el desarrollo de </a:t>
            </a:r>
            <a:r>
              <a:rPr lang="es-MX" sz="1400" dirty="0" err="1"/>
              <a:t>apps</a:t>
            </a:r>
            <a:r>
              <a:rPr lang="es-MX" sz="1400" dirty="0"/>
              <a:t> web modernas que usan frameworks como </a:t>
            </a:r>
            <a:r>
              <a:rPr lang="es-MX" sz="1400" dirty="0" err="1"/>
              <a:t>React</a:t>
            </a:r>
            <a:r>
              <a:rPr lang="es-MX" sz="1400" dirty="0"/>
              <a:t>, </a:t>
            </a:r>
            <a:r>
              <a:rPr lang="es-MX" sz="1400" dirty="0" err="1"/>
              <a:t>Vue</a:t>
            </a:r>
            <a:r>
              <a:rPr lang="es-MX" sz="1400" dirty="0"/>
              <a:t> o Angular. En este enfoque, el navegador del usuario ejecuta el código JavaScript para generar la </a:t>
            </a:r>
            <a:r>
              <a:rPr lang="es-MX" sz="1400" dirty="0" smtClean="0"/>
              <a:t>página.</a:t>
            </a:r>
            <a:endParaRPr lang="es-MX" sz="1400" dirty="0" smtClean="0"/>
          </a:p>
          <a:p>
            <a:pPr>
              <a:buFontTx/>
              <a:buChar char="-"/>
            </a:pPr>
            <a:endParaRPr lang="es-MX" sz="1400" dirty="0"/>
          </a:p>
          <a:p>
            <a:pPr>
              <a:buFontTx/>
              <a:buChar char="-"/>
            </a:pPr>
            <a:r>
              <a:rPr lang="es-MX" sz="1400" dirty="0" smtClean="0"/>
              <a:t>La </a:t>
            </a:r>
            <a:r>
              <a:rPr lang="es-MX" sz="1400" dirty="0"/>
              <a:t>ventaja principal es que permite crear </a:t>
            </a:r>
            <a:r>
              <a:rPr lang="es-MX" sz="1400" dirty="0" err="1"/>
              <a:t>apps</a:t>
            </a:r>
            <a:r>
              <a:rPr lang="es-MX" sz="1400" dirty="0"/>
              <a:t> muy dinámicas y rápidas, sin necesidad de recargar toda la página.</a:t>
            </a:r>
            <a:br>
              <a:rPr lang="es-MX" sz="1400" dirty="0"/>
            </a:br>
            <a:r>
              <a:rPr lang="es-MX" sz="1400" dirty="0"/>
              <a:t>Pero tiene una desventaja: la carga inicial puede ser lenta, porque el navegador necesita descargar y ejecutar todo el código antes de mostrar el contenido.</a:t>
            </a:r>
            <a:endParaRPr lang="es-MX"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GB" sz="1400" dirty="0"/>
          </a:p>
        </p:txBody>
      </p:sp>
      <p:grpSp>
        <p:nvGrpSpPr>
          <p:cNvPr id="462" name="Google Shape;462;p1"/>
          <p:cNvGrpSpPr/>
          <p:nvPr/>
        </p:nvGrpSpPr>
        <p:grpSpPr>
          <a:xfrm>
            <a:off x="1403350" y="1215390"/>
            <a:ext cx="506095" cy="3429588"/>
            <a:chOff x="1403365" y="1759900"/>
            <a:chExt cx="506100" cy="2873303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51956" y="1759900"/>
              <a:ext cx="0" cy="2490833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403365" y="4223561"/>
              <a:ext cx="506100" cy="4096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7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867" y="611725"/>
            <a:ext cx="3952315" cy="3952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graphicFrame>
        <p:nvGraphicFramePr>
          <p:cNvPr id="14" name="Table 13" title="asdasd"/>
          <p:cNvGraphicFramePr/>
          <p:nvPr/>
        </p:nvGraphicFramePr>
        <p:xfrm>
          <a:off x="709930" y="723563"/>
          <a:ext cx="7875270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635"/>
                <a:gridCol w="3937635"/>
              </a:tblGrid>
              <a:tr h="318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latin typeface="Fira Code" panose="020B0604020202020204" charset="0"/>
                          <a:cs typeface="Fira Code" panose="020B0604020202020204" charset="0"/>
                        </a:rPr>
                        <a:t>Server-Side Rendering (SSR)</a:t>
                      </a:r>
                      <a:endParaRPr lang="en-US" dirty="0">
                        <a:solidFill>
                          <a:srgbClr val="FF0000"/>
                        </a:solidFill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latin typeface="Fira Code" panose="020B0604020202020204" charset="0"/>
                          <a:cs typeface="Fira Code" panose="020B0604020202020204" charset="0"/>
                        </a:rPr>
                        <a:t>Client-Side Rendering (CSR)</a:t>
                      </a:r>
                      <a:endParaRPr lang="en-US">
                        <a:solidFill>
                          <a:srgbClr val="FF0000"/>
                        </a:solidFill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207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el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proceso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de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renderizado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de la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página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se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realiza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en el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servidor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,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donde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se genera la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estructura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HTML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completa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antes de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ser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enviada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al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navegador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del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usuario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. En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otras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palabras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, el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servidor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envía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una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página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completamente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renderizada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al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navegador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.</a:t>
                      </a:r>
                      <a:endParaRPr lang="en-US" sz="1000" b="1" dirty="0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000" b="1" dirty="0" smtClean="0">
                          <a:latin typeface="Fira Code" panose="020B0604020202020204" charset="0"/>
                          <a:cs typeface="Fira Code" panose="020B0604020202020204" charset="0"/>
                        </a:rPr>
                        <a:t>En CSR, el navegador del usuario genera y actualiza la página usando JavaScript, según sus </a:t>
                      </a:r>
                      <a:r>
                        <a:rPr lang="es-MX" sz="1000" b="1" dirty="0" err="1" smtClean="0">
                          <a:latin typeface="Fira Code" panose="020B0604020202020204" charset="0"/>
                          <a:cs typeface="Fira Code" panose="020B0604020202020204" charset="0"/>
                        </a:rPr>
                        <a:t>interacciones.El</a:t>
                      </a:r>
                      <a:r>
                        <a:rPr lang="es-MX" sz="1000" b="1" dirty="0" smtClean="0">
                          <a:latin typeface="Fira Code" panose="020B0604020202020204" charset="0"/>
                          <a:cs typeface="Fira Code" panose="020B0604020202020204" charset="0"/>
                        </a:rPr>
                        <a:t> servidor solo envía archivos básicos (HTML, CSS y JavaScript), y el navegador se encarga de mostrar el contenido.</a:t>
                      </a:r>
                      <a:endParaRPr lang="en-US" sz="1000" b="1" dirty="0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Fira Code" panose="020B0604020202020204" charset="0"/>
                          <a:cs typeface="Fira Code" panose="020B0604020202020204" charset="0"/>
                        </a:rPr>
                        <a:t>el contenido de la página es accesible para los motores de búsqueda, ya que se renderiza completamente en el servidor antes de ser enviado al navegador. </a:t>
                      </a:r>
                      <a:endParaRPr lang="en-US" sz="1000" b="1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Fira Code" panose="020B0604020202020204" charset="0"/>
                          <a:cs typeface="Fira Code" panose="020B0604020202020204" charset="0"/>
                        </a:rPr>
                        <a:t>el contenido puede ser más difícil de indexar por los motores de búsqueda, ya que el código JavaScript puede dificultar su exploración.</a:t>
                      </a:r>
                      <a:endParaRPr lang="en-US" sz="1000" b="1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Fira Code" panose="020B0604020202020204" charset="0"/>
                          <a:cs typeface="Fira Code" panose="020B0604020202020204" charset="0"/>
                        </a:rPr>
                        <a:t>el tiempo de carga inicial de la página es generalmente más rápido, ya que el navegador del usuario recibe una página completamente renderizada. </a:t>
                      </a:r>
                      <a:endParaRPr lang="en-US" sz="1000" b="1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latin typeface="Fira Code" panose="020B0604020202020204" charset="0"/>
                          <a:cs typeface="Fira Code" panose="020B0604020202020204" charset="0"/>
                        </a:rPr>
                        <a:t>el tiempo de carga inicial puede ser más lento, ya que el navegador del usuario necesita descargar y ejecutar el código JavaScript antes de mostrar la página.</a:t>
                      </a:r>
                      <a:endParaRPr lang="en-US" sz="1000" b="1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2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alt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la interactividad puede ser más limitada, ya que la mayoría de las interacciones requieren una nueva solicitud al servidor para obtener el contenido actualizado.</a:t>
                      </a:r>
                      <a:endParaRPr lang="es-AR" altLang="en-US" sz="1000" b="1" dirty="0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el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usuario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puede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experimentar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una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mejor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interactividad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y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fluidez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,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ya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que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el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contenido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se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actualiza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sin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necesidad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de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recargar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la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página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 </a:t>
                      </a:r>
                      <a:r>
                        <a:rPr lang="en-US" sz="1000" b="1" dirty="0" err="1">
                          <a:latin typeface="Fira Code" panose="020B0604020202020204" charset="0"/>
                          <a:cs typeface="Fira Code" panose="020B0604020202020204" charset="0"/>
                        </a:rPr>
                        <a:t>completa</a:t>
                      </a:r>
                      <a:r>
                        <a:rPr lang="en-US" sz="1000" b="1" dirty="0">
                          <a:latin typeface="Fira Code" panose="020B0604020202020204" charset="0"/>
                          <a:cs typeface="Fira Code" panose="020B0604020202020204" charset="0"/>
                        </a:rPr>
                        <a:t>.</a:t>
                      </a:r>
                      <a:endParaRPr lang="en-US" sz="1000" b="1" dirty="0">
                        <a:latin typeface="Fira Code" panose="020B0604020202020204" charset="0"/>
                        <a:cs typeface="Fira Code" panose="020B060402020202020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5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10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41" y="630137"/>
            <a:ext cx="3881656" cy="38816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03985" y="49530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 dirty="0" smtClean="0">
                <a:sym typeface="+mn-ea"/>
              </a:rPr>
              <a:t>¿Cuándo elegir SSR?</a:t>
            </a:r>
            <a:r>
              <a:rPr lang="en-GB" sz="2000" dirty="0" smtClean="0"/>
              <a:t> </a:t>
            </a:r>
            <a:r>
              <a:rPr lang="en-GB" sz="2000" dirty="0" smtClean="0">
                <a:solidFill>
                  <a:schemeClr val="accent2"/>
                </a:solidFill>
              </a:rPr>
              <a:t> </a:t>
            </a:r>
            <a:r>
              <a:rPr lang="en-GB" sz="2000" dirty="0">
                <a:solidFill>
                  <a:schemeClr val="accent3"/>
                </a:solidFill>
              </a:rPr>
              <a:t>{</a:t>
            </a:r>
            <a:endParaRPr sz="2000" dirty="0">
              <a:solidFill>
                <a:schemeClr val="accent3"/>
              </a:solidFill>
            </a:endParaRPr>
          </a:p>
        </p:txBody>
      </p:sp>
      <p:grpSp>
        <p:nvGrpSpPr>
          <p:cNvPr id="462" name="Google Shape;462;p1"/>
          <p:cNvGrpSpPr/>
          <p:nvPr/>
        </p:nvGrpSpPr>
        <p:grpSpPr>
          <a:xfrm>
            <a:off x="1388745" y="1059816"/>
            <a:ext cx="506095" cy="3451172"/>
            <a:chOff x="1388760" y="1449985"/>
            <a:chExt cx="506100" cy="2575481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48146" y="1449985"/>
              <a:ext cx="3810" cy="2073211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388760" y="3660581"/>
              <a:ext cx="506100" cy="36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704443" y="1142703"/>
            <a:ext cx="7269377" cy="3375025"/>
            <a:chOff x="2764" y="1884"/>
            <a:chExt cx="11354" cy="2183"/>
          </a:xfrm>
        </p:grpSpPr>
        <p:sp>
          <p:nvSpPr>
            <p:cNvPr id="481" name="Google Shape;481;p3"/>
            <p:cNvSpPr txBox="1"/>
            <p:nvPr/>
          </p:nvSpPr>
          <p:spPr>
            <a:xfrm>
              <a:off x="2778" y="1884"/>
              <a:ext cx="11308" cy="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dirty="0"/>
                <a:t>&lt;</a:t>
              </a:r>
              <a:r>
                <a:rPr lang="es-AR" altLang="en-GB" dirty="0">
                  <a:solidFill>
                    <a:srgbClr val="FF0000"/>
                  </a:solidFill>
                </a:rPr>
                <a:t> </a:t>
              </a:r>
              <a:r>
                <a:rPr lang="en-GB" dirty="0"/>
                <a:t>Si la </a:t>
              </a:r>
              <a:r>
                <a:rPr lang="en-GB" dirty="0" err="1"/>
                <a:t>aplicación</a:t>
              </a:r>
              <a:r>
                <a:rPr lang="en-GB" dirty="0"/>
                <a:t> web </a:t>
              </a:r>
              <a:r>
                <a:rPr lang="en-GB" dirty="0" err="1"/>
                <a:t>tiene</a:t>
              </a:r>
              <a:r>
                <a:rPr lang="en-GB" dirty="0"/>
                <a:t> un </a:t>
              </a:r>
              <a:r>
                <a:rPr lang="en-GB" dirty="0" err="1"/>
                <a:t>contenido</a:t>
              </a:r>
              <a:r>
                <a:rPr lang="en-GB" dirty="0"/>
                <a:t> </a:t>
              </a:r>
              <a:r>
                <a:rPr lang="en-GB" dirty="0" err="1"/>
                <a:t>estático</a:t>
              </a:r>
              <a:r>
                <a:rPr lang="en-GB" dirty="0"/>
                <a:t> o semi-</a:t>
              </a:r>
              <a:r>
                <a:rPr lang="en-GB" dirty="0" err="1"/>
                <a:t>estático</a:t>
              </a:r>
              <a:r>
                <a:rPr lang="en-GB" dirty="0"/>
                <a:t>, </a:t>
              </a:r>
              <a:r>
                <a:rPr lang="en-GB" dirty="0" err="1"/>
                <a:t>como</a:t>
              </a:r>
              <a:r>
                <a:rPr lang="en-GB" dirty="0"/>
                <a:t> un </a:t>
              </a:r>
              <a:r>
                <a:rPr lang="en-GB" dirty="0" err="1"/>
                <a:t>sitio</a:t>
              </a:r>
              <a:r>
                <a:rPr lang="en-GB" dirty="0"/>
                <a:t> web de </a:t>
              </a:r>
              <a:r>
                <a:rPr lang="en-GB" dirty="0" err="1"/>
                <a:t>noticias</a:t>
              </a:r>
              <a:r>
                <a:rPr lang="en-GB" dirty="0"/>
                <a:t> o un </a:t>
              </a:r>
              <a:r>
                <a:rPr lang="en-GB" dirty="0" err="1"/>
                <a:t>catálogo</a:t>
              </a:r>
              <a:r>
                <a:rPr lang="en-GB" dirty="0"/>
                <a:t> de </a:t>
              </a:r>
              <a:r>
                <a:rPr lang="en-GB" dirty="0" err="1"/>
                <a:t>productos</a:t>
              </a:r>
              <a:r>
                <a:rPr lang="en-GB" dirty="0"/>
                <a:t>, </a:t>
              </a:r>
              <a:r>
                <a:rPr lang="en-GB" dirty="0" err="1"/>
                <a:t>entonces</a:t>
              </a:r>
              <a:r>
                <a:rPr lang="en-GB" dirty="0"/>
                <a:t> SSR </a:t>
              </a:r>
              <a:r>
                <a:rPr lang="en-GB" dirty="0" err="1"/>
                <a:t>puede</a:t>
              </a:r>
              <a:r>
                <a:rPr lang="en-GB" dirty="0"/>
                <a:t> </a:t>
              </a:r>
              <a:r>
                <a:rPr lang="en-GB" dirty="0" err="1"/>
                <a:t>ser</a:t>
              </a:r>
              <a:r>
                <a:rPr lang="en-GB" dirty="0"/>
                <a:t> </a:t>
              </a:r>
              <a:r>
                <a:rPr lang="en-GB" dirty="0" err="1"/>
                <a:t>una</a:t>
              </a:r>
              <a:r>
                <a:rPr lang="en-GB" dirty="0"/>
                <a:t> </a:t>
              </a:r>
              <a:r>
                <a:rPr lang="en-GB" dirty="0" err="1"/>
                <a:t>buena</a:t>
              </a:r>
              <a:r>
                <a:rPr lang="en-GB" dirty="0"/>
                <a:t> </a:t>
              </a:r>
              <a:r>
                <a:rPr lang="en-GB" dirty="0" err="1"/>
                <a:t>opción</a:t>
              </a:r>
              <a:r>
                <a:rPr lang="en-GB" dirty="0"/>
                <a:t>, </a:t>
              </a:r>
              <a:r>
                <a:rPr lang="en-GB" dirty="0" err="1"/>
                <a:t>ya</a:t>
              </a:r>
              <a:r>
                <a:rPr lang="en-GB" dirty="0"/>
                <a:t> </a:t>
              </a:r>
              <a:r>
                <a:rPr lang="en-GB" dirty="0" err="1"/>
                <a:t>que</a:t>
              </a:r>
              <a:r>
                <a:rPr lang="en-GB" dirty="0"/>
                <a:t> </a:t>
              </a:r>
              <a:r>
                <a:rPr lang="en-GB" dirty="0" err="1"/>
                <a:t>permite</a:t>
              </a:r>
              <a:r>
                <a:rPr lang="en-GB" dirty="0"/>
                <a:t> </a:t>
              </a:r>
              <a:r>
                <a:rPr lang="en-GB" dirty="0" err="1"/>
                <a:t>que</a:t>
              </a:r>
              <a:r>
                <a:rPr lang="en-GB" dirty="0"/>
                <a:t> el </a:t>
              </a:r>
              <a:r>
                <a:rPr lang="en-GB" dirty="0" err="1"/>
                <a:t>servidor</a:t>
              </a:r>
              <a:r>
                <a:rPr lang="en-GB" dirty="0"/>
                <a:t> </a:t>
              </a:r>
              <a:r>
                <a:rPr lang="en-GB" dirty="0" err="1"/>
                <a:t>genere</a:t>
              </a:r>
              <a:r>
                <a:rPr lang="en-GB" dirty="0"/>
                <a:t> la </a:t>
              </a:r>
              <a:r>
                <a:rPr lang="en-GB" dirty="0" err="1"/>
                <a:t>página</a:t>
              </a:r>
              <a:r>
                <a:rPr lang="en-GB" dirty="0"/>
                <a:t> </a:t>
              </a:r>
              <a:r>
                <a:rPr lang="en-GB" dirty="0" err="1"/>
                <a:t>completa</a:t>
              </a:r>
              <a:r>
                <a:rPr lang="en-GB" dirty="0"/>
                <a:t> y la </a:t>
              </a:r>
              <a:r>
                <a:rPr lang="en-GB" dirty="0" err="1"/>
                <a:t>envíe</a:t>
              </a:r>
              <a:r>
                <a:rPr lang="en-GB" dirty="0"/>
                <a:t> al </a:t>
              </a:r>
              <a:r>
                <a:rPr lang="en-GB" dirty="0" err="1"/>
                <a:t>navegador</a:t>
              </a:r>
              <a:r>
                <a:rPr lang="en-GB" dirty="0"/>
                <a:t> </a:t>
              </a:r>
              <a:r>
                <a:rPr lang="en-GB" dirty="0" err="1"/>
                <a:t>ya</a:t>
              </a:r>
              <a:r>
                <a:rPr lang="en-GB" dirty="0"/>
                <a:t> </a:t>
              </a:r>
              <a:r>
                <a:rPr lang="en-GB" dirty="0" err="1"/>
                <a:t>renderizada</a:t>
              </a:r>
              <a:r>
                <a:rPr lang="en-GB" dirty="0"/>
                <a:t>.</a:t>
              </a:r>
              <a:r>
                <a:rPr lang="es-AR" altLang="en-GB" dirty="0"/>
                <a:t> </a:t>
              </a:r>
              <a:r>
                <a:rPr lang="en-GB" dirty="0"/>
                <a:t>&gt;</a:t>
              </a:r>
              <a:endParaRPr lang="en-GB" dirty="0"/>
            </a:p>
          </p:txBody>
        </p:sp>
        <p:sp>
          <p:nvSpPr>
            <p:cNvPr id="24" name="Google Shape;481;p3"/>
            <p:cNvSpPr txBox="1"/>
            <p:nvPr/>
          </p:nvSpPr>
          <p:spPr>
            <a:xfrm>
              <a:off x="2764" y="2755"/>
              <a:ext cx="11308" cy="5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dirty="0"/>
                <a:t>&lt;</a:t>
              </a:r>
              <a:r>
                <a:rPr lang="es-AR" altLang="en-GB" dirty="0"/>
                <a:t> </a:t>
              </a:r>
              <a:r>
                <a:rPr dirty="0"/>
                <a:t>Si se </a:t>
              </a:r>
              <a:r>
                <a:rPr dirty="0" err="1"/>
                <a:t>desea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</a:t>
              </a:r>
              <a:r>
                <a:rPr dirty="0" err="1"/>
                <a:t>mejor</a:t>
              </a:r>
              <a:r>
                <a:rPr dirty="0"/>
                <a:t> </a:t>
              </a:r>
              <a:r>
                <a:rPr dirty="0" err="1"/>
                <a:t>optimización</a:t>
              </a:r>
              <a:r>
                <a:rPr dirty="0"/>
                <a:t> para </a:t>
              </a:r>
              <a:r>
                <a:rPr dirty="0" err="1"/>
                <a:t>motores</a:t>
              </a:r>
              <a:r>
                <a:rPr dirty="0"/>
                <a:t> de </a:t>
              </a:r>
              <a:r>
                <a:rPr dirty="0" err="1"/>
                <a:t>búsqueda</a:t>
              </a:r>
              <a:r>
                <a:rPr dirty="0"/>
                <a:t> (SEO), SSR </a:t>
              </a:r>
              <a:r>
                <a:rPr dirty="0" err="1"/>
                <a:t>es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</a:t>
              </a:r>
              <a:r>
                <a:rPr dirty="0" err="1"/>
                <a:t>buena</a:t>
              </a:r>
              <a:r>
                <a:rPr dirty="0"/>
                <a:t> </a:t>
              </a:r>
              <a:r>
                <a:rPr dirty="0" err="1"/>
                <a:t>opción</a:t>
              </a:r>
              <a:r>
                <a:rPr dirty="0"/>
                <a:t>, </a:t>
              </a:r>
              <a:r>
                <a:rPr dirty="0" err="1"/>
                <a:t>ya</a:t>
              </a:r>
              <a:r>
                <a:rPr dirty="0"/>
                <a:t> </a:t>
              </a:r>
              <a:r>
                <a:rPr dirty="0" err="1"/>
                <a:t>que</a:t>
              </a:r>
              <a:r>
                <a:rPr dirty="0"/>
                <a:t> los </a:t>
              </a:r>
              <a:r>
                <a:rPr dirty="0" err="1"/>
                <a:t>motores</a:t>
              </a:r>
              <a:r>
                <a:rPr dirty="0"/>
                <a:t> de </a:t>
              </a:r>
              <a:r>
                <a:rPr dirty="0" err="1"/>
                <a:t>búsqueda</a:t>
              </a:r>
              <a:r>
                <a:rPr dirty="0"/>
                <a:t> </a:t>
              </a:r>
              <a:r>
                <a:rPr dirty="0" err="1"/>
                <a:t>tienen</a:t>
              </a:r>
              <a:r>
                <a:rPr dirty="0"/>
                <a:t> </a:t>
              </a:r>
              <a:r>
                <a:rPr dirty="0" err="1"/>
                <a:t>dificultades</a:t>
              </a:r>
              <a:r>
                <a:rPr dirty="0"/>
                <a:t> para </a:t>
              </a:r>
              <a:r>
                <a:rPr dirty="0" err="1"/>
                <a:t>rastrear</a:t>
              </a:r>
              <a:r>
                <a:rPr dirty="0"/>
                <a:t> </a:t>
              </a:r>
              <a:r>
                <a:rPr dirty="0" err="1"/>
                <a:t>contenido</a:t>
              </a:r>
              <a:r>
                <a:rPr dirty="0"/>
                <a:t> </a:t>
              </a:r>
              <a:r>
                <a:rPr dirty="0" err="1"/>
                <a:t>generado</a:t>
              </a:r>
              <a:r>
                <a:rPr dirty="0"/>
                <a:t> </a:t>
              </a:r>
              <a:r>
                <a:rPr dirty="0" err="1"/>
                <a:t>por</a:t>
              </a:r>
              <a:r>
                <a:rPr dirty="0"/>
                <a:t> JavaScript.</a:t>
              </a:r>
              <a:r>
                <a:rPr lang="es-AR" dirty="0"/>
                <a:t> </a:t>
              </a:r>
              <a:r>
                <a:rPr lang="en-GB" dirty="0"/>
                <a:t>&gt;</a:t>
              </a:r>
              <a:endParaRPr lang="en-GB" dirty="0"/>
            </a:p>
          </p:txBody>
        </p:sp>
        <p:sp>
          <p:nvSpPr>
            <p:cNvPr id="27" name="Google Shape;481;p3"/>
            <p:cNvSpPr txBox="1"/>
            <p:nvPr/>
          </p:nvSpPr>
          <p:spPr>
            <a:xfrm>
              <a:off x="2810" y="3272"/>
              <a:ext cx="11308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dirty="0"/>
                <a:t>&lt;</a:t>
              </a:r>
              <a:r>
                <a:rPr lang="es-AR" altLang="en-GB" dirty="0"/>
                <a:t> </a:t>
              </a:r>
              <a:r>
                <a:rPr dirty="0"/>
                <a:t>Si se </a:t>
              </a:r>
              <a:r>
                <a:rPr dirty="0" err="1"/>
                <a:t>desea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</a:t>
              </a:r>
              <a:r>
                <a:rPr dirty="0" err="1"/>
                <a:t>carga</a:t>
              </a:r>
              <a:r>
                <a:rPr dirty="0"/>
                <a:t> </a:t>
              </a:r>
              <a:r>
                <a:rPr dirty="0" err="1"/>
                <a:t>rápida</a:t>
              </a:r>
              <a:r>
                <a:rPr dirty="0"/>
                <a:t> en el primer </a:t>
              </a:r>
              <a:r>
                <a:rPr dirty="0" err="1"/>
                <a:t>renderizado</a:t>
              </a:r>
              <a:r>
                <a:rPr dirty="0"/>
                <a:t> de la </a:t>
              </a:r>
              <a:r>
                <a:rPr dirty="0" err="1"/>
                <a:t>página</a:t>
              </a:r>
              <a:r>
                <a:rPr dirty="0"/>
                <a:t>, SSR </a:t>
              </a:r>
              <a:r>
                <a:rPr dirty="0" err="1"/>
                <a:t>también</a:t>
              </a:r>
              <a:r>
                <a:rPr dirty="0"/>
                <a:t> </a:t>
              </a:r>
              <a:r>
                <a:rPr dirty="0" err="1"/>
                <a:t>es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</a:t>
              </a:r>
              <a:r>
                <a:rPr dirty="0" err="1"/>
                <a:t>buena</a:t>
              </a:r>
              <a:r>
                <a:rPr dirty="0"/>
                <a:t> </a:t>
              </a:r>
              <a:r>
                <a:rPr dirty="0" err="1"/>
                <a:t>opción</a:t>
              </a:r>
              <a:r>
                <a:rPr dirty="0"/>
                <a:t>.</a:t>
              </a:r>
              <a:r>
                <a:rPr lang="es-AR" dirty="0"/>
                <a:t> </a:t>
              </a:r>
              <a:r>
                <a:rPr lang="en-GB" dirty="0"/>
                <a:t>&gt;</a:t>
              </a:r>
              <a:endParaRPr lang="en-GB" dirty="0"/>
            </a:p>
          </p:txBody>
        </p:sp>
      </p:grp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03985" y="49530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MX" sz="2000" dirty="0" smtClean="0">
                <a:sym typeface="+mn-ea"/>
              </a:rPr>
              <a:t>¿Cuándo elegir CSR? </a:t>
            </a:r>
            <a:endParaRPr sz="2000" dirty="0">
              <a:solidFill>
                <a:schemeClr val="accent3"/>
              </a:solidFill>
            </a:endParaRPr>
          </a:p>
        </p:txBody>
      </p: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515035" y="1012825"/>
            <a:ext cx="7458785" cy="3375025"/>
            <a:chOff x="2778" y="1800"/>
            <a:chExt cx="11340" cy="2183"/>
          </a:xfrm>
        </p:grpSpPr>
        <p:sp>
          <p:nvSpPr>
            <p:cNvPr id="481" name="Google Shape;481;p3"/>
            <p:cNvSpPr txBox="1"/>
            <p:nvPr/>
          </p:nvSpPr>
          <p:spPr>
            <a:xfrm>
              <a:off x="2778" y="1800"/>
              <a:ext cx="11308" cy="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dirty="0"/>
                <a:t>&lt;</a:t>
              </a:r>
              <a:r>
                <a:rPr lang="es-AR" altLang="en-GB" dirty="0">
                  <a:solidFill>
                    <a:srgbClr val="FF0000"/>
                  </a:solidFill>
                </a:rPr>
                <a:t> </a:t>
              </a:r>
              <a:r>
                <a:rPr lang="en-GB" dirty="0"/>
                <a:t>Si la </a:t>
              </a:r>
              <a:r>
                <a:rPr lang="en-GB" dirty="0" err="1"/>
                <a:t>aplicación</a:t>
              </a:r>
              <a:r>
                <a:rPr lang="en-GB" dirty="0"/>
                <a:t> web </a:t>
              </a:r>
              <a:r>
                <a:rPr lang="en-GB" dirty="0" err="1"/>
                <a:t>es</a:t>
              </a:r>
              <a:r>
                <a:rPr lang="en-GB" dirty="0"/>
                <a:t> </a:t>
              </a:r>
              <a:r>
                <a:rPr lang="en-GB" dirty="0" err="1"/>
                <a:t>altamente</a:t>
              </a:r>
              <a:r>
                <a:rPr lang="en-GB" dirty="0"/>
                <a:t> </a:t>
              </a:r>
              <a:r>
                <a:rPr lang="en-GB" dirty="0" err="1"/>
                <a:t>interactiva</a:t>
              </a:r>
              <a:r>
                <a:rPr lang="en-GB" dirty="0"/>
                <a:t> y </a:t>
              </a:r>
              <a:r>
                <a:rPr lang="en-GB" dirty="0" err="1"/>
                <a:t>requiere</a:t>
              </a:r>
              <a:r>
                <a:rPr lang="en-GB" dirty="0"/>
                <a:t> </a:t>
              </a:r>
              <a:r>
                <a:rPr lang="en-GB" dirty="0" err="1"/>
                <a:t>una</a:t>
              </a:r>
              <a:r>
                <a:rPr lang="en-GB" dirty="0"/>
                <a:t> gran </a:t>
              </a:r>
              <a:r>
                <a:rPr lang="en-GB" dirty="0" err="1"/>
                <a:t>cantidad</a:t>
              </a:r>
              <a:r>
                <a:rPr lang="en-GB" dirty="0"/>
                <a:t> de </a:t>
              </a:r>
              <a:r>
                <a:rPr lang="en-GB" dirty="0" err="1"/>
                <a:t>actualizaciones</a:t>
              </a:r>
              <a:r>
                <a:rPr lang="en-GB" dirty="0"/>
                <a:t> en </a:t>
              </a:r>
              <a:r>
                <a:rPr lang="en-GB" dirty="0" err="1"/>
                <a:t>tiempo</a:t>
              </a:r>
              <a:r>
                <a:rPr lang="en-GB" dirty="0"/>
                <a:t> real, </a:t>
              </a:r>
              <a:r>
                <a:rPr lang="en-GB" dirty="0" err="1"/>
                <a:t>entonces</a:t>
              </a:r>
              <a:r>
                <a:rPr lang="en-GB" dirty="0"/>
                <a:t> CSR </a:t>
              </a:r>
              <a:r>
                <a:rPr lang="en-GB" dirty="0" err="1"/>
                <a:t>puede</a:t>
              </a:r>
              <a:r>
                <a:rPr lang="en-GB" dirty="0"/>
                <a:t> </a:t>
              </a:r>
              <a:r>
                <a:rPr lang="en-GB" dirty="0" err="1"/>
                <a:t>ser</a:t>
              </a:r>
              <a:r>
                <a:rPr lang="en-GB" dirty="0"/>
                <a:t> la </a:t>
              </a:r>
              <a:r>
                <a:rPr lang="en-GB" dirty="0" err="1"/>
                <a:t>mejor</a:t>
              </a:r>
              <a:r>
                <a:rPr lang="en-GB" dirty="0"/>
                <a:t> </a:t>
              </a:r>
              <a:r>
                <a:rPr lang="en-GB" dirty="0" err="1"/>
                <a:t>opción</a:t>
              </a:r>
              <a:r>
                <a:rPr lang="en-GB" dirty="0"/>
                <a:t>, </a:t>
              </a:r>
              <a:r>
                <a:rPr lang="en-GB" dirty="0" err="1"/>
                <a:t>ya</a:t>
              </a:r>
              <a:r>
                <a:rPr lang="en-GB" dirty="0"/>
                <a:t> </a:t>
              </a:r>
              <a:r>
                <a:rPr lang="en-GB" dirty="0" err="1"/>
                <a:t>que</a:t>
              </a:r>
              <a:r>
                <a:rPr lang="en-GB" dirty="0"/>
                <a:t> </a:t>
              </a:r>
              <a:r>
                <a:rPr lang="en-GB" dirty="0" err="1"/>
                <a:t>permite</a:t>
              </a:r>
              <a:r>
                <a:rPr lang="en-GB" dirty="0"/>
                <a:t> </a:t>
              </a:r>
              <a:r>
                <a:rPr lang="en-GB" dirty="0" err="1"/>
                <a:t>que</a:t>
              </a:r>
              <a:r>
                <a:rPr lang="en-GB" dirty="0"/>
                <a:t> el </a:t>
              </a:r>
              <a:r>
                <a:rPr lang="en-GB" dirty="0" err="1"/>
                <a:t>contenido</a:t>
              </a:r>
              <a:r>
                <a:rPr lang="en-GB" dirty="0"/>
                <a:t> se </a:t>
              </a:r>
              <a:r>
                <a:rPr lang="en-GB" dirty="0" err="1"/>
                <a:t>actualice</a:t>
              </a:r>
              <a:r>
                <a:rPr lang="en-GB" dirty="0"/>
                <a:t> sin </a:t>
              </a:r>
              <a:r>
                <a:rPr lang="en-GB" dirty="0" err="1"/>
                <a:t>necesidad</a:t>
              </a:r>
              <a:r>
                <a:rPr lang="en-GB" dirty="0"/>
                <a:t> de </a:t>
              </a:r>
              <a:r>
                <a:rPr lang="en-GB" dirty="0" err="1"/>
                <a:t>recargar</a:t>
              </a:r>
              <a:r>
                <a:rPr lang="en-GB" dirty="0"/>
                <a:t> la </a:t>
              </a:r>
              <a:r>
                <a:rPr lang="en-GB" dirty="0" err="1"/>
                <a:t>página</a:t>
              </a:r>
              <a:r>
                <a:rPr lang="en-GB" dirty="0"/>
                <a:t> </a:t>
              </a:r>
              <a:r>
                <a:rPr lang="en-GB" dirty="0" err="1"/>
                <a:t>completa</a:t>
              </a:r>
              <a:r>
                <a:rPr lang="en-GB" dirty="0"/>
                <a:t>.</a:t>
              </a:r>
              <a:r>
                <a:rPr lang="es-AR" altLang="en-GB" dirty="0"/>
                <a:t> </a:t>
              </a:r>
              <a:r>
                <a:rPr lang="en-GB" dirty="0"/>
                <a:t>&gt;</a:t>
              </a:r>
              <a:endParaRPr lang="en-GB" dirty="0"/>
            </a:p>
          </p:txBody>
        </p:sp>
        <p:sp>
          <p:nvSpPr>
            <p:cNvPr id="24" name="Google Shape;481;p3"/>
            <p:cNvSpPr txBox="1"/>
            <p:nvPr/>
          </p:nvSpPr>
          <p:spPr>
            <a:xfrm>
              <a:off x="2778" y="2588"/>
              <a:ext cx="11308" cy="5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dirty="0"/>
                <a:t>&lt;</a:t>
              </a:r>
              <a:r>
                <a:rPr lang="es-AR" altLang="en-GB" dirty="0"/>
                <a:t> </a:t>
              </a:r>
              <a:r>
                <a:rPr dirty="0"/>
                <a:t>Si la </a:t>
              </a:r>
              <a:r>
                <a:rPr dirty="0" err="1"/>
                <a:t>aplicación</a:t>
              </a:r>
              <a:r>
                <a:rPr dirty="0"/>
                <a:t> web </a:t>
              </a:r>
              <a:r>
                <a:rPr dirty="0" err="1"/>
                <a:t>tiene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gran </a:t>
              </a:r>
              <a:r>
                <a:rPr dirty="0" err="1"/>
                <a:t>cantidad</a:t>
              </a:r>
              <a:r>
                <a:rPr dirty="0"/>
                <a:t> de </a:t>
              </a:r>
              <a:r>
                <a:rPr dirty="0" err="1"/>
                <a:t>contenido</a:t>
              </a:r>
              <a:r>
                <a:rPr dirty="0"/>
                <a:t> </a:t>
              </a:r>
              <a:r>
                <a:rPr dirty="0" err="1"/>
                <a:t>dinámico</a:t>
              </a:r>
              <a:r>
                <a:rPr dirty="0"/>
                <a:t> </a:t>
              </a:r>
              <a:r>
                <a:rPr dirty="0" err="1"/>
                <a:t>que</a:t>
              </a:r>
              <a:r>
                <a:rPr dirty="0"/>
                <a:t> </a:t>
              </a:r>
              <a:r>
                <a:rPr dirty="0" err="1"/>
                <a:t>depende</a:t>
              </a:r>
              <a:r>
                <a:rPr dirty="0"/>
                <a:t> de la </a:t>
              </a:r>
              <a:r>
                <a:rPr dirty="0" err="1"/>
                <a:t>interacción</a:t>
              </a:r>
              <a:r>
                <a:rPr dirty="0"/>
                <a:t> del </a:t>
              </a:r>
              <a:r>
                <a:rPr dirty="0" err="1"/>
                <a:t>usuario</a:t>
              </a:r>
              <a:r>
                <a:rPr dirty="0"/>
                <a:t>, </a:t>
              </a:r>
              <a:r>
                <a:rPr dirty="0" err="1"/>
                <a:t>entonces</a:t>
              </a:r>
              <a:r>
                <a:rPr dirty="0"/>
                <a:t> CSR </a:t>
              </a:r>
              <a:r>
                <a:rPr dirty="0" err="1"/>
                <a:t>puede</a:t>
              </a:r>
              <a:r>
                <a:rPr dirty="0"/>
                <a:t> </a:t>
              </a:r>
              <a:r>
                <a:rPr dirty="0" err="1"/>
                <a:t>ser</a:t>
              </a:r>
              <a:r>
                <a:rPr dirty="0"/>
                <a:t> la </a:t>
              </a:r>
              <a:r>
                <a:rPr dirty="0" err="1"/>
                <a:t>mejor</a:t>
              </a:r>
              <a:r>
                <a:rPr dirty="0"/>
                <a:t> </a:t>
              </a:r>
              <a:r>
                <a:rPr dirty="0" err="1"/>
                <a:t>opción</a:t>
              </a:r>
              <a:r>
                <a:rPr dirty="0"/>
                <a:t>, </a:t>
              </a:r>
              <a:r>
                <a:rPr dirty="0" err="1"/>
                <a:t>ya</a:t>
              </a:r>
              <a:r>
                <a:rPr dirty="0"/>
                <a:t> </a:t>
              </a:r>
              <a:r>
                <a:rPr dirty="0" err="1"/>
                <a:t>que</a:t>
              </a:r>
              <a:r>
                <a:rPr dirty="0"/>
                <a:t> </a:t>
              </a:r>
              <a:r>
                <a:rPr dirty="0" err="1"/>
                <a:t>permite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</a:t>
              </a:r>
              <a:r>
                <a:rPr dirty="0" err="1"/>
                <a:t>experiencia</a:t>
              </a:r>
              <a:r>
                <a:rPr dirty="0"/>
                <a:t> de </a:t>
              </a:r>
              <a:r>
                <a:rPr dirty="0" err="1"/>
                <a:t>usuario</a:t>
              </a:r>
              <a:r>
                <a:rPr dirty="0"/>
                <a:t> </a:t>
              </a:r>
              <a:r>
                <a:rPr dirty="0" err="1"/>
                <a:t>más</a:t>
              </a:r>
              <a:r>
                <a:rPr dirty="0"/>
                <a:t> </a:t>
              </a:r>
              <a:r>
                <a:rPr dirty="0" err="1"/>
                <a:t>fluida</a:t>
              </a:r>
              <a:r>
                <a:rPr dirty="0"/>
                <a:t> y </a:t>
              </a:r>
              <a:r>
                <a:rPr dirty="0" err="1"/>
                <a:t>agradable</a:t>
              </a:r>
              <a:r>
                <a:rPr dirty="0"/>
                <a:t>.</a:t>
              </a:r>
              <a:r>
                <a:rPr lang="es-AR" dirty="0"/>
                <a:t> </a:t>
              </a:r>
              <a:r>
                <a:rPr lang="en-GB" dirty="0"/>
                <a:t>&gt;</a:t>
              </a:r>
              <a:endParaRPr lang="en-GB" dirty="0"/>
            </a:p>
          </p:txBody>
        </p:sp>
        <p:sp>
          <p:nvSpPr>
            <p:cNvPr id="27" name="Google Shape;481;p3"/>
            <p:cNvSpPr txBox="1"/>
            <p:nvPr/>
          </p:nvSpPr>
          <p:spPr>
            <a:xfrm>
              <a:off x="2810" y="3188"/>
              <a:ext cx="11308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dirty="0"/>
                <a:t>&lt;</a:t>
              </a:r>
              <a:r>
                <a:rPr lang="es-AR" altLang="en-GB" dirty="0"/>
                <a:t> </a:t>
              </a:r>
              <a:r>
                <a:rPr dirty="0"/>
                <a:t>Si la </a:t>
              </a:r>
              <a:r>
                <a:rPr dirty="0" err="1"/>
                <a:t>aplicación</a:t>
              </a:r>
              <a:r>
                <a:rPr dirty="0"/>
                <a:t> web no </a:t>
              </a:r>
              <a:r>
                <a:rPr dirty="0" err="1"/>
                <a:t>tiene</a:t>
              </a:r>
              <a:r>
                <a:rPr dirty="0"/>
                <a:t> </a:t>
              </a:r>
              <a:r>
                <a:rPr dirty="0" err="1"/>
                <a:t>muchos</a:t>
              </a:r>
              <a:r>
                <a:rPr dirty="0"/>
                <a:t> </a:t>
              </a:r>
              <a:r>
                <a:rPr dirty="0" err="1"/>
                <a:t>requerimientos</a:t>
              </a:r>
              <a:r>
                <a:rPr dirty="0"/>
                <a:t> de SEO y la </a:t>
              </a:r>
              <a:r>
                <a:rPr dirty="0" err="1"/>
                <a:t>carga</a:t>
              </a:r>
              <a:r>
                <a:rPr dirty="0"/>
                <a:t> </a:t>
              </a:r>
              <a:r>
                <a:rPr dirty="0" err="1"/>
                <a:t>inicial</a:t>
              </a:r>
              <a:r>
                <a:rPr dirty="0"/>
                <a:t> de la </a:t>
              </a:r>
              <a:r>
                <a:rPr dirty="0" err="1"/>
                <a:t>página</a:t>
              </a:r>
              <a:r>
                <a:rPr dirty="0"/>
                <a:t> no </a:t>
              </a:r>
              <a:r>
                <a:rPr dirty="0" err="1"/>
                <a:t>es</a:t>
              </a:r>
              <a:r>
                <a:rPr dirty="0"/>
                <a:t> </a:t>
              </a:r>
              <a:r>
                <a:rPr dirty="0" err="1"/>
                <a:t>crítica</a:t>
              </a:r>
              <a:r>
                <a:rPr dirty="0"/>
                <a:t>, </a:t>
              </a:r>
              <a:r>
                <a:rPr dirty="0" err="1"/>
                <a:t>entonces</a:t>
              </a:r>
              <a:r>
                <a:rPr dirty="0"/>
                <a:t> CSR </a:t>
              </a:r>
              <a:r>
                <a:rPr dirty="0" err="1"/>
                <a:t>también</a:t>
              </a:r>
              <a:r>
                <a:rPr dirty="0"/>
                <a:t> </a:t>
              </a:r>
              <a:r>
                <a:rPr dirty="0" err="1"/>
                <a:t>puede</a:t>
              </a:r>
              <a:r>
                <a:rPr dirty="0"/>
                <a:t> </a:t>
              </a:r>
              <a:r>
                <a:rPr dirty="0" err="1"/>
                <a:t>ser</a:t>
              </a:r>
              <a:r>
                <a:rPr dirty="0"/>
                <a:t> </a:t>
              </a:r>
              <a:r>
                <a:rPr dirty="0" err="1"/>
                <a:t>una</a:t>
              </a:r>
              <a:r>
                <a:rPr dirty="0"/>
                <a:t> </a:t>
              </a:r>
              <a:r>
                <a:rPr dirty="0" err="1"/>
                <a:t>buena</a:t>
              </a:r>
              <a:r>
                <a:rPr dirty="0"/>
                <a:t> </a:t>
              </a:r>
              <a:r>
                <a:rPr dirty="0" err="1"/>
                <a:t>opción</a:t>
              </a:r>
              <a:r>
                <a:rPr dirty="0"/>
                <a:t>.</a:t>
              </a:r>
              <a:r>
                <a:rPr lang="es-AR" dirty="0"/>
                <a:t> </a:t>
              </a:r>
              <a:r>
                <a:rPr lang="en-GB" dirty="0"/>
                <a:t>&gt;</a:t>
              </a:r>
              <a:endParaRPr lang="en-GB" dirty="0"/>
            </a:p>
          </p:txBody>
        </p:sp>
      </p:grp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03985" y="49530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 dirty="0" smtClean="0">
                <a:sym typeface="+mn-ea"/>
              </a:rPr>
              <a:t>Ventajas de </a:t>
            </a:r>
            <a:r>
              <a:rPr lang="es-AR" sz="2000" dirty="0">
                <a:sym typeface="+mn-ea"/>
              </a:rPr>
              <a:t>utilizar SSR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accent2"/>
                </a:solidFill>
              </a:rPr>
              <a:t> </a:t>
            </a:r>
            <a:r>
              <a:rPr lang="en-GB" sz="2000" dirty="0">
                <a:solidFill>
                  <a:schemeClr val="accent3"/>
                </a:solidFill>
              </a:rPr>
              <a:t>{</a:t>
            </a:r>
            <a:endParaRPr sz="2000" dirty="0">
              <a:solidFill>
                <a:schemeClr val="accent3"/>
              </a:solidFill>
            </a:endParaRPr>
          </a:p>
        </p:txBody>
      </p:sp>
      <p:grpSp>
        <p:nvGrpSpPr>
          <p:cNvPr id="462" name="Google Shape;462;p1"/>
          <p:cNvGrpSpPr/>
          <p:nvPr/>
        </p:nvGrpSpPr>
        <p:grpSpPr>
          <a:xfrm>
            <a:off x="1388745" y="1059816"/>
            <a:ext cx="506095" cy="3451172"/>
            <a:chOff x="1388760" y="1449985"/>
            <a:chExt cx="506100" cy="2575481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48146" y="1449985"/>
              <a:ext cx="3810" cy="2073211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388760" y="3660581"/>
              <a:ext cx="506100" cy="36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764030" y="1203960"/>
            <a:ext cx="7180580" cy="3006925"/>
            <a:chOff x="2778" y="1800"/>
            <a:chExt cx="11308" cy="2809"/>
          </a:xfrm>
        </p:grpSpPr>
        <p:sp>
          <p:nvSpPr>
            <p:cNvPr id="481" name="Google Shape;481;p3"/>
            <p:cNvSpPr txBox="1"/>
            <p:nvPr/>
          </p:nvSpPr>
          <p:spPr>
            <a:xfrm>
              <a:off x="2778" y="1800"/>
              <a:ext cx="11308" cy="5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 dirty="0"/>
                <a:t>&lt;</a:t>
              </a:r>
              <a:r>
                <a:rPr lang="es-AR" altLang="en-GB" sz="1500" dirty="0">
                  <a:solidFill>
                    <a:srgbClr val="FF0000"/>
                  </a:solidFill>
                </a:rPr>
                <a:t> </a:t>
              </a:r>
              <a:r>
                <a:rPr lang="en-GB" sz="1500" dirty="0" err="1">
                  <a:solidFill>
                    <a:srgbClr val="00B050"/>
                  </a:solidFill>
                </a:rPr>
                <a:t>Mejor</a:t>
              </a:r>
              <a:r>
                <a:rPr lang="en-GB" sz="1500" dirty="0">
                  <a:solidFill>
                    <a:srgbClr val="00B050"/>
                  </a:solidFill>
                </a:rPr>
                <a:t> SEO:</a:t>
              </a:r>
              <a:r>
                <a:rPr lang="en-GB" sz="1500" dirty="0"/>
                <a:t> el </a:t>
              </a:r>
              <a:r>
                <a:rPr lang="en-GB" sz="1500" dirty="0" err="1"/>
                <a:t>contenido</a:t>
              </a:r>
              <a:r>
                <a:rPr lang="en-GB" sz="1500" dirty="0"/>
                <a:t> de la </a:t>
              </a:r>
              <a:r>
                <a:rPr lang="en-GB" sz="1500" dirty="0" err="1"/>
                <a:t>página</a:t>
              </a:r>
              <a:r>
                <a:rPr lang="en-GB" sz="1500" dirty="0"/>
                <a:t> se </a:t>
              </a:r>
              <a:r>
                <a:rPr lang="en-GB" sz="1500" dirty="0" err="1"/>
                <a:t>renderiza</a:t>
              </a:r>
              <a:r>
                <a:rPr lang="en-GB" sz="1500" dirty="0"/>
                <a:t> </a:t>
              </a:r>
              <a:r>
                <a:rPr lang="en-GB" sz="1500" dirty="0" err="1"/>
                <a:t>completamente</a:t>
              </a:r>
              <a:r>
                <a:rPr lang="en-GB" sz="1500" dirty="0"/>
                <a:t> en el </a:t>
              </a:r>
              <a:r>
                <a:rPr lang="en-GB" sz="1500" dirty="0" err="1"/>
                <a:t>servidor</a:t>
              </a:r>
              <a:r>
                <a:rPr lang="en-GB" sz="1500" dirty="0"/>
                <a:t>, lo </a:t>
              </a:r>
              <a:r>
                <a:rPr lang="en-GB" sz="1500" dirty="0" err="1"/>
                <a:t>que</a:t>
              </a:r>
              <a:r>
                <a:rPr lang="en-GB" sz="1500" dirty="0"/>
                <a:t> </a:t>
              </a:r>
              <a:r>
                <a:rPr lang="en-GB" sz="1500" dirty="0" err="1"/>
                <a:t>facilita</a:t>
              </a:r>
              <a:r>
                <a:rPr lang="en-GB" sz="1500" dirty="0"/>
                <a:t> la </a:t>
              </a:r>
              <a:r>
                <a:rPr lang="en-GB" sz="1500" dirty="0" err="1"/>
                <a:t>indexación</a:t>
              </a:r>
              <a:r>
                <a:rPr lang="en-GB" sz="1500" dirty="0"/>
                <a:t> del </a:t>
              </a:r>
              <a:r>
                <a:rPr lang="en-GB" sz="1500" dirty="0" err="1"/>
                <a:t>contenido</a:t>
              </a:r>
              <a:r>
                <a:rPr lang="en-GB" sz="1500" dirty="0"/>
                <a:t> </a:t>
              </a:r>
              <a:r>
                <a:rPr lang="en-GB" sz="1500" dirty="0" err="1"/>
                <a:t>por</a:t>
              </a:r>
              <a:r>
                <a:rPr lang="en-GB" sz="1500" dirty="0"/>
                <a:t> parte de los </a:t>
              </a:r>
              <a:r>
                <a:rPr lang="en-GB" sz="1500" dirty="0" err="1"/>
                <a:t>motores</a:t>
              </a:r>
              <a:r>
                <a:rPr lang="en-GB" sz="1500" dirty="0"/>
                <a:t> de </a:t>
              </a:r>
              <a:r>
                <a:rPr lang="en-GB" sz="1500" dirty="0" err="1"/>
                <a:t>búsqueda</a:t>
              </a:r>
              <a:r>
                <a:rPr lang="en-GB" sz="1500" dirty="0"/>
                <a:t>.</a:t>
              </a:r>
              <a:r>
                <a:rPr lang="es-AR" altLang="en-GB" sz="1500" dirty="0"/>
                <a:t> </a:t>
              </a:r>
              <a:r>
                <a:rPr lang="en-GB" sz="1500" dirty="0"/>
                <a:t>&gt;</a:t>
              </a:r>
              <a:endParaRPr lang="en-GB" sz="1500" dirty="0"/>
            </a:p>
          </p:txBody>
        </p:sp>
        <p:sp>
          <p:nvSpPr>
            <p:cNvPr id="24" name="Google Shape;481;p3"/>
            <p:cNvSpPr txBox="1"/>
            <p:nvPr/>
          </p:nvSpPr>
          <p:spPr>
            <a:xfrm>
              <a:off x="2778" y="2490"/>
              <a:ext cx="11308" cy="5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00B050"/>
                  </a:solidFill>
                </a:rPr>
                <a:t>Mejor tiempo de carga inicial:</a:t>
              </a:r>
              <a:r>
                <a:rPr sz="1500"/>
                <a:t> el navegador recibe una página completamente renderizada, lo que reduce el tiempo de carga inicial.</a:t>
              </a:r>
              <a:r>
                <a:rPr lang="es-AR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  <p:sp>
          <p:nvSpPr>
            <p:cNvPr id="27" name="Google Shape;481;p3"/>
            <p:cNvSpPr txBox="1"/>
            <p:nvPr/>
          </p:nvSpPr>
          <p:spPr>
            <a:xfrm>
              <a:off x="2778" y="3188"/>
              <a:ext cx="11308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00B050"/>
                  </a:solidFill>
                </a:rPr>
                <a:t>Mejor accesibilidad:</a:t>
              </a:r>
              <a:r>
                <a:rPr sz="1500"/>
                <a:t> el contenido de la página es accesible para usuarios con discapacidades o dispositivos que no son compatibles con JavaScript.</a:t>
              </a:r>
              <a:r>
                <a:rPr lang="es-AR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  <p:sp>
          <p:nvSpPr>
            <p:cNvPr id="30" name="Google Shape;481;p3"/>
            <p:cNvSpPr txBox="1"/>
            <p:nvPr/>
          </p:nvSpPr>
          <p:spPr>
            <a:xfrm>
              <a:off x="2778" y="4093"/>
              <a:ext cx="11308" cy="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00B050"/>
                  </a:solidFill>
                </a:rPr>
                <a:t>Mayor seguridad:</a:t>
              </a:r>
              <a:r>
                <a:rPr sz="1500"/>
                <a:t> el código del cliente se ejecuta en un ambiente controlado, lo que reduce la exposición a vulnerabilidades de seguridad.</a:t>
              </a:r>
              <a:r>
                <a:rPr lang="en-GB" sz="1500"/>
                <a:t>&gt;</a:t>
              </a:r>
              <a:endParaRPr lang="en-GB" sz="1500"/>
            </a:p>
          </p:txBody>
        </p:sp>
      </p:grp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03985" y="49530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 dirty="0">
                <a:sym typeface="+mn-ea"/>
              </a:rPr>
              <a:t>D</a:t>
            </a:r>
            <a:r>
              <a:rPr lang="es-AR" sz="2000" dirty="0" smtClean="0">
                <a:sym typeface="+mn-ea"/>
              </a:rPr>
              <a:t>esventajas </a:t>
            </a:r>
            <a:r>
              <a:rPr lang="es-AR" sz="2000" dirty="0">
                <a:sym typeface="+mn-ea"/>
              </a:rPr>
              <a:t>de utilizar SSR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accent2"/>
                </a:solidFill>
              </a:rPr>
              <a:t> </a:t>
            </a:r>
            <a:r>
              <a:rPr lang="en-GB" sz="2000" dirty="0">
                <a:solidFill>
                  <a:schemeClr val="accent3"/>
                </a:solidFill>
              </a:rPr>
              <a:t>{</a:t>
            </a:r>
            <a:endParaRPr sz="2000" dirty="0">
              <a:solidFill>
                <a:schemeClr val="accent3"/>
              </a:solidFill>
            </a:endParaRPr>
          </a:p>
        </p:txBody>
      </p:sp>
      <p:grpSp>
        <p:nvGrpSpPr>
          <p:cNvPr id="462" name="Google Shape;462;p1"/>
          <p:cNvGrpSpPr/>
          <p:nvPr/>
        </p:nvGrpSpPr>
        <p:grpSpPr>
          <a:xfrm>
            <a:off x="1388745" y="1059816"/>
            <a:ext cx="506095" cy="3451172"/>
            <a:chOff x="1388760" y="1449985"/>
            <a:chExt cx="506100" cy="2575481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48146" y="1449985"/>
              <a:ext cx="3810" cy="2073211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388760" y="3660581"/>
              <a:ext cx="506100" cy="36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755140" y="1203960"/>
            <a:ext cx="7189470" cy="2856098"/>
            <a:chOff x="2764" y="1800"/>
            <a:chExt cx="11322" cy="2149"/>
          </a:xfrm>
        </p:grpSpPr>
        <p:sp>
          <p:nvSpPr>
            <p:cNvPr id="481" name="Google Shape;481;p3"/>
            <p:cNvSpPr txBox="1"/>
            <p:nvPr/>
          </p:nvSpPr>
          <p:spPr>
            <a:xfrm>
              <a:off x="2778" y="1800"/>
              <a:ext cx="11308" cy="5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>
                  <a:solidFill>
                    <a:srgbClr val="FF4B4B"/>
                  </a:solidFill>
                </a:rPr>
                <a:t> </a:t>
              </a:r>
              <a:r>
                <a:rPr lang="en-GB" sz="1500">
                  <a:solidFill>
                    <a:srgbClr val="FF4B4B"/>
                  </a:solidFill>
                </a:rPr>
                <a:t>Menor interactividad:</a:t>
              </a:r>
              <a:r>
                <a:rPr lang="en-GB" sz="1500"/>
                <a:t> el contenido de la página se actualiza a través de solicitudes al servidor, lo que puede resultar en una experiencia de usuario menos fluida.</a:t>
              </a:r>
              <a:r>
                <a:rPr lang="es-AR" altLang="en-GB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  <p:sp>
          <p:nvSpPr>
            <p:cNvPr id="24" name="Google Shape;481;p3"/>
            <p:cNvSpPr txBox="1"/>
            <p:nvPr/>
          </p:nvSpPr>
          <p:spPr>
            <a:xfrm>
              <a:off x="2764" y="2494"/>
              <a:ext cx="11308" cy="5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FF4B4B"/>
                  </a:solidFill>
                </a:rPr>
                <a:t>Mayor carga en el servidor:</a:t>
              </a:r>
              <a:r>
                <a:rPr sz="1500"/>
                <a:t> el servidor debe procesar las solicitudes de renderizado para cada solicitud de página, lo que puede resultar en una mayor carga del servidor y tiempos de respuesta más lentos.</a:t>
              </a:r>
              <a:r>
                <a:rPr lang="es-AR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  <p:sp>
          <p:nvSpPr>
            <p:cNvPr id="27" name="Google Shape;481;p3"/>
            <p:cNvSpPr txBox="1"/>
            <p:nvPr/>
          </p:nvSpPr>
          <p:spPr>
            <a:xfrm>
              <a:off x="2764" y="3154"/>
              <a:ext cx="11308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FF4B4B"/>
                  </a:solidFill>
                </a:rPr>
                <a:t>Menor flexibilidad:</a:t>
              </a:r>
              <a:r>
                <a:rPr sz="1500"/>
                <a:t> el proceso de renderizado se realiza en el servidor, lo que limita la capacidad de personalizar la experiencia de usuario en función de los dispositivos o perfiles de usuario.</a:t>
              </a:r>
              <a:r>
                <a:rPr lang="es-AR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</p:grpSp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403985" y="49530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 dirty="0">
                <a:sym typeface="+mn-ea"/>
              </a:rPr>
              <a:t>Ventajas </a:t>
            </a:r>
            <a:r>
              <a:rPr lang="es-AR" sz="2000" dirty="0" smtClean="0">
                <a:sym typeface="+mn-ea"/>
              </a:rPr>
              <a:t>de </a:t>
            </a:r>
            <a:r>
              <a:rPr lang="es-AR" sz="2000" dirty="0">
                <a:sym typeface="+mn-ea"/>
              </a:rPr>
              <a:t>utilizar </a:t>
            </a:r>
            <a:r>
              <a:rPr sz="2000" dirty="0"/>
              <a:t>CSR</a:t>
            </a:r>
            <a:r>
              <a:rPr lang="es-AR" sz="2000" dirty="0"/>
              <a:t> </a:t>
            </a:r>
            <a:r>
              <a:rPr lang="en-GB" sz="2000" dirty="0">
                <a:solidFill>
                  <a:schemeClr val="accent3"/>
                </a:solidFill>
              </a:rPr>
              <a:t>{</a:t>
            </a:r>
            <a:endParaRPr sz="2000" dirty="0">
              <a:solidFill>
                <a:schemeClr val="accent3"/>
              </a:solidFill>
            </a:endParaRPr>
          </a:p>
        </p:txBody>
      </p:sp>
      <p:grpSp>
        <p:nvGrpSpPr>
          <p:cNvPr id="462" name="Google Shape;462;p1"/>
          <p:cNvGrpSpPr/>
          <p:nvPr/>
        </p:nvGrpSpPr>
        <p:grpSpPr>
          <a:xfrm>
            <a:off x="1388745" y="1059816"/>
            <a:ext cx="506095" cy="3451172"/>
            <a:chOff x="1388760" y="1449985"/>
            <a:chExt cx="506100" cy="2575481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48146" y="1449985"/>
              <a:ext cx="3810" cy="2073211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388760" y="3660581"/>
              <a:ext cx="506100" cy="36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764030" y="1203960"/>
            <a:ext cx="7180580" cy="2856098"/>
            <a:chOff x="2778" y="1800"/>
            <a:chExt cx="11308" cy="2149"/>
          </a:xfrm>
        </p:grpSpPr>
        <p:sp>
          <p:nvSpPr>
            <p:cNvPr id="481" name="Google Shape;481;p3"/>
            <p:cNvSpPr txBox="1"/>
            <p:nvPr/>
          </p:nvSpPr>
          <p:spPr>
            <a:xfrm>
              <a:off x="2778" y="1800"/>
              <a:ext cx="11308" cy="5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 dirty="0"/>
                <a:t>&lt;</a:t>
              </a:r>
              <a:r>
                <a:rPr lang="es-AR" altLang="en-GB" sz="1500" dirty="0">
                  <a:solidFill>
                    <a:srgbClr val="FF4B4B"/>
                  </a:solidFill>
                </a:rPr>
                <a:t> </a:t>
              </a:r>
              <a:r>
                <a:rPr lang="en-GB" sz="1500" dirty="0">
                  <a:solidFill>
                    <a:srgbClr val="00B050"/>
                  </a:solidFill>
                </a:rPr>
                <a:t>Mayor </a:t>
              </a:r>
              <a:r>
                <a:rPr lang="en-GB" sz="1500" dirty="0" err="1">
                  <a:solidFill>
                    <a:srgbClr val="00B050"/>
                  </a:solidFill>
                </a:rPr>
                <a:t>interactividad</a:t>
              </a:r>
              <a:r>
                <a:rPr lang="en-GB" sz="1500" dirty="0">
                  <a:solidFill>
                    <a:srgbClr val="00B050"/>
                  </a:solidFill>
                </a:rPr>
                <a:t>:</a:t>
              </a:r>
              <a:r>
                <a:rPr lang="en-GB" sz="1500" dirty="0"/>
                <a:t> el </a:t>
              </a:r>
              <a:r>
                <a:rPr lang="en-GB" sz="1500" dirty="0" err="1"/>
                <a:t>contenido</a:t>
              </a:r>
              <a:r>
                <a:rPr lang="en-GB" sz="1500" dirty="0"/>
                <a:t> de la </a:t>
              </a:r>
              <a:r>
                <a:rPr lang="en-GB" sz="1500" dirty="0" err="1"/>
                <a:t>página</a:t>
              </a:r>
              <a:r>
                <a:rPr lang="en-GB" sz="1500" dirty="0"/>
                <a:t> se </a:t>
              </a:r>
              <a:r>
                <a:rPr lang="en-GB" sz="1500" dirty="0" err="1"/>
                <a:t>actualiza</a:t>
              </a:r>
              <a:r>
                <a:rPr lang="en-GB" sz="1500" dirty="0"/>
                <a:t> </a:t>
              </a:r>
              <a:r>
                <a:rPr lang="en-GB" sz="1500" dirty="0" err="1"/>
                <a:t>dinámicamente</a:t>
              </a:r>
              <a:r>
                <a:rPr lang="en-GB" sz="1500" dirty="0"/>
                <a:t> sin </a:t>
              </a:r>
              <a:r>
                <a:rPr lang="en-GB" sz="1500" dirty="0" err="1"/>
                <a:t>necesidad</a:t>
              </a:r>
              <a:r>
                <a:rPr lang="en-GB" sz="1500" dirty="0"/>
                <a:t> de </a:t>
              </a:r>
              <a:r>
                <a:rPr lang="en-GB" sz="1500" dirty="0" err="1"/>
                <a:t>recargar</a:t>
              </a:r>
              <a:r>
                <a:rPr lang="en-GB" sz="1500" dirty="0"/>
                <a:t> la </a:t>
              </a:r>
              <a:r>
                <a:rPr lang="en-GB" sz="1500" dirty="0" err="1"/>
                <a:t>página</a:t>
              </a:r>
              <a:r>
                <a:rPr lang="en-GB" sz="1500" dirty="0"/>
                <a:t> </a:t>
              </a:r>
              <a:r>
                <a:rPr lang="en-GB" sz="1500" dirty="0" err="1"/>
                <a:t>completa</a:t>
              </a:r>
              <a:r>
                <a:rPr lang="en-GB" sz="1500" dirty="0"/>
                <a:t>, lo </a:t>
              </a:r>
              <a:r>
                <a:rPr lang="en-GB" sz="1500" dirty="0" err="1"/>
                <a:t>que</a:t>
              </a:r>
              <a:r>
                <a:rPr lang="en-GB" sz="1500" dirty="0"/>
                <a:t> </a:t>
              </a:r>
              <a:r>
                <a:rPr lang="en-GB" sz="1500" dirty="0" err="1"/>
                <a:t>puede</a:t>
              </a:r>
              <a:r>
                <a:rPr lang="en-GB" sz="1500" dirty="0"/>
                <a:t> </a:t>
              </a:r>
              <a:r>
                <a:rPr lang="en-GB" sz="1500" dirty="0" err="1"/>
                <a:t>resultar</a:t>
              </a:r>
              <a:r>
                <a:rPr lang="en-GB" sz="1500" dirty="0"/>
                <a:t> en </a:t>
              </a:r>
              <a:r>
                <a:rPr lang="en-GB" sz="1500" dirty="0" err="1"/>
                <a:t>una</a:t>
              </a:r>
              <a:r>
                <a:rPr lang="en-GB" sz="1500" dirty="0"/>
                <a:t> </a:t>
              </a:r>
              <a:r>
                <a:rPr lang="en-GB" sz="1500" dirty="0" err="1"/>
                <a:t>experiencia</a:t>
              </a:r>
              <a:r>
                <a:rPr lang="en-GB" sz="1500" dirty="0"/>
                <a:t> de </a:t>
              </a:r>
              <a:r>
                <a:rPr lang="en-GB" sz="1500" dirty="0" err="1"/>
                <a:t>usuario</a:t>
              </a:r>
              <a:r>
                <a:rPr lang="en-GB" sz="1500" dirty="0"/>
                <a:t> </a:t>
              </a:r>
              <a:r>
                <a:rPr lang="en-GB" sz="1500" dirty="0" err="1"/>
                <a:t>más</a:t>
              </a:r>
              <a:r>
                <a:rPr lang="en-GB" sz="1500" dirty="0"/>
                <a:t> </a:t>
              </a:r>
              <a:r>
                <a:rPr lang="en-GB" sz="1500" dirty="0" err="1"/>
                <a:t>fluida</a:t>
              </a:r>
              <a:r>
                <a:rPr lang="en-GB" sz="1500" dirty="0"/>
                <a:t> y </a:t>
              </a:r>
              <a:r>
                <a:rPr lang="en-GB" sz="1500" dirty="0" err="1"/>
                <a:t>rápida</a:t>
              </a:r>
              <a:r>
                <a:rPr lang="en-GB" sz="1500" dirty="0"/>
                <a:t>.</a:t>
              </a:r>
              <a:r>
                <a:rPr lang="es-AR" altLang="en-GB" sz="1500" dirty="0"/>
                <a:t> </a:t>
              </a:r>
              <a:r>
                <a:rPr lang="en-GB" sz="1500" dirty="0"/>
                <a:t>&gt;</a:t>
              </a:r>
              <a:endParaRPr lang="en-GB" sz="1500" dirty="0"/>
            </a:p>
          </p:txBody>
        </p:sp>
        <p:sp>
          <p:nvSpPr>
            <p:cNvPr id="24" name="Google Shape;481;p3"/>
            <p:cNvSpPr txBox="1"/>
            <p:nvPr/>
          </p:nvSpPr>
          <p:spPr>
            <a:xfrm>
              <a:off x="2778" y="2494"/>
              <a:ext cx="11308" cy="5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 dirty="0"/>
                <a:t>&lt;</a:t>
              </a:r>
              <a:r>
                <a:rPr lang="es-AR" altLang="en-GB" sz="1500" dirty="0"/>
                <a:t> </a:t>
              </a:r>
              <a:r>
                <a:rPr sz="1500" dirty="0" err="1">
                  <a:solidFill>
                    <a:srgbClr val="00B050"/>
                  </a:solidFill>
                </a:rPr>
                <a:t>Menor</a:t>
              </a:r>
              <a:r>
                <a:rPr sz="1500" dirty="0">
                  <a:solidFill>
                    <a:srgbClr val="00B050"/>
                  </a:solidFill>
                </a:rPr>
                <a:t> </a:t>
              </a:r>
              <a:r>
                <a:rPr sz="1500" dirty="0" err="1">
                  <a:solidFill>
                    <a:srgbClr val="00B050"/>
                  </a:solidFill>
                </a:rPr>
                <a:t>carga</a:t>
              </a:r>
              <a:r>
                <a:rPr sz="1500" dirty="0">
                  <a:solidFill>
                    <a:srgbClr val="00B050"/>
                  </a:solidFill>
                </a:rPr>
                <a:t> en el </a:t>
              </a:r>
              <a:r>
                <a:rPr sz="1500" dirty="0" err="1">
                  <a:solidFill>
                    <a:srgbClr val="00B050"/>
                  </a:solidFill>
                </a:rPr>
                <a:t>servidor</a:t>
              </a:r>
              <a:r>
                <a:rPr sz="1500" dirty="0">
                  <a:solidFill>
                    <a:srgbClr val="00B050"/>
                  </a:solidFill>
                </a:rPr>
                <a:t>:</a:t>
              </a:r>
              <a:r>
                <a:rPr sz="1500" dirty="0"/>
                <a:t> el </a:t>
              </a:r>
              <a:r>
                <a:rPr sz="1500" dirty="0" err="1"/>
                <a:t>servidor</a:t>
              </a:r>
              <a:r>
                <a:rPr sz="1500" dirty="0"/>
                <a:t> solo </a:t>
              </a:r>
              <a:r>
                <a:rPr sz="1500" dirty="0" err="1"/>
                <a:t>necesita</a:t>
              </a:r>
              <a:r>
                <a:rPr sz="1500" dirty="0"/>
                <a:t> </a:t>
              </a:r>
              <a:r>
                <a:rPr sz="1500" dirty="0" err="1"/>
                <a:t>enviar</a:t>
              </a:r>
              <a:r>
                <a:rPr sz="1500" dirty="0"/>
                <a:t> un </a:t>
              </a:r>
              <a:r>
                <a:rPr sz="1500" dirty="0" err="1"/>
                <a:t>conjunto</a:t>
              </a:r>
              <a:r>
                <a:rPr sz="1500" dirty="0"/>
                <a:t> </a:t>
              </a:r>
              <a:r>
                <a:rPr sz="1500" dirty="0" err="1"/>
                <a:t>mínimo</a:t>
              </a:r>
              <a:r>
                <a:rPr sz="1500" dirty="0"/>
                <a:t> de </a:t>
              </a:r>
              <a:r>
                <a:rPr sz="1500" dirty="0" err="1"/>
                <a:t>archivos</a:t>
              </a:r>
              <a:r>
                <a:rPr sz="1500" dirty="0"/>
                <a:t>, lo </a:t>
              </a:r>
              <a:r>
                <a:rPr sz="1500" dirty="0" err="1"/>
                <a:t>que</a:t>
              </a:r>
              <a:r>
                <a:rPr sz="1500" dirty="0"/>
                <a:t> reduce la </a:t>
              </a:r>
              <a:r>
                <a:rPr sz="1500" dirty="0" err="1"/>
                <a:t>carga</a:t>
              </a:r>
              <a:r>
                <a:rPr sz="1500" dirty="0"/>
                <a:t> en el </a:t>
              </a:r>
              <a:r>
                <a:rPr sz="1500" dirty="0" err="1"/>
                <a:t>servidor</a:t>
              </a:r>
              <a:r>
                <a:rPr sz="1500" dirty="0"/>
                <a:t> y los </a:t>
              </a:r>
              <a:r>
                <a:rPr sz="1500" dirty="0" err="1"/>
                <a:t>tiempos</a:t>
              </a:r>
              <a:r>
                <a:rPr sz="1500" dirty="0"/>
                <a:t> de </a:t>
              </a:r>
              <a:r>
                <a:rPr sz="1500" dirty="0" err="1"/>
                <a:t>respuesta</a:t>
              </a:r>
              <a:r>
                <a:rPr sz="1500" dirty="0"/>
                <a:t>.</a:t>
              </a:r>
              <a:r>
                <a:rPr lang="es-AR" sz="1500" dirty="0"/>
                <a:t> </a:t>
              </a:r>
              <a:r>
                <a:rPr lang="en-GB" sz="1500" dirty="0"/>
                <a:t>&gt;</a:t>
              </a:r>
              <a:endParaRPr lang="en-GB" sz="1500" dirty="0"/>
            </a:p>
          </p:txBody>
        </p:sp>
        <p:sp>
          <p:nvSpPr>
            <p:cNvPr id="27" name="Google Shape;481;p3"/>
            <p:cNvSpPr txBox="1"/>
            <p:nvPr/>
          </p:nvSpPr>
          <p:spPr>
            <a:xfrm>
              <a:off x="2778" y="3154"/>
              <a:ext cx="11308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 dirty="0"/>
                <a:t>&lt;</a:t>
              </a:r>
              <a:r>
                <a:rPr lang="es-AR" altLang="en-GB" sz="1500" dirty="0"/>
                <a:t> </a:t>
              </a:r>
              <a:r>
                <a:rPr sz="1500" dirty="0">
                  <a:solidFill>
                    <a:srgbClr val="00B050"/>
                  </a:solidFill>
                </a:rPr>
                <a:t>Mayor </a:t>
              </a:r>
              <a:r>
                <a:rPr sz="1500" dirty="0" err="1">
                  <a:solidFill>
                    <a:srgbClr val="00B050"/>
                  </a:solidFill>
                </a:rPr>
                <a:t>flexibilidad</a:t>
              </a:r>
              <a:r>
                <a:rPr sz="1500" dirty="0">
                  <a:solidFill>
                    <a:srgbClr val="00B050"/>
                  </a:solidFill>
                </a:rPr>
                <a:t>:</a:t>
              </a:r>
              <a:r>
                <a:rPr lang="es-AR" sz="1500" dirty="0">
                  <a:solidFill>
                    <a:srgbClr val="FF4B4B"/>
                  </a:solidFill>
                </a:rPr>
                <a:t> </a:t>
              </a:r>
              <a:r>
                <a:rPr sz="1500" dirty="0"/>
                <a:t>el </a:t>
              </a:r>
              <a:r>
                <a:rPr sz="1500" dirty="0" err="1"/>
                <a:t>proceso</a:t>
              </a:r>
              <a:r>
                <a:rPr sz="1500" dirty="0"/>
                <a:t> de </a:t>
              </a:r>
              <a:r>
                <a:rPr sz="1500" dirty="0" err="1"/>
                <a:t>renderizado</a:t>
              </a:r>
              <a:r>
                <a:rPr sz="1500" dirty="0"/>
                <a:t> se </a:t>
              </a:r>
              <a:r>
                <a:rPr sz="1500" dirty="0" err="1"/>
                <a:t>realiza</a:t>
              </a:r>
              <a:r>
                <a:rPr sz="1500" dirty="0"/>
                <a:t> en el </a:t>
              </a:r>
              <a:r>
                <a:rPr sz="1500" dirty="0" err="1"/>
                <a:t>navegador</a:t>
              </a:r>
              <a:r>
                <a:rPr sz="1500" dirty="0"/>
                <a:t> del </a:t>
              </a:r>
              <a:r>
                <a:rPr sz="1500" dirty="0" err="1"/>
                <a:t>usuario</a:t>
              </a:r>
              <a:r>
                <a:rPr sz="1500" dirty="0"/>
                <a:t>, lo </a:t>
              </a:r>
              <a:r>
                <a:rPr sz="1500" dirty="0" err="1"/>
                <a:t>que</a:t>
              </a:r>
              <a:r>
                <a:rPr sz="1500" dirty="0"/>
                <a:t> </a:t>
              </a:r>
              <a:r>
                <a:rPr sz="1500" dirty="0" err="1"/>
                <a:t>permite</a:t>
              </a:r>
              <a:r>
                <a:rPr sz="1500" dirty="0"/>
                <a:t> </a:t>
              </a:r>
              <a:r>
                <a:rPr sz="1500" dirty="0" err="1"/>
                <a:t>una</a:t>
              </a:r>
              <a:r>
                <a:rPr sz="1500" dirty="0"/>
                <a:t> mayor </a:t>
              </a:r>
              <a:r>
                <a:rPr sz="1500" dirty="0" err="1"/>
                <a:t>personalización</a:t>
              </a:r>
              <a:r>
                <a:rPr sz="1500" dirty="0"/>
                <a:t> de la </a:t>
              </a:r>
              <a:r>
                <a:rPr sz="1500" dirty="0" err="1"/>
                <a:t>experiencia</a:t>
              </a:r>
              <a:r>
                <a:rPr sz="1500" dirty="0"/>
                <a:t> de </a:t>
              </a:r>
              <a:r>
                <a:rPr sz="1500" dirty="0" err="1"/>
                <a:t>usuario</a:t>
              </a:r>
              <a:r>
                <a:rPr sz="1500" dirty="0"/>
                <a:t> y la </a:t>
              </a:r>
              <a:r>
                <a:rPr sz="1500" dirty="0" err="1"/>
                <a:t>capacidad</a:t>
              </a:r>
              <a:r>
                <a:rPr sz="1500" dirty="0"/>
                <a:t> de </a:t>
              </a:r>
              <a:r>
                <a:rPr sz="1500" dirty="0" err="1"/>
                <a:t>adaptarse</a:t>
              </a:r>
              <a:r>
                <a:rPr sz="1500" dirty="0"/>
                <a:t> a </a:t>
              </a:r>
              <a:r>
                <a:rPr sz="1500" dirty="0" err="1"/>
                <a:t>diferentes</a:t>
              </a:r>
              <a:r>
                <a:rPr sz="1500" dirty="0"/>
                <a:t> </a:t>
              </a:r>
              <a:r>
                <a:rPr sz="1500" dirty="0" err="1"/>
                <a:t>dispositivos</a:t>
              </a:r>
              <a:r>
                <a:rPr sz="1500" dirty="0"/>
                <a:t> y </a:t>
              </a:r>
              <a:r>
                <a:rPr sz="1500" dirty="0" err="1"/>
                <a:t>perfiles</a:t>
              </a:r>
              <a:r>
                <a:rPr sz="1500" dirty="0"/>
                <a:t> de </a:t>
              </a:r>
              <a:r>
                <a:rPr sz="1500" dirty="0" err="1"/>
                <a:t>usuario</a:t>
              </a:r>
              <a:r>
                <a:rPr sz="1500" dirty="0"/>
                <a:t>.</a:t>
              </a:r>
              <a:r>
                <a:rPr lang="es-AR" sz="1500" dirty="0"/>
                <a:t> </a:t>
              </a:r>
              <a:r>
                <a:rPr lang="en-GB" sz="1500" dirty="0"/>
                <a:t>&gt;</a:t>
              </a:r>
              <a:endParaRPr lang="en-GB" sz="1500" dirty="0"/>
            </a:p>
          </p:txBody>
        </p:sp>
      </p:grpSp>
      <p:sp>
        <p:nvSpPr>
          <p:cNvPr id="4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3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548129" y="513163"/>
            <a:ext cx="4790627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AR" sz="2000" dirty="0" smtClean="0">
                <a:sym typeface="+mn-ea"/>
              </a:rPr>
              <a:t>Desventajas </a:t>
            </a:r>
            <a:r>
              <a:rPr lang="es-AR" sz="2000" dirty="0">
                <a:sym typeface="+mn-ea"/>
              </a:rPr>
              <a:t>de utilizar </a:t>
            </a:r>
            <a:r>
              <a:rPr sz="2000" dirty="0"/>
              <a:t>CSR</a:t>
            </a:r>
            <a:r>
              <a:rPr lang="es-AR" sz="2000" dirty="0"/>
              <a:t> </a:t>
            </a:r>
            <a:r>
              <a:rPr lang="en-GB" sz="2000" dirty="0">
                <a:solidFill>
                  <a:schemeClr val="accent3"/>
                </a:solidFill>
              </a:rPr>
              <a:t>{</a:t>
            </a:r>
            <a:endParaRPr sz="2000" dirty="0">
              <a:solidFill>
                <a:schemeClr val="accent3"/>
              </a:solidFill>
            </a:endParaRPr>
          </a:p>
        </p:txBody>
      </p:sp>
      <p:grpSp>
        <p:nvGrpSpPr>
          <p:cNvPr id="462" name="Google Shape;462;p1"/>
          <p:cNvGrpSpPr/>
          <p:nvPr/>
        </p:nvGrpSpPr>
        <p:grpSpPr>
          <a:xfrm>
            <a:off x="1388745" y="1059816"/>
            <a:ext cx="506095" cy="3451172"/>
            <a:chOff x="1388760" y="1449985"/>
            <a:chExt cx="506100" cy="2575481"/>
          </a:xfrm>
        </p:grpSpPr>
        <p:cxnSp>
          <p:nvCxnSpPr>
            <p:cNvPr id="463" name="Google Shape;463;p1"/>
            <p:cNvCxnSpPr/>
            <p:nvPr/>
          </p:nvCxnSpPr>
          <p:spPr>
            <a:xfrm>
              <a:off x="1548146" y="1449985"/>
              <a:ext cx="3810" cy="2073211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64" name="Google Shape;464;p1"/>
            <p:cNvSpPr txBox="1"/>
            <p:nvPr/>
          </p:nvSpPr>
          <p:spPr>
            <a:xfrm>
              <a:off x="1388760" y="3660581"/>
              <a:ext cx="506100" cy="3648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 panose="020B0604020202020204"/>
                <a:buNone/>
              </a:pPr>
              <a:r>
                <a:rPr lang="en-GB" sz="20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sz="20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</p:grp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734820" y="1203960"/>
            <a:ext cx="7209790" cy="3167494"/>
            <a:chOff x="2732" y="1800"/>
            <a:chExt cx="11354" cy="2959"/>
          </a:xfrm>
        </p:grpSpPr>
        <p:sp>
          <p:nvSpPr>
            <p:cNvPr id="481" name="Google Shape;481;p3"/>
            <p:cNvSpPr txBox="1"/>
            <p:nvPr/>
          </p:nvSpPr>
          <p:spPr>
            <a:xfrm>
              <a:off x="2778" y="1800"/>
              <a:ext cx="11308" cy="5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 dirty="0"/>
                <a:t>&lt;</a:t>
              </a:r>
              <a:r>
                <a:rPr lang="es-AR" altLang="en-GB" sz="1500" dirty="0">
                  <a:solidFill>
                    <a:srgbClr val="FF0000"/>
                  </a:solidFill>
                </a:rPr>
                <a:t> </a:t>
              </a:r>
              <a:r>
                <a:rPr lang="en-GB" sz="1500" dirty="0" err="1">
                  <a:solidFill>
                    <a:srgbClr val="FF4B4B"/>
                  </a:solidFill>
                </a:rPr>
                <a:t>Peor</a:t>
              </a:r>
              <a:r>
                <a:rPr lang="en-GB" sz="1500" dirty="0">
                  <a:solidFill>
                    <a:srgbClr val="FF4B4B"/>
                  </a:solidFill>
                </a:rPr>
                <a:t> SEO:</a:t>
              </a:r>
              <a:r>
                <a:rPr lang="en-GB" sz="1500" dirty="0"/>
                <a:t> el </a:t>
              </a:r>
              <a:r>
                <a:rPr lang="en-GB" sz="1500" dirty="0" err="1"/>
                <a:t>contenido</a:t>
              </a:r>
              <a:r>
                <a:rPr lang="en-GB" sz="1500" dirty="0"/>
                <a:t> de la </a:t>
              </a:r>
              <a:r>
                <a:rPr lang="en-GB" sz="1500" dirty="0" err="1"/>
                <a:t>página</a:t>
              </a:r>
              <a:r>
                <a:rPr lang="en-GB" sz="1500" dirty="0"/>
                <a:t> </a:t>
              </a:r>
              <a:r>
                <a:rPr lang="en-GB" sz="1500" dirty="0" err="1"/>
                <a:t>puede</a:t>
              </a:r>
              <a:r>
                <a:rPr lang="en-GB" sz="1500" dirty="0"/>
                <a:t> </a:t>
              </a:r>
              <a:r>
                <a:rPr lang="en-GB" sz="1500" dirty="0" err="1"/>
                <a:t>ser</a:t>
              </a:r>
              <a:r>
                <a:rPr lang="en-GB" sz="1500" dirty="0"/>
                <a:t> </a:t>
              </a:r>
              <a:r>
                <a:rPr lang="en-GB" sz="1500" dirty="0" err="1"/>
                <a:t>más</a:t>
              </a:r>
              <a:r>
                <a:rPr lang="en-GB" sz="1500" dirty="0"/>
                <a:t> </a:t>
              </a:r>
              <a:r>
                <a:rPr lang="en-GB" sz="1500" dirty="0" err="1"/>
                <a:t>difícil</a:t>
              </a:r>
              <a:r>
                <a:rPr lang="en-GB" sz="1500" dirty="0"/>
                <a:t> de </a:t>
              </a:r>
              <a:r>
                <a:rPr lang="en-GB" sz="1500" dirty="0" err="1"/>
                <a:t>indexar</a:t>
              </a:r>
              <a:r>
                <a:rPr lang="en-GB" sz="1500" dirty="0"/>
                <a:t> </a:t>
              </a:r>
              <a:r>
                <a:rPr lang="en-GB" sz="1500" dirty="0" err="1"/>
                <a:t>por</a:t>
              </a:r>
              <a:r>
                <a:rPr lang="en-GB" sz="1500" dirty="0"/>
                <a:t> los </a:t>
              </a:r>
              <a:r>
                <a:rPr lang="en-GB" sz="1500" dirty="0" err="1"/>
                <a:t>motores</a:t>
              </a:r>
              <a:r>
                <a:rPr lang="en-GB" sz="1500" dirty="0"/>
                <a:t> de </a:t>
              </a:r>
              <a:r>
                <a:rPr lang="en-GB" sz="1500" dirty="0" err="1"/>
                <a:t>búsqueda</a:t>
              </a:r>
              <a:r>
                <a:rPr lang="en-GB" sz="1500" dirty="0"/>
                <a:t> </a:t>
              </a:r>
              <a:r>
                <a:rPr lang="en-GB" sz="1500" dirty="0" err="1"/>
                <a:t>debido</a:t>
              </a:r>
              <a:r>
                <a:rPr lang="en-GB" sz="1500" dirty="0"/>
                <a:t> al </a:t>
              </a:r>
              <a:r>
                <a:rPr lang="en-GB" sz="1500" dirty="0" err="1"/>
                <a:t>uso</a:t>
              </a:r>
              <a:r>
                <a:rPr lang="en-GB" sz="1500" dirty="0"/>
                <a:t> de </a:t>
              </a:r>
              <a:r>
                <a:rPr lang="en-GB" sz="1500" dirty="0" err="1"/>
                <a:t>código</a:t>
              </a:r>
              <a:r>
                <a:rPr lang="en-GB" sz="1500" dirty="0"/>
                <a:t> JavaScript.</a:t>
              </a:r>
              <a:r>
                <a:rPr lang="es-AR" altLang="en-GB" sz="1500" dirty="0"/>
                <a:t> </a:t>
              </a:r>
              <a:r>
                <a:rPr lang="en-GB" sz="1500" dirty="0"/>
                <a:t>&gt;</a:t>
              </a:r>
              <a:endParaRPr lang="en-GB" sz="1500" dirty="0"/>
            </a:p>
          </p:txBody>
        </p:sp>
        <p:sp>
          <p:nvSpPr>
            <p:cNvPr id="24" name="Google Shape;481;p3"/>
            <p:cNvSpPr txBox="1"/>
            <p:nvPr/>
          </p:nvSpPr>
          <p:spPr>
            <a:xfrm>
              <a:off x="2778" y="2493"/>
              <a:ext cx="11308" cy="6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 dirty="0"/>
                <a:t>&lt;</a:t>
              </a:r>
              <a:r>
                <a:rPr lang="es-AR" altLang="en-GB" sz="1500" dirty="0"/>
                <a:t> </a:t>
              </a:r>
              <a:r>
                <a:rPr sz="1500" dirty="0" err="1">
                  <a:solidFill>
                    <a:srgbClr val="FF4B4B"/>
                  </a:solidFill>
                </a:rPr>
                <a:t>Peor</a:t>
              </a:r>
              <a:r>
                <a:rPr sz="1500" dirty="0">
                  <a:solidFill>
                    <a:srgbClr val="FF4B4B"/>
                  </a:solidFill>
                </a:rPr>
                <a:t> </a:t>
              </a:r>
              <a:r>
                <a:rPr sz="1500" dirty="0" err="1">
                  <a:solidFill>
                    <a:srgbClr val="FF4B4B"/>
                  </a:solidFill>
                </a:rPr>
                <a:t>tiempo</a:t>
              </a:r>
              <a:r>
                <a:rPr sz="1500" dirty="0">
                  <a:solidFill>
                    <a:srgbClr val="FF4B4B"/>
                  </a:solidFill>
                </a:rPr>
                <a:t> de </a:t>
              </a:r>
              <a:r>
                <a:rPr sz="1500" dirty="0" err="1">
                  <a:solidFill>
                    <a:srgbClr val="FF4B4B"/>
                  </a:solidFill>
                </a:rPr>
                <a:t>carga</a:t>
              </a:r>
              <a:r>
                <a:rPr sz="1500" dirty="0">
                  <a:solidFill>
                    <a:srgbClr val="FF4B4B"/>
                  </a:solidFill>
                </a:rPr>
                <a:t> </a:t>
              </a:r>
              <a:r>
                <a:rPr sz="1500" dirty="0" err="1">
                  <a:solidFill>
                    <a:srgbClr val="FF4B4B"/>
                  </a:solidFill>
                </a:rPr>
                <a:t>inicial</a:t>
              </a:r>
              <a:r>
                <a:rPr sz="1500" dirty="0">
                  <a:solidFill>
                    <a:srgbClr val="FF4B4B"/>
                  </a:solidFill>
                </a:rPr>
                <a:t>:</a:t>
              </a:r>
              <a:r>
                <a:rPr sz="1500" dirty="0"/>
                <a:t> el </a:t>
              </a:r>
              <a:r>
                <a:rPr sz="1500" dirty="0" err="1"/>
                <a:t>navegador</a:t>
              </a:r>
              <a:r>
                <a:rPr sz="1500" dirty="0"/>
                <a:t> </a:t>
              </a:r>
              <a:r>
                <a:rPr sz="1500" dirty="0" err="1"/>
                <a:t>debe</a:t>
              </a:r>
              <a:r>
                <a:rPr sz="1500" dirty="0"/>
                <a:t> </a:t>
              </a:r>
              <a:r>
                <a:rPr sz="1500" dirty="0" err="1"/>
                <a:t>descargar</a:t>
              </a:r>
              <a:r>
                <a:rPr sz="1500" dirty="0"/>
                <a:t> y </a:t>
              </a:r>
              <a:r>
                <a:rPr sz="1500" dirty="0" err="1"/>
                <a:t>ejecutar</a:t>
              </a:r>
              <a:r>
                <a:rPr sz="1500" dirty="0"/>
                <a:t> el </a:t>
              </a:r>
              <a:r>
                <a:rPr sz="1500" dirty="0" err="1"/>
                <a:t>código</a:t>
              </a:r>
              <a:r>
                <a:rPr sz="1500" dirty="0"/>
                <a:t> JavaScript antes de </a:t>
              </a:r>
              <a:r>
                <a:rPr sz="1500" dirty="0" err="1"/>
                <a:t>mostrar</a:t>
              </a:r>
              <a:r>
                <a:rPr sz="1500" dirty="0"/>
                <a:t> la </a:t>
              </a:r>
              <a:r>
                <a:rPr sz="1500" dirty="0" err="1"/>
                <a:t>página</a:t>
              </a:r>
              <a:r>
                <a:rPr sz="1500" dirty="0"/>
                <a:t>, lo </a:t>
              </a:r>
              <a:r>
                <a:rPr sz="1500" dirty="0" err="1"/>
                <a:t>que</a:t>
              </a:r>
              <a:r>
                <a:rPr sz="1500" dirty="0"/>
                <a:t> </a:t>
              </a:r>
              <a:r>
                <a:rPr sz="1500" dirty="0" err="1"/>
                <a:t>puede</a:t>
              </a:r>
              <a:r>
                <a:rPr sz="1500" dirty="0"/>
                <a:t> </a:t>
              </a:r>
              <a:r>
                <a:rPr sz="1500" dirty="0" err="1"/>
                <a:t>resultar</a:t>
              </a:r>
              <a:r>
                <a:rPr sz="1500" dirty="0"/>
                <a:t> en un </a:t>
              </a:r>
              <a:r>
                <a:rPr sz="1500" dirty="0" err="1"/>
                <a:t>tiempo</a:t>
              </a:r>
              <a:r>
                <a:rPr sz="1500" dirty="0"/>
                <a:t> de </a:t>
              </a:r>
              <a:r>
                <a:rPr sz="1500" dirty="0" err="1"/>
                <a:t>carga</a:t>
              </a:r>
              <a:r>
                <a:rPr sz="1500" dirty="0"/>
                <a:t> </a:t>
              </a:r>
              <a:r>
                <a:rPr sz="1500" dirty="0" err="1"/>
                <a:t>inicial</a:t>
              </a:r>
              <a:r>
                <a:rPr sz="1500" dirty="0"/>
                <a:t> </a:t>
              </a:r>
              <a:r>
                <a:rPr sz="1500" dirty="0" err="1"/>
                <a:t>más</a:t>
              </a:r>
              <a:r>
                <a:rPr sz="1500" dirty="0"/>
                <a:t> lento.</a:t>
              </a:r>
              <a:r>
                <a:rPr lang="es-AR" sz="1500" dirty="0"/>
                <a:t> </a:t>
              </a:r>
              <a:r>
                <a:rPr lang="en-GB" sz="1500" dirty="0"/>
                <a:t>&gt;</a:t>
              </a:r>
              <a:endParaRPr lang="en-GB" sz="1500" dirty="0"/>
            </a:p>
          </p:txBody>
        </p:sp>
        <p:sp>
          <p:nvSpPr>
            <p:cNvPr id="27" name="Google Shape;481;p3"/>
            <p:cNvSpPr txBox="1"/>
            <p:nvPr/>
          </p:nvSpPr>
          <p:spPr>
            <a:xfrm>
              <a:off x="2763" y="3213"/>
              <a:ext cx="11308" cy="7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FF4B4B"/>
                  </a:solidFill>
                </a:rPr>
                <a:t>Menor accesibilidad:</a:t>
              </a:r>
              <a:r>
                <a:rPr sz="1500"/>
                <a:t> el contenido de la página puede ser menos accesible para usuarios con discapacidades o dispositivos que no son compatibles con JavaScript.</a:t>
              </a:r>
              <a:r>
                <a:rPr lang="es-AR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  <p:sp>
          <p:nvSpPr>
            <p:cNvPr id="30" name="Google Shape;481;p3"/>
            <p:cNvSpPr txBox="1"/>
            <p:nvPr/>
          </p:nvSpPr>
          <p:spPr>
            <a:xfrm>
              <a:off x="2732" y="4121"/>
              <a:ext cx="11308" cy="6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accent3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1pPr>
              <a:lvl2pPr marL="914400" marR="0" lvl="1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2pPr>
              <a:lvl3pPr marL="1371600" marR="0" lvl="2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3pPr>
              <a:lvl4pPr marL="1828800" marR="0" lvl="3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4pPr>
              <a:lvl5pPr marL="2286000" marR="0" lvl="4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5pPr>
              <a:lvl6pPr marL="2743200" marR="0" lvl="5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6pPr>
              <a:lvl7pPr marL="3200400" marR="0" lvl="6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7pPr>
              <a:lvl8pPr marL="3657600" marR="0" lvl="7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8pPr>
              <a:lvl9pPr marL="4114800" marR="0" lvl="8" indent="-31750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Fira Code" panose="020B0604020202020204"/>
                <a:buNone/>
                <a:defRPr sz="1400" b="0" i="0" u="none" strike="noStrike" cap="none">
                  <a:solidFill>
                    <a:schemeClr val="dk1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defRPr>
              </a:lvl9pPr>
            </a:lstStyle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r>
                <a:rPr lang="en-GB" sz="1500"/>
                <a:t>&lt;</a:t>
              </a:r>
              <a:r>
                <a:rPr lang="es-AR" altLang="en-GB" sz="1500"/>
                <a:t> </a:t>
              </a:r>
              <a:r>
                <a:rPr sz="1500">
                  <a:solidFill>
                    <a:srgbClr val="FF4B4B"/>
                  </a:solidFill>
                </a:rPr>
                <a:t>Mayor exposición a vulnerabilidades de seguridad:</a:t>
              </a:r>
              <a:r>
                <a:rPr sz="1500"/>
                <a:t> el código JavaScript se ejecuta en el navegador del usuario, lo que puede exponer la aplicación a vulnerabilidades de seguridad.</a:t>
              </a:r>
              <a:r>
                <a:rPr lang="es-AR" sz="1500"/>
                <a:t> </a:t>
              </a:r>
              <a:r>
                <a:rPr lang="en-GB" sz="1500"/>
                <a:t>&gt;</a:t>
              </a:r>
              <a:endParaRPr lang="en-GB" sz="1500"/>
            </a:p>
          </p:txBody>
        </p:sp>
      </p:grp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>
                <a:sym typeface="+mn-ea"/>
              </a:rPr>
              <a:t>Introducción a (SSR) y  (CSR)</a:t>
            </a:r>
            <a:endParaRPr lang="es-AR" altLang="en-GB" sz="140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"/>
          <p:cNvSpPr txBox="1">
            <a:spLocks noGrp="1"/>
          </p:cNvSpPr>
          <p:nvPr>
            <p:ph type="title" idx="9"/>
          </p:nvPr>
        </p:nvSpPr>
        <p:spPr>
          <a:xfrm>
            <a:off x="1043305" y="699770"/>
            <a:ext cx="8013700" cy="72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2000"/>
              <a:t> </a:t>
            </a:r>
            <a:r>
              <a:rPr lang="en-GB" sz="2000">
                <a:solidFill>
                  <a:schemeClr val="accent6"/>
                </a:solidFill>
              </a:rPr>
              <a:t>{</a:t>
            </a:r>
            <a:endParaRPr sz="2000">
              <a:solidFill>
                <a:schemeClr val="accent6"/>
              </a:solidFill>
            </a:endParaRPr>
          </a:p>
        </p:txBody>
      </p:sp>
      <p:grpSp>
        <p:nvGrpSpPr>
          <p:cNvPr id="490" name="Google Shape;490;p3"/>
          <p:cNvGrpSpPr/>
          <p:nvPr/>
        </p:nvGrpSpPr>
        <p:grpSpPr>
          <a:xfrm>
            <a:off x="1084825" y="1168950"/>
            <a:ext cx="506100" cy="3336020"/>
            <a:chOff x="1084825" y="1168950"/>
            <a:chExt cx="506100" cy="3336020"/>
          </a:xfrm>
        </p:grpSpPr>
        <p:sp>
          <p:nvSpPr>
            <p:cNvPr id="491" name="Google Shape;491;p3"/>
            <p:cNvSpPr txBox="1"/>
            <p:nvPr/>
          </p:nvSpPr>
          <p:spPr>
            <a:xfrm>
              <a:off x="1084825" y="3954425"/>
              <a:ext cx="506100" cy="550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 panose="020B0604020202020204"/>
                <a:buNone/>
              </a:pPr>
              <a:r>
                <a:rPr lang="en-GB" sz="2400" b="0" i="0" u="none" strike="noStrike" cap="none">
                  <a:solidFill>
                    <a:schemeClr val="accent6"/>
                  </a:solidFill>
                  <a:latin typeface="Fira Code" panose="020B0604020202020204"/>
                  <a:ea typeface="Fira Code" panose="020B0604020202020204"/>
                  <a:cs typeface="Fira Code" panose="020B0604020202020204"/>
                  <a:sym typeface="Fira Code" panose="020B0604020202020204"/>
                </a:rPr>
                <a:t>}</a:t>
              </a:r>
              <a:endParaRPr lang="en-GB" sz="2400" b="0" i="0" u="none" strike="noStrike" cap="none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endParaRPr>
            </a:p>
          </p:txBody>
        </p:sp>
        <p:cxnSp>
          <p:nvCxnSpPr>
            <p:cNvPr id="492" name="Google Shape;492;p3"/>
            <p:cNvCxnSpPr/>
            <p:nvPr/>
          </p:nvCxnSpPr>
          <p:spPr>
            <a:xfrm>
              <a:off x="1337875" y="1168950"/>
              <a:ext cx="0" cy="27645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71" name="Google Shape;471;p2"/>
          <p:cNvSpPr txBox="1"/>
          <p:nvPr/>
        </p:nvSpPr>
        <p:spPr>
          <a:xfrm>
            <a:off x="1907540" y="1896745"/>
            <a:ext cx="6837680" cy="130873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2400" dirty="0" smtClean="0"/>
              <a:t>[Laboratorio Práctico:</a:t>
            </a:r>
            <a:endParaRPr lang="es-AR" altLang="en-GB" sz="2400" dirty="0" smtClean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2400" dirty="0" smtClean="0"/>
              <a:t>De Servidor Express</a:t>
            </a:r>
            <a:r>
              <a:rPr lang="es-AR" altLang="en-GB" sz="2400" dirty="0" smtClean="0"/>
              <a:t>]</a:t>
            </a:r>
            <a:r>
              <a:rPr lang="es-AR" altLang="en-GB" sz="2400" dirty="0" smtClean="0">
                <a:sym typeface="+mn-ea"/>
              </a:rPr>
              <a:t> </a:t>
            </a:r>
            <a:r>
              <a:rPr lang="es-AR" altLang="en-GB" sz="2400" dirty="0" smtClean="0">
                <a:solidFill>
                  <a:schemeClr val="accent2"/>
                </a:solidFill>
              </a:rPr>
              <a:t> </a:t>
            </a:r>
            <a:endParaRPr lang="es-AR" altLang="en-GB" sz="2400" dirty="0">
              <a:solidFill>
                <a:schemeClr val="accent2"/>
              </a:solidFill>
            </a:endParaRPr>
          </a:p>
        </p:txBody>
      </p:sp>
      <p:sp>
        <p:nvSpPr>
          <p:cNvPr id="466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>
              <a:solidFill>
                <a:schemeClr val="accent3"/>
              </a:solidFill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2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"/>
          <p:cNvSpPr txBox="1">
            <a:spLocks noGrp="1"/>
          </p:cNvSpPr>
          <p:nvPr>
            <p:ph type="ctrTitle"/>
          </p:nvPr>
        </p:nvSpPr>
        <p:spPr>
          <a:xfrm>
            <a:off x="1385011" y="421430"/>
            <a:ext cx="7717155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ES" sz="2000" dirty="0" smtClean="0">
                <a:sym typeface="+mn-ea"/>
              </a:rPr>
              <a:t>Componentes e Interacción </a:t>
            </a:r>
            <a:endParaRPr sz="2000" dirty="0">
              <a:solidFill>
                <a:schemeClr val="accent3"/>
              </a:solidFill>
            </a:endParaRPr>
          </a:p>
        </p:txBody>
      </p:sp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466;p1"/>
          <p:cNvSpPr txBox="1"/>
          <p:nvPr/>
        </p:nvSpPr>
        <p:spPr>
          <a:xfrm>
            <a:off x="4572000" y="123910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AR" altLang="en-GB" sz="1400" dirty="0">
                <a:solidFill>
                  <a:schemeClr val="accent3"/>
                </a:solidFill>
              </a:rPr>
              <a:t>UNIDAD 4 - Programación del Lado del Servidor y Persistencia de Datos</a:t>
            </a:r>
            <a:endParaRPr lang="es-AR" altLang="en-GB" sz="1400" dirty="0">
              <a:solidFill>
                <a:schemeClr val="accent3"/>
              </a:solidFill>
            </a:endParaRPr>
          </a:p>
        </p:txBody>
      </p:sp>
      <p:sp>
        <p:nvSpPr>
          <p:cNvPr id="465" name="Google Shape;465;p1"/>
          <p:cNvSpPr txBox="1"/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1800" b="0" i="0" u="none" strike="noStrike" cap="none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AR" altLang="en-GB" sz="1400" dirty="0">
                <a:sym typeface="+mn-ea"/>
              </a:rPr>
              <a:t>Introducción a (SSR) y  (CSR)</a:t>
            </a:r>
            <a:endParaRPr lang="es-AR" altLang="en-GB" sz="1400" dirty="0">
              <a:sym typeface="+mn-ea"/>
            </a:endParaRPr>
          </a:p>
        </p:txBody>
      </p:sp>
      <p:sp>
        <p:nvSpPr>
          <p:cNvPr id="6" name="Google Shape;476;p2"/>
          <p:cNvSpPr txBox="1"/>
          <p:nvPr/>
        </p:nvSpPr>
        <p:spPr>
          <a:xfrm>
            <a:off x="709930" y="4694555"/>
            <a:ext cx="3111500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ira Code" panose="020B0604020202020204"/>
              <a:buNone/>
            </a:pP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Instituto </a:t>
            </a:r>
            <a:r>
              <a:rPr lang="en-GB" sz="1200" b="0" u="none" strike="noStrike" cap="none" dirty="0" err="1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Politécnico</a:t>
            </a:r>
            <a:r>
              <a:rPr lang="en-GB" sz="1200" b="0" u="none" strike="noStrike" cap="none" dirty="0">
                <a:solidFill>
                  <a:schemeClr val="accent3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 Formosa</a:t>
            </a:r>
            <a:endParaRPr lang="en-GB" sz="1200" b="0" u="none" strike="noStrike" cap="none" dirty="0">
              <a:solidFill>
                <a:schemeClr val="accent3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105" y="869576"/>
            <a:ext cx="3710268" cy="371026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"/>
          <p:cNvSpPr/>
          <p:nvPr/>
        </p:nvSpPr>
        <p:spPr>
          <a:xfrm>
            <a:off x="1280125" y="2218446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2" name="Google Shape;652;p8"/>
          <p:cNvSpPr/>
          <p:nvPr/>
        </p:nvSpPr>
        <p:spPr>
          <a:xfrm>
            <a:off x="1280125" y="2941004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4" name="Google Shape;654;p8"/>
          <p:cNvSpPr/>
          <p:nvPr/>
        </p:nvSpPr>
        <p:spPr>
          <a:xfrm>
            <a:off x="1280125" y="3663563"/>
            <a:ext cx="115500" cy="115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Google Shape;937;p25"/>
          <p:cNvSpPr txBox="1"/>
          <p:nvPr/>
        </p:nvSpPr>
        <p:spPr>
          <a:xfrm>
            <a:off x="8116570" y="4694555"/>
            <a:ext cx="923925" cy="3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ira Code" panose="020B0604020202020204"/>
              <a:buNone/>
            </a:pPr>
            <a:r>
              <a:rPr lang="es-ES" altLang="en-GB" sz="1400" b="1" i="0" u="none" strike="noStrike" cap="none" dirty="0" err="1">
                <a:solidFill>
                  <a:schemeClr val="accent6"/>
                </a:solidFill>
                <a:latin typeface="Fira Code" panose="020B0604020202020204"/>
                <a:ea typeface="Fira Code" panose="020B0604020202020204"/>
                <a:cs typeface="Fira Code" panose="020B0604020202020204"/>
                <a:sym typeface="Fira Code" panose="020B0604020202020204"/>
              </a:rPr>
              <a:t>TLP1</a:t>
            </a:r>
            <a:endParaRPr lang="es-ES" altLang="en-GB" sz="1400" b="1" i="0" u="none" strike="noStrike" cap="none" dirty="0">
              <a:solidFill>
                <a:schemeClr val="accent6"/>
              </a:solidFill>
              <a:latin typeface="Fira Code" panose="020B0604020202020204"/>
              <a:ea typeface="Fira Code" panose="020B0604020202020204"/>
              <a:cs typeface="Fira Code" panose="020B0604020202020204"/>
              <a:sym typeface="Fira Code" panose="020B060402020202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211" y="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9882</Words>
  <Application>WPS Presentation</Application>
  <PresentationFormat>Presentación en pantalla (16:9)</PresentationFormat>
  <Paragraphs>309</Paragraphs>
  <Slides>22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SimSun</vt:lpstr>
      <vt:lpstr>Wingdings</vt:lpstr>
      <vt:lpstr>Arial</vt:lpstr>
      <vt:lpstr>Fira Code</vt:lpstr>
      <vt:lpstr>Segoe Print</vt:lpstr>
      <vt:lpstr>Montserrat</vt:lpstr>
      <vt:lpstr>Microsoft YaHei</vt:lpstr>
      <vt:lpstr>Arial Unicode MS</vt:lpstr>
      <vt:lpstr>Fira Code</vt:lpstr>
      <vt:lpstr>Programming Language Workshop for Beginners by Slidesgo</vt:lpstr>
      <vt:lpstr>‘Unidad 4:’  { Programación del Lado del Servidor y Persistencia de Datos</vt:lpstr>
      <vt:lpstr>CONTENIDOS DE LA CLASE {</vt:lpstr>
      <vt:lpstr>OBJETIVOS {</vt:lpstr>
      <vt:lpstr>¿Qué es Server-Side Rendering (SSR)?{</vt:lpstr>
      <vt:lpstr>PowerPoint 演示文稿</vt:lpstr>
      <vt:lpstr>¿En que contexto nace Server-Side Rendering (SSR)?{</vt:lpstr>
      <vt:lpstr>PowerPoint 演示文稿</vt:lpstr>
      <vt:lpstr>¿Qué es Client-Side Rendering (CSR)?{</vt:lpstr>
      <vt:lpstr>PowerPoint 演示文稿</vt:lpstr>
      <vt:lpstr>¿En que contexto nace Client-Side Rendering (SSR)?{</vt:lpstr>
      <vt:lpstr>PowerPoint 演示文稿</vt:lpstr>
      <vt:lpstr>PowerPoint 演示文稿</vt:lpstr>
      <vt:lpstr>PowerPoint 演示文稿</vt:lpstr>
      <vt:lpstr>¿Cuándo elegir SSR?  {</vt:lpstr>
      <vt:lpstr>¿Cuándo elegir CSR? </vt:lpstr>
      <vt:lpstr>Ventajas de utilizar SSR  {</vt:lpstr>
      <vt:lpstr>Desventajas de utilizar SSR  {</vt:lpstr>
      <vt:lpstr>Ventajas de utilizar CSR {</vt:lpstr>
      <vt:lpstr>Desventajas de utilizar CSR {</vt:lpstr>
      <vt:lpstr> {</vt:lpstr>
      <vt:lpstr>Componentes e Interacción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 de un documento ‘HTML’ {</dc:title>
  <dc:creator/>
  <cp:lastModifiedBy>Agustin</cp:lastModifiedBy>
  <cp:revision>45</cp:revision>
  <dcterms:created xsi:type="dcterms:W3CDTF">2023-03-30T02:23:00Z</dcterms:created>
  <dcterms:modified xsi:type="dcterms:W3CDTF">2025-06-12T17:35:01Z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D6BC41B201EB41A5BBCC4D2BFD1E1BF2</vt:lpwstr>
  </property>
  <property fmtid="{D5CDD505-2E9C-101B-9397-08002B2CF9AE}" pid="3" name="KSOProductBuildVer">
    <vt:lpwstr>3082-12.2.0.21183</vt:lpwstr>
  </property>
</Properties>
</file>