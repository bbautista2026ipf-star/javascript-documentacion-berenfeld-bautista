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2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982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 clase explicando que el objetivo no es memorizar sintaxis, sino entender cómo JavaScript maneja tareas que no responden de inmediato. Conectar el tema con situaciones reales: consultar APIs, leer archivos o esperar una respuesta del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los objetivos sin extenderse demasiado. La clave es que vean el hilo conductor: problema de esperar resultados, solución con callbacks, mejora con promesas.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diapositiva para orientar la clase. Anticipar que callback y promesa no son temas separados, sino dos formas de resolver el mismo tipo de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Plantear ejemplos cotidianos: una app que trae usuarios, un login, una descarga. No usar todavía la palabra promesa como definición formal; primero construir la necesidad.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JavaScript no “hace magia”; delega ciertas tareas y sigue con el resto del código. La idea es no bloquear la interfaz mientras algo tarda.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asumir que todos dominan este punto. Reforzar que una función puede guardarse, pasarse y ejecutarse después. Esto prepara el terreno para callback.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definición y luego llevarla al ejemplo. Señalar explícitamente dónde está el callback: la función anónima que se pasa como segundo argumento.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Remarcar que el callback permite separar responsabilidades: una función produce el dato y otra decide qué hacer con el dato.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una pregunta antes de revelar la salida: ¿qué creen que aparece primero? Es una excelente forma de detectar si entienden el flujo asincrónico.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obtenerDatos representa algo como consultar un servidor. El callback es la acción pendiente: “cuando tengas el usuario, imprimilo”.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demonizar los callbacks: siguen siendo útiles. El punto es que para muchas operaciones encadenadas pueden volverse incómodos.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promesa con analogía simple: “te prometo que cuando tenga el resultado, te aviso si salió bien o falló”. No entrar todavía en event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Promise recibe una función. Esa función recibe resolve y reject. No son palabras mágicas: son funciones para finalizar la promesa.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Marcar la diferencia con callback: en promesas no paso una función a obtenerDatos necesariamente; recibo una promesa y la consumo.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ejemplo principal de promesas. Compararlo mentalmente con el callback anterior. Señalar que obtenerUsuario no recibe callback: devuelve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directamente con callback hell. Mostrar que ahora el flujo baja verticalmente y no se mete hacia la derecha.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los errores también forman parte del diseño. Una promesa no solo sirve cuando todo sale bien; también permite manejar fallos de forma ordenada.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la tabla como cierre conceptual. Evitar decir que los callbacks están obsoletos: existen en APIs y librerías, y entenderlos sigue siendo necesario.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Darles unos minutos para resolver. Puede hacerse en pares. Circular y observar si colocan correctamente setTimeout y resolve dentro de la promesa.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actividad permite comprobar que entienden reject y catch. Pedirles que prueben con un nombre válido y con una cadena vacía.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conectando con async/await como próximo tema. Reforzar que async/await no reemplaza conceptualmente a las promesas: es una sintaxis más cómoda construida sobre ellas.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1232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A7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TLP I · JavaScript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65105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A7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Tec. en Desarrollo de Software Multiplataforma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5156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Callbacks y Promesas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JavaScript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4206240" cy="0"/>
          </a:xfrm>
          <a:prstGeom prst="line">
            <a:avLst/>
          </a:prstGeom>
          <a:noFill/>
          <a:ln w="38100">
            <a:solidFill>
              <a:srgbClr val="31D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7432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8E6FF"/>
                </a:solidFill>
              </a:rPr>
              <a:t>TLP I · Taller de Lenguajes de Programación 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31089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1D5"/>
                </a:solidFill>
              </a:rPr>
              <a:t>Tec. en Desarrollo de Software Multiplataforma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3794760"/>
            <a:ext cx="6355080" cy="960120"/>
          </a:xfrm>
          <a:prstGeom prst="roundRect">
            <a:avLst>
              <a:gd name="adj" fmla="val 11429"/>
            </a:avLst>
          </a:prstGeom>
          <a:solidFill>
            <a:srgbClr val="0D2538"/>
          </a:solidFill>
          <a:ln w="12700">
            <a:solidFill>
              <a:srgbClr val="1F5D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9684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8E6FF"/>
                </a:solidFill>
              </a:rPr>
              <a:t>Docentes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4261104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F4FF"/>
                </a:solidFill>
              </a:rPr>
              <a:t>Agustin M. Centurión · Marcos Franco · Alejandro Daniel Sanabria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18120" y="13258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2712" y="1490472"/>
            <a:ext cx="319125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setTimeout(() =&gt;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console.log("Ahora sí: ya terminó");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2000);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6640" y="297180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71232" y="3136392"/>
            <a:ext cx="364845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fetch("/api/usuarios")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.then(res =&gt; res.json())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.then(data =&gt; console.log(data));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aprendizaje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Qué deberían poder explicar y aplicar al finalizar la clase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0972800" cy="4389120"/>
          </a:xfrm>
          <a:prstGeom prst="roundRect">
            <a:avLst>
              <a:gd name="adj" fmla="val 2500"/>
            </a:avLst>
          </a:prstGeom>
          <a:solidFill>
            <a:srgbClr val="0B1B2B"/>
          </a:solidFill>
          <a:ln w="12700">
            <a:solidFill>
              <a:srgbClr val="1F4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83080"/>
            <a:ext cx="102412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20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Comprender qué significa que una tarea sea asincrónica.</a:t>
            </a:r>
            <a:endParaRPr lang="en-US" sz="2000" dirty="0"/>
          </a:p>
          <a:p>
            <a:r>
              <a:rPr lang="en-US" sz="20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qué es un callback y cuándo se ejecuta.</a:t>
            </a:r>
            <a:endParaRPr lang="en-US" sz="2000" dirty="0"/>
          </a:p>
          <a:p>
            <a:r>
              <a:rPr lang="en-US" sz="20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el problema del callback hell.</a:t>
            </a:r>
            <a:endParaRPr lang="en-US" sz="2000" dirty="0"/>
          </a:p>
          <a:p>
            <a:r>
              <a:rPr lang="en-US" sz="20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y consumir promesas usando resolve, reject, then y catch.</a:t>
            </a:r>
            <a:endParaRPr lang="en-US" sz="2000" dirty="0"/>
          </a:p>
          <a:p>
            <a:r>
              <a:rPr lang="en-US" sz="20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callbacks y promesas en ejemplos simples.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43000" y="5166360"/>
            <a:ext cx="9966960" cy="548640"/>
          </a:xfrm>
          <a:prstGeom prst="roundRect">
            <a:avLst>
              <a:gd name="adj" fmla="val 20000"/>
            </a:avLst>
          </a:prstGeom>
          <a:solidFill>
            <a:srgbClr val="5DE4A7">
              <a:alpha val="88000"/>
            </a:srgbClr>
          </a:solidFill>
          <a:ln w="15240">
            <a:solidFill>
              <a:srgbClr val="5DE4A7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5285232"/>
            <a:ext cx="9637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</a:rPr>
              <a:t>Idea clave: no todo resultado está disponible inmediatamente.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Una progresión desde lo conocido hacia lo asincrónico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0D2538"/>
          </a:solidFill>
          <a:ln w="12700">
            <a:solidFill>
              <a:srgbClr val="1F5D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0"/>
            <a:ext cx="512064" cy="51206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2938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18488" y="1892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AF4FF"/>
                </a:solidFill>
              </a:rPr>
              <a:t>Funciones como valores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0D2538"/>
          </a:solidFill>
          <a:ln w="12700">
            <a:solidFill>
              <a:srgbClr val="1F5D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828800"/>
            <a:ext cx="512064" cy="51206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92938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40680" y="1892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AF4FF"/>
                </a:solidFill>
              </a:rPr>
              <a:t>Callbacks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94192" y="150876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0D2538"/>
          </a:solidFill>
          <a:ln w="12700">
            <a:solidFill>
              <a:srgbClr val="1F5D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22792" y="1828800"/>
            <a:ext cx="512064" cy="51206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22792" y="192938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62872" y="1892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AF4FF"/>
                </a:solidFill>
              </a:rPr>
              <a:t>Asincronía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38328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102D44"/>
          </a:solidFill>
          <a:ln w="12700">
            <a:solidFill>
              <a:srgbClr val="1F5D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408" y="3703320"/>
            <a:ext cx="512064" cy="51206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380390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18488" y="37673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AF4FF"/>
                </a:solidFill>
              </a:rPr>
              <a:t>Callback hell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0" y="338328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102D44"/>
          </a:solidFill>
          <a:ln w="12700">
            <a:solidFill>
              <a:srgbClr val="31D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3703320"/>
            <a:ext cx="512064" cy="512064"/>
          </a:xfrm>
          <a:prstGeom prst="ellipse">
            <a:avLst/>
          </a:prstGeom>
          <a:solidFill>
            <a:srgbClr val="31D6FF"/>
          </a:solidFill>
          <a:ln w="12700">
            <a:solidFill>
              <a:srgbClr val="31D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80390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37673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AF4FF"/>
                </a:solidFill>
              </a:rPr>
              <a:t>Promesas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94192" y="338328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102D44"/>
          </a:solidFill>
          <a:ln w="12700">
            <a:solidFill>
              <a:srgbClr val="1F5D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22792" y="3703320"/>
            <a:ext cx="512064" cy="51206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22792" y="380390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62872" y="37673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AF4FF"/>
                </a:solidFill>
              </a:rPr>
              <a:t>Práctica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828800" y="5440680"/>
            <a:ext cx="8458200" cy="502920"/>
          </a:xfrm>
          <a:prstGeom prst="roundRect">
            <a:avLst>
              <a:gd name="adj" fmla="val 21818"/>
            </a:avLst>
          </a:prstGeom>
          <a:solidFill>
            <a:srgbClr val="FFD166">
              <a:alpha val="88000"/>
            </a:srgbClr>
          </a:solidFill>
          <a:ln w="1524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93392" y="5559552"/>
            <a:ext cx="8129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B1220"/>
                </a:solidFill>
              </a:rPr>
              <a:t>Repasamos</a:t>
            </a:r>
            <a:r>
              <a:rPr lang="en-US" sz="1500" b="1" dirty="0">
                <a:solidFill>
                  <a:srgbClr val="0B1220"/>
                </a:solidFill>
              </a:rPr>
              <a:t> con </a:t>
            </a:r>
            <a:r>
              <a:rPr lang="en-US" sz="1500" b="1">
                <a:solidFill>
                  <a:srgbClr val="0B1220"/>
                </a:solidFill>
              </a:rPr>
              <a:t>algunos </a:t>
            </a:r>
            <a:r>
              <a:rPr lang="en-US" sz="1500" b="1" dirty="0" err="1">
                <a:solidFill>
                  <a:srgbClr val="0B1220"/>
                </a:solidFill>
              </a:rPr>
              <a:t>ejemplos</a:t>
            </a:r>
            <a:r>
              <a:rPr lang="en-US" sz="1500" b="1" dirty="0">
                <a:solidFill>
                  <a:srgbClr val="0B1220"/>
                </a:solidFill>
              </a:rPr>
              <a:t> </a:t>
            </a:r>
            <a:r>
              <a:rPr lang="en-US" sz="1500" b="1" dirty="0" err="1">
                <a:solidFill>
                  <a:srgbClr val="0B1220"/>
                </a:solidFill>
              </a:rPr>
              <a:t>cortos</a:t>
            </a:r>
            <a:r>
              <a:rPr lang="en-US" sz="1500" b="1" dirty="0">
                <a:solidFill>
                  <a:srgbClr val="0B1220"/>
                </a:solidFill>
              </a:rPr>
              <a:t>.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problema: no todo ocurre “ahora”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En la web, muchas tareas dependen de una espera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57800" cy="4297680"/>
          </a:xfrm>
          <a:prstGeom prst="roundRect">
            <a:avLst>
              <a:gd name="adj" fmla="val 2553"/>
            </a:avLst>
          </a:prstGeom>
          <a:solidFill>
            <a:srgbClr val="0B1B2B"/>
          </a:solidFill>
          <a:ln w="12700">
            <a:solidFill>
              <a:srgbClr val="1F4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91640"/>
            <a:ext cx="470916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9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una API.</a:t>
            </a:r>
            <a:endParaRPr lang="en-US" sz="1900" dirty="0"/>
          </a:p>
          <a:p>
            <a:r>
              <a:rPr lang="en-US" sz="19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o subir un archivo.</a:t>
            </a:r>
            <a:endParaRPr lang="en-US" sz="1900" dirty="0"/>
          </a:p>
          <a:p>
            <a:r>
              <a:rPr lang="en-US" sz="19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Esperar una respuesta del servidor.</a:t>
            </a:r>
            <a:endParaRPr lang="en-US" sz="1900" dirty="0"/>
          </a:p>
          <a:p>
            <a:r>
              <a:rPr lang="en-US" sz="19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 un temporizador.</a:t>
            </a:r>
            <a:endParaRPr lang="en-US" sz="1900" dirty="0"/>
          </a:p>
          <a:p>
            <a:r>
              <a:rPr lang="en-US" sz="19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una base de datos.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0" y="1508760"/>
            <a:ext cx="4663440" cy="1828800"/>
          </a:xfrm>
          <a:prstGeom prst="roundRect">
            <a:avLst>
              <a:gd name="adj" fmla="val 6000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673352"/>
            <a:ext cx="43342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console.log("Inicio");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Tarea que tarda...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console.log("Fin");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3886200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31D6FF">
              <a:alpha val="88000"/>
            </a:srgbClr>
          </a:solidFill>
          <a:ln w="15240">
            <a:solidFill>
              <a:srgbClr val="31D6FF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4005072"/>
            <a:ext cx="4242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</a:rPr>
              <a:t>Necesitamos una forma de decir: “cuando termine, hacé esto”.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Sincrónico vs. asincrónico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Dos formas de pensar el flujo de ejecución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0D2538"/>
          </a:solidFill>
          <a:ln w="12700">
            <a:solidFill>
              <a:srgbClr val="1F4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8E6FF"/>
                </a:solidFill>
              </a:rPr>
              <a:t>Código sincrónico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46177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instrucción espera a la anterior.</a:t>
            </a:r>
            <a:endParaRPr lang="en-US" sz="1700" dirty="0"/>
          </a:p>
          <a:p>
            <a:r>
              <a:rPr lang="en-US" sz="17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flujo es más fácil de seguir.</a:t>
            </a:r>
            <a:endParaRPr lang="en-US" sz="1700" dirty="0"/>
          </a:p>
          <a:p>
            <a:r>
              <a:rPr lang="en-US" sz="17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bloquear si una tarea tarda mucho.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0D2538"/>
          </a:solidFill>
          <a:ln w="12700">
            <a:solidFill>
              <a:srgbClr val="1F4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7373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DE4A7"/>
                </a:solidFill>
              </a:rPr>
              <a:t>Código asincrónico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29400" y="2240280"/>
            <a:ext cx="46177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continúa ejecutando otras instrucciones.</a:t>
            </a:r>
            <a:endParaRPr lang="en-US" sz="1700" dirty="0"/>
          </a:p>
          <a:p>
            <a:r>
              <a:rPr lang="en-US" sz="17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tarea pendiente avisa cuando termina.</a:t>
            </a:r>
            <a:endParaRPr lang="en-US" sz="1700" dirty="0"/>
          </a:p>
          <a:p>
            <a:r>
              <a:rPr lang="en-US" sz="17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maneja con callbacks, promesas o async/await.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Primero: funciones como valores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En JavaScript una función también puede pasarse como dato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5166360" cy="1920240"/>
          </a:xfrm>
          <a:prstGeom prst="roundRect">
            <a:avLst>
              <a:gd name="adj" fmla="val 5714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490472"/>
            <a:ext cx="48371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saludar(nombre)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console.log("Hola " + nombre);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saludar("Ana");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5074920" cy="2834640"/>
          </a:xfrm>
          <a:prstGeom prst="roundRect">
            <a:avLst>
              <a:gd name="adj" fmla="val 3871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490472"/>
            <a:ext cx="4745736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ejecutarFuncion(funcion)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funcion();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ejecutarFuncion(function()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console.log("Me ejecutaron desde otra función");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2103120" y="4983480"/>
            <a:ext cx="7863840" cy="594360"/>
          </a:xfrm>
          <a:prstGeom prst="roundRect">
            <a:avLst>
              <a:gd name="adj" fmla="val 18462"/>
            </a:avLst>
          </a:prstGeom>
          <a:solidFill>
            <a:srgbClr val="A78BFA">
              <a:alpha val="88000"/>
            </a:srgbClr>
          </a:solidFill>
          <a:ln w="1524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5102352"/>
            <a:ext cx="75346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</a:rPr>
              <a:t>Esta idea es la base para entender callbacks.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un callback?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Una función entregada a otra función para ser ejecutada luego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10652760" cy="1234440"/>
          </a:xfrm>
          <a:prstGeom prst="roundRect">
            <a:avLst>
              <a:gd name="adj" fmla="val 8889"/>
            </a:avLst>
          </a:prstGeom>
          <a:solidFill>
            <a:srgbClr val="0D2538"/>
          </a:solidFill>
          <a:ln w="12700">
            <a:solidFill>
              <a:srgbClr val="31D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830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F4FF"/>
                </a:solidFill>
              </a:rPr>
              <a:t>Un callback es una función que se pasa como argumento a otra función, para que sea ejecutada cuando corresponda.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34440" y="3063240"/>
            <a:ext cx="9692640" cy="2240280"/>
          </a:xfrm>
          <a:prstGeom prst="roundRect">
            <a:avLst>
              <a:gd name="adj" fmla="val 4898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9032" y="3227832"/>
            <a:ext cx="936345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procesarUsuario(nombre, callback)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console.log("Procesando: " + nombre);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callback();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procesarUsuario("Lucía", function()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console.log("Usuario procesado");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Callback con datos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El callback también puede recibir información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5806440" cy="2834640"/>
          </a:xfrm>
          <a:prstGeom prst="roundRect">
            <a:avLst>
              <a:gd name="adj" fmla="val 3871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81912"/>
            <a:ext cx="5477256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sumar(a, b, callback) {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resultado = a + b;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callback(resultado);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sumar(5, 3, function(resultado) {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console.log("Resultado:", resultado);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086600" y="1417320"/>
            <a:ext cx="4297680" cy="2834640"/>
          </a:xfrm>
          <a:prstGeom prst="roundRect">
            <a:avLst>
              <a:gd name="adj" fmla="val 3871"/>
            </a:avLst>
          </a:prstGeom>
          <a:solidFill>
            <a:srgbClr val="0D2538"/>
          </a:solidFill>
          <a:ln w="12700">
            <a:solidFill>
              <a:srgbClr val="1F4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737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8E6FF"/>
                </a:solidFill>
              </a:rPr>
              <a:t>Lectura del flujo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60920" y="2194560"/>
            <a:ext cx="37490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sumar calcula el resultado.</a:t>
            </a:r>
            <a:endParaRPr lang="en-US" sz="1550" dirty="0"/>
          </a:p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decide qué hacer con él.</a:t>
            </a:r>
            <a:endParaRPr lang="en-US" sz="1550" dirty="0"/>
          </a:p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lo entrega al callback.</a:t>
            </a:r>
            <a:endParaRPr lang="en-US" sz="1550" dirty="0"/>
          </a:p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callback usa ese valor.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920240" y="5074920"/>
            <a:ext cx="8458200" cy="530352"/>
          </a:xfrm>
          <a:prstGeom prst="roundRect">
            <a:avLst>
              <a:gd name="adj" fmla="val 20690"/>
            </a:avLst>
          </a:prstGeom>
          <a:solidFill>
            <a:srgbClr val="5DE4A7">
              <a:alpha val="88000"/>
            </a:srgbClr>
          </a:solidFill>
          <a:ln w="15240">
            <a:solidFill>
              <a:srgbClr val="5DE4A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5193792"/>
            <a:ext cx="8129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</a:rPr>
              <a:t>Separar cálculo y acción posterior.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Callbacks y asincronía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setTimeout nos permite simular una tarea que tarda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490472"/>
            <a:ext cx="515721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console.log("Inicio");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setTimeout(function() {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console.log("Después de 2 segundos");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2000);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console.log("Fin");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417320"/>
            <a:ext cx="4434840" cy="2743200"/>
          </a:xfrm>
          <a:prstGeom prst="roundRect">
            <a:avLst>
              <a:gd name="adj" fmla="val 4000"/>
            </a:avLst>
          </a:prstGeom>
          <a:solidFill>
            <a:srgbClr val="0D2538"/>
          </a:solidFill>
          <a:ln w="12700">
            <a:solidFill>
              <a:srgbClr val="1F4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D166"/>
                </a:solidFill>
              </a:rPr>
              <a:t>Salida esperada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0" y="2286000"/>
            <a:ext cx="3703320" cy="1097280"/>
          </a:xfrm>
          <a:prstGeom prst="roundRect">
            <a:avLst>
              <a:gd name="adj" fmla="val 10000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5472" y="2450592"/>
            <a:ext cx="33741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Después de 2 segundos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828800" y="4892040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31D6FF">
              <a:alpha val="88000"/>
            </a:srgbClr>
          </a:solidFill>
          <a:ln w="15240">
            <a:solidFill>
              <a:srgbClr val="31D6FF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5010912"/>
            <a:ext cx="8174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</a:rPr>
              <a:t>JavaScript no se queda esperando el temporizador.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Simulando datos recibidos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Un callback puede ejecutarse cuando la información ya está lista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10652760" cy="3931920"/>
          </a:xfrm>
          <a:prstGeom prst="roundRect">
            <a:avLst>
              <a:gd name="adj" fmla="val 2791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399032"/>
            <a:ext cx="1032357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obtenerDatos(callback) {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console.log("Buscando datos...");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setTimeout(function() {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usuario = { id: 1, nombre: "Carlos" };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callback(usuario);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2000);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obtenerDatos(function(usuario) {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console.log("Usuario recibido:", usuario);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1508760" y="5440680"/>
            <a:ext cx="9144000" cy="502920"/>
          </a:xfrm>
          <a:prstGeom prst="roundRect">
            <a:avLst>
              <a:gd name="adj" fmla="val 21818"/>
            </a:avLst>
          </a:prstGeom>
          <a:solidFill>
            <a:srgbClr val="5DE4A7">
              <a:alpha val="88000"/>
            </a:srgbClr>
          </a:solidFill>
          <a:ln w="15240">
            <a:solidFill>
              <a:srgbClr val="5DE4A7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73352" y="5559552"/>
            <a:ext cx="8814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</a:rPr>
              <a:t>El dato no existe al inicio; aparece cuando la tarea termina.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Problema: callback hell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Cuando una tarea depende de otra, el código empieza a anidarse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5715000" cy="2423160"/>
          </a:xfrm>
          <a:prstGeom prst="roundRect">
            <a:avLst>
              <a:gd name="adj" fmla="val 4528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81912"/>
            <a:ext cx="53858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obtenerUsuario(function(usuario)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obtenerCursos(usuario.id, function(cursos)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obtenerNotas(cursos[0], function(notas)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console.log(notas);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95160" y="1417320"/>
            <a:ext cx="4206240" cy="2423160"/>
          </a:xfrm>
          <a:prstGeom prst="roundRect">
            <a:avLst>
              <a:gd name="adj" fmla="val 4528"/>
            </a:avLst>
          </a:prstGeom>
          <a:solidFill>
            <a:srgbClr val="0D253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</a:rPr>
              <a:t>¿Qué problemas aparecen?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0" y="2194560"/>
            <a:ext cx="35661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7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 anidamiento.</a:t>
            </a:r>
            <a:endParaRPr lang="en-US" sz="1470" dirty="0"/>
          </a:p>
          <a:p>
            <a:r>
              <a:rPr lang="en-US" sz="147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 para leer.</a:t>
            </a:r>
            <a:endParaRPr lang="en-US" sz="1470" dirty="0"/>
          </a:p>
          <a:p>
            <a:r>
              <a:rPr lang="en-US" sz="147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repartidos.</a:t>
            </a:r>
            <a:endParaRPr lang="en-US" sz="1470" dirty="0"/>
          </a:p>
          <a:p>
            <a:r>
              <a:rPr lang="en-US" sz="147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menos mantenible.</a:t>
            </a:r>
            <a:endParaRPr lang="en-US" sz="1470" dirty="0"/>
          </a:p>
        </p:txBody>
      </p:sp>
      <p:sp>
        <p:nvSpPr>
          <p:cNvPr id="11" name="Shape 9"/>
          <p:cNvSpPr/>
          <p:nvPr/>
        </p:nvSpPr>
        <p:spPr>
          <a:xfrm>
            <a:off x="1920240" y="4892040"/>
            <a:ext cx="8458200" cy="594360"/>
          </a:xfrm>
          <a:prstGeom prst="roundRect">
            <a:avLst>
              <a:gd name="adj" fmla="val 18462"/>
            </a:avLst>
          </a:prstGeom>
          <a:solidFill>
            <a:srgbClr val="A78BFA">
              <a:alpha val="88000"/>
            </a:srgbClr>
          </a:solidFill>
          <a:ln w="1524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5010912"/>
            <a:ext cx="8129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</a:rPr>
              <a:t>Las promesas ayudan a ordenar este flujo.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Promesas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Un objeto que representa un resultado futuro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52760" cy="1143000"/>
          </a:xfrm>
          <a:prstGeom prst="roundRect">
            <a:avLst>
              <a:gd name="adj" fmla="val 9600"/>
            </a:avLst>
          </a:prstGeom>
          <a:solidFill>
            <a:srgbClr val="0D2538"/>
          </a:solidFill>
          <a:ln w="12700">
            <a:solidFill>
              <a:srgbClr val="31D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9105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AF4FF"/>
                </a:solidFill>
              </a:rPr>
              <a:t>Una promesa representa una operación que puede terminar ahora o más adelante, de forma exitosa o con error.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51560" y="2880360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102D44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31638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</a:rPr>
              <a:t>pending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3547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A9C1D5"/>
                </a:solidFill>
              </a:rPr>
              <a:t>Todavía no terminó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2880360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102D44"/>
          </a:solidFill>
          <a:ln w="12700">
            <a:solidFill>
              <a:srgbClr val="5DE4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1638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DE4A7"/>
                </a:solidFill>
              </a:rPr>
              <a:t>fulfilled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3547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A9C1D5"/>
                </a:solidFill>
              </a:rPr>
              <a:t>Terminó correctamente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58200" y="2880360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102D44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31638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</a:rPr>
              <a:t>rejected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41080" y="3547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A9C1D5"/>
                </a:solidFill>
              </a:rPr>
              <a:t>Terminó con error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 una promesa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resolve para éxito, reject para error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6400800" cy="3383280"/>
          </a:xfrm>
          <a:prstGeom prst="roundRect">
            <a:avLst>
              <a:gd name="adj" fmla="val 3243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490472"/>
            <a:ext cx="607161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promesa = new Promise(function(resolve, reject)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exito = true;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(exito)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resolve("La operación salió bien");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reject("La operación falló");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35240" y="1508760"/>
            <a:ext cx="3520440" cy="960120"/>
          </a:xfrm>
          <a:prstGeom prst="roundRect">
            <a:avLst>
              <a:gd name="adj" fmla="val 11429"/>
            </a:avLst>
          </a:prstGeom>
          <a:solidFill>
            <a:srgbClr val="0D2538"/>
          </a:solidFill>
          <a:ln w="12700">
            <a:solidFill>
              <a:srgbClr val="5DE4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783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DE4A7"/>
                </a:solidFill>
              </a:rPr>
              <a:t>resolve()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55280" y="21214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1D5"/>
                </a:solidFill>
              </a:rPr>
              <a:t>cuando salió bien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35240" y="2880360"/>
            <a:ext cx="3520440" cy="960120"/>
          </a:xfrm>
          <a:prstGeom prst="roundRect">
            <a:avLst>
              <a:gd name="adj" fmla="val 11429"/>
            </a:avLst>
          </a:prstGeom>
          <a:solidFill>
            <a:srgbClr val="0D253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3154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</a:rPr>
              <a:t>reject()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55280" y="34930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1D5"/>
                </a:solidFill>
              </a:rPr>
              <a:t>cuando hubo un error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Consumir una promesa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then para éxito, catch para error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6172200" cy="2514600"/>
          </a:xfrm>
          <a:prstGeom prst="roundRect">
            <a:avLst>
              <a:gd name="adj" fmla="val 4364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81912"/>
            <a:ext cx="5843016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promesa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.then(function(resultado)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console.log("Resultado:", resultado);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.catch(function(error)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console.log("Error:", error);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52360" y="1417320"/>
            <a:ext cx="3657600" cy="2514600"/>
          </a:xfrm>
          <a:prstGeom prst="roundRect">
            <a:avLst>
              <a:gd name="adj" fmla="val 4364"/>
            </a:avLst>
          </a:prstGeom>
          <a:solidFill>
            <a:srgbClr val="0D2538"/>
          </a:solidFill>
          <a:ln w="12700">
            <a:solidFill>
              <a:srgbClr val="1F4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1783080"/>
            <a:ext cx="3154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.then() se ejecuta si hubo resolve.</a:t>
            </a:r>
            <a:endParaRPr lang="en-US" sz="1550" dirty="0"/>
          </a:p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.catch() se ejecuta si hubo reject.</a:t>
            </a:r>
            <a:endParaRPr lang="en-US" sz="1550" dirty="0"/>
          </a:p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promesa permite separar éxito y error.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554480" y="4983480"/>
            <a:ext cx="9144000" cy="548640"/>
          </a:xfrm>
          <a:prstGeom prst="roundRect">
            <a:avLst>
              <a:gd name="adj" fmla="val 20000"/>
            </a:avLst>
          </a:prstGeom>
          <a:solidFill>
            <a:srgbClr val="31D6FF">
              <a:alpha val="88000"/>
            </a:srgbClr>
          </a:solidFill>
          <a:ln w="15240">
            <a:solidFill>
              <a:srgbClr val="31D6FF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19072" y="5102352"/>
            <a:ext cx="8814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</a:rPr>
              <a:t>La función devuelve una promesa; desde afuera decidimos qué hacer.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asincrónico con promesas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La función devuelve un resultado futuro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115568"/>
            <a:ext cx="10789920" cy="4800600"/>
          </a:xfrm>
          <a:prstGeom prst="roundRect">
            <a:avLst>
              <a:gd name="adj" fmla="val 2286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80160"/>
            <a:ext cx="10460736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obtenerUsuario()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Promise(function(resolve, reject)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setTimeout(function()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usuario = { id: 1, nombre: "Ana" };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resolve(usuario);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 2000);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obtenerUsuario()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.then(function(usuario)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console.log("Usuario:", usuario);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.catch(function(error)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console.log("Error:", error);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Encadenamiento de promesas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Cada then puede devolver una nueva promesa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170432"/>
            <a:ext cx="6492240" cy="4892040"/>
          </a:xfrm>
          <a:prstGeom prst="roundRect">
            <a:avLst>
              <a:gd name="adj" fmla="val 2243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335024"/>
            <a:ext cx="6163056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obtenerUsuario()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.then(function(usuario)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console.log("Usuario:", usuario);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obtenerCursos(usuario.id);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.then(function(cursos)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console.log("Cursos:", cursos);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obtenerNotas(cursos[0]);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.then(function(notas)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console.log("Notas:", notas);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.catch(function(error)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console.log("Error:", error);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7635240" y="141732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0D25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9560" y="17373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</a:rPr>
              <a:t>Ventaja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09560" y="2240280"/>
            <a:ext cx="292608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anidamiento.</a:t>
            </a:r>
            <a:endParaRPr lang="en-US" sz="1550" dirty="0"/>
          </a:p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más legible.</a:t>
            </a:r>
            <a:endParaRPr lang="en-US" sz="1550" dirty="0"/>
          </a:p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centralizados en catch.</a:t>
            </a:r>
            <a:endParaRPr lang="en-US" sz="1550" dirty="0"/>
          </a:p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mantenimiento.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Manejo de errores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reject permite representar una operación fallida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097280"/>
            <a:ext cx="10789920" cy="4956048"/>
          </a:xfrm>
          <a:prstGeom prst="roundRect">
            <a:avLst>
              <a:gd name="adj" fmla="val 2214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61872"/>
            <a:ext cx="10460736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descargarArchivo(nombreArchivo)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Promise(function(resolve, reject)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setTimeout(function()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(!nombreArchivo)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reject("Debe indicar un nombre de archivo");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else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resolve("Archivo descargado: " + nombreArchivo);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 2000);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descargarArchivo("")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.then(function(mensaje) { console.log(mensaje); })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.catch(function(error) { console.log("Error:", error); });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Callbacks vs. Promesas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Dos formas de manejar tareas que terminan después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744200" cy="3255264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Aspecto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Callback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Promesa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AF4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Idea central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AF4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Paso una función para ejecutar después.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AF4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Recibo un objeto que representa un resultado futuro.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AF4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Éxito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AF4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 llama al callback.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AF4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 usa resolve() y .then().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AF4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Error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AF4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Puede manejarse por convención.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AF4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 usa reject() y .catch().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AF4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Legibilidad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AF4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Puede complicarse con anidamientos.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AF4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Permite encadenar de forma más clara.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264B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280160" y="5349240"/>
            <a:ext cx="9646920" cy="502920"/>
          </a:xfrm>
          <a:prstGeom prst="roundRect">
            <a:avLst>
              <a:gd name="adj" fmla="val 21818"/>
            </a:avLst>
          </a:prstGeom>
          <a:solidFill>
            <a:srgbClr val="FFD166">
              <a:alpha val="88000"/>
            </a:srgbClr>
          </a:solidFill>
          <a:ln w="1524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44752" y="5468112"/>
            <a:ext cx="9317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</a:rPr>
              <a:t>No se trata de elegir “una para siempre”, sino de entender cuándo conviene cada una.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 práctica 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Crear una promesa simple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5074920" cy="4251960"/>
          </a:xfrm>
          <a:prstGeom prst="roundRect">
            <a:avLst>
              <a:gd name="adj" fmla="val 2581"/>
            </a:avLst>
          </a:prstGeom>
          <a:solidFill>
            <a:srgbClr val="0D2538"/>
          </a:solidFill>
          <a:ln w="12700">
            <a:solidFill>
              <a:srgbClr val="1F4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54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8E6FF"/>
                </a:solidFill>
              </a:rPr>
              <a:t>Consigna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057400"/>
            <a:ext cx="45262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una función descargarArchivo.</a:t>
            </a:r>
            <a:endParaRPr lang="en-US" sz="1550" dirty="0"/>
          </a:p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Recibir el nombre del archivo.</a:t>
            </a:r>
            <a:endParaRPr lang="en-US" sz="1550" dirty="0"/>
          </a:p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Esperar 2 segundos.</a:t>
            </a:r>
            <a:endParaRPr lang="en-US" sz="1550" dirty="0"/>
          </a:p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Resolver con “Archivo descargado: nombre”.</a:t>
            </a:r>
            <a:endParaRPr lang="en-US" sz="1550" dirty="0"/>
          </a:p>
          <a:p>
            <a:r>
              <a:rPr lang="en-US" sz="15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el resultado con .then().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074920" cy="3840480"/>
          </a:xfrm>
          <a:prstGeom prst="roundRect">
            <a:avLst>
              <a:gd name="adj" fmla="val 2857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399032"/>
            <a:ext cx="4745736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descargarArchivo(nombreArchivo)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Promise(function(resolve, reject)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completar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descargarArchivo("documento.pdf")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.then(function(mensaje)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console.log(mensaje);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 práctica 2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Agregar validación y manejo de errores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5166360" cy="4160520"/>
          </a:xfrm>
          <a:prstGeom prst="roundRect">
            <a:avLst>
              <a:gd name="adj" fmla="val 2637"/>
            </a:avLst>
          </a:prstGeom>
          <a:solidFill>
            <a:srgbClr val="0D2538"/>
          </a:solidFill>
          <a:ln w="12700">
            <a:solidFill>
              <a:srgbClr val="1F4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166"/>
                </a:solidFill>
              </a:rPr>
              <a:t>Nuevo requisito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057400"/>
            <a:ext cx="45720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nombre está vacío, rechazar la promesa.</a:t>
            </a:r>
            <a:endParaRPr lang="en-US" sz="1700" dirty="0"/>
          </a:p>
          <a:p>
            <a:r>
              <a:rPr lang="en-US" sz="17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error debe decir: “Debe indicar un nombre de archivo”.</a:t>
            </a:r>
            <a:endParaRPr lang="en-US" sz="1700" dirty="0"/>
          </a:p>
          <a:p>
            <a:r>
              <a:rPr lang="en-US" sz="17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Consumir la promesa usando .then() y .catch().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4709160" cy="2148840"/>
          </a:xfrm>
          <a:prstGeom prst="roundRect">
            <a:avLst>
              <a:gd name="adj" fmla="val 5106"/>
            </a:avLst>
          </a:prstGeom>
          <a:solidFill>
            <a:srgbClr val="081722"/>
          </a:solidFill>
          <a:ln w="12700">
            <a:solidFill>
              <a:srgbClr val="1D52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73352"/>
            <a:ext cx="437997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descargarArchivo("")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.then(function(mensaje)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console.log(mensaje);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.catch(function(error)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console.log("Error:", error);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9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874520" y="5532120"/>
            <a:ext cx="8458200" cy="502920"/>
          </a:xfrm>
          <a:prstGeom prst="roundRect">
            <a:avLst>
              <a:gd name="adj" fmla="val 21818"/>
            </a:avLst>
          </a:prstGeom>
          <a:solidFill>
            <a:srgbClr val="5DE4A7">
              <a:alpha val="88000"/>
            </a:srgbClr>
          </a:solidFill>
          <a:ln w="15240">
            <a:solidFill>
              <a:srgbClr val="5DE4A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9112" y="5650992"/>
            <a:ext cx="8129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</a:rPr>
              <a:t>Objetivo: practicar el camino exitoso y el camino de error.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01200" y="-685800"/>
            <a:ext cx="3383280" cy="3383280"/>
          </a:xfrm>
          <a:prstGeom prst="arc">
            <a:avLst/>
          </a:prstGeom>
          <a:noFill/>
          <a:ln w="25400">
            <a:solidFill>
              <a:srgbClr val="31D6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0">
            <a:off x="-960120" y="4846320"/>
            <a:ext cx="2926080" cy="2926080"/>
          </a:xfrm>
          <a:prstGeom prst="arc">
            <a:avLst/>
          </a:prstGeom>
          <a:noFill/>
          <a:ln w="254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1D5"/>
                </a:solidFill>
              </a:rPr>
              <a:t>Lo importante que deben llevarse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8680" y="1234440"/>
            <a:ext cx="10469880" cy="4206240"/>
          </a:xfrm>
          <a:prstGeom prst="roundRect">
            <a:avLst>
              <a:gd name="adj" fmla="val 2609"/>
            </a:avLst>
          </a:prstGeom>
          <a:solidFill>
            <a:srgbClr val="0D2538"/>
          </a:solidFill>
          <a:ln w="12700">
            <a:solidFill>
              <a:srgbClr val="31D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91640"/>
            <a:ext cx="982980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8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callback es una función que se ejecuta después, cuando otra función la llama.</a:t>
            </a:r>
            <a:endParaRPr lang="en-US" sz="1800" dirty="0"/>
          </a:p>
          <a:p>
            <a:r>
              <a:rPr lang="en-US" sz="18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asincronía permite que JavaScript no se bloquee mientras espera una tarea.</a:t>
            </a:r>
            <a:endParaRPr lang="en-US" sz="1800" dirty="0"/>
          </a:p>
          <a:p>
            <a:r>
              <a:rPr lang="en-US" sz="18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callback hell aparece cuando se encadenan muchas operaciones anidadas.</a:t>
            </a:r>
            <a:endParaRPr lang="en-US" sz="1800" dirty="0"/>
          </a:p>
          <a:p>
            <a:r>
              <a:rPr lang="en-US" sz="18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promesa representa un resultado futuro: pendiente, resuelto o rechazado.</a:t>
            </a:r>
            <a:endParaRPr lang="en-US" sz="1800" dirty="0"/>
          </a:p>
          <a:p>
            <a:r>
              <a:rPr lang="en-US" sz="18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maneja el éxito; catch maneja el error.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48840" y="5623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DE4A7"/>
                </a:solidFill>
              </a:rPr>
              <a:t>Próximo paso natural: async / await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8A7C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2279</Words>
  <Application>Microsoft Office PowerPoint</Application>
  <PresentationFormat>Panorámica</PresentationFormat>
  <Paragraphs>359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Tec. en Desarrollo de Software Multiplataforma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Callbacks y Promesas en JavaScript - TLP I</dc:title>
  <dc:subject>Callbacks y Promesas en JavaScript</dc:subject>
  <dc:creator>Alejandro Daniel Sanabria</dc:creator>
  <cp:lastModifiedBy>Alejandro Daniel Sanabria</cp:lastModifiedBy>
  <cp:revision>3</cp:revision>
  <dcterms:created xsi:type="dcterms:W3CDTF">2026-06-04T13:50:50Z</dcterms:created>
  <dcterms:modified xsi:type="dcterms:W3CDTF">2026-06-04T18:08:39Z</dcterms:modified>
</cp:coreProperties>
</file>