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slideLayouts/slideLayout23.xml" ContentType="application/vnd.openxmlformats-officedocument.presentationml.slideLayout+xml"/>
  <Override PartName="/ppt/slides/slide2.xml" ContentType="application/vnd.openxmlformats-officedocument.presentationml.slide+xml"/>
  <Override PartName="/ppt/slides/slide38.xml" ContentType="application/vnd.openxmlformats-officedocument.presentationml.slide+xml"/>
  <Override PartName="/ppt/slideLayouts/slideLayout22.xml" ContentType="application/vnd.openxmlformats-officedocument.presentationml.slideLayout+xml"/>
  <Override PartName="/ppt/notesSlides/notesSlide56.xml" ContentType="application/vnd.openxmlformats-officedocument.presentationml.notesSlide+xml"/>
  <Override PartName="/ppt/notesSlides/notesSlide22.xml" ContentType="application/vnd.openxmlformats-officedocument.presentationml.notesSlide+xml"/>
  <Override PartName="/docProps/custom.xml" ContentType="application/vnd.openxmlformats-officedocument.custom-properties+xml"/>
  <Override PartName="/ppt/slideLayouts/slideLayout20.xml" ContentType="application/vnd.openxmlformats-officedocument.presentationml.slideLayout+xml"/>
  <Override PartName="/ppt/notesSlides/notesSlide12.xml" ContentType="application/vnd.openxmlformats-officedocument.presentationml.notesSlide+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8.xml" ContentType="application/vnd.openxmlformats-officedocument.presentationml.slideLayout+xml"/>
  <Override PartName="/ppt/notesSlides/notesSlide3.xml" ContentType="application/vnd.openxmlformats-officedocument.presentationml.notesSlide+xml"/>
  <Override PartName="/ppt/slides/slide5.xml" ContentType="application/vnd.openxmlformats-officedocument.presentationml.slide+xml"/>
  <Override PartName="/ppt/slides/slide43.xml" ContentType="application/vnd.openxmlformats-officedocument.presentationml.slide+xml"/>
  <Override PartName="/ppt/slideLayouts/slideLayout15.xml" ContentType="application/vnd.openxmlformats-officedocument.presentationml.slideLayout+xml"/>
  <Override PartName="/ppt/slides/slide48.xml" ContentType="application/vnd.openxmlformats-officedocument.presentationml.slide+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slides/slide10.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notesSlides/notesSlide21.xml" ContentType="application/vnd.openxmlformats-officedocument.presentationml.notesSlide+xml"/>
  <Override PartName="/ppt/slideLayouts/slideLayout13.xml" ContentType="application/vnd.openxmlformats-officedocument.presentationml.slideLayout+xml"/>
  <Override PartName="/docProps/core.xml" ContentType="application/vnd.openxmlformats-package.core-propertie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notesSlides/notesSlide31.xml" ContentType="application/vnd.openxmlformats-officedocument.presentationml.notesSlide+xml"/>
  <Override PartName="/ppt/slideLayouts/slideLayout17.xml" ContentType="application/vnd.openxmlformats-officedocument.presentationml.slideLayout+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slides/slide30.xml" ContentType="application/vnd.openxmlformats-officedocument.presentationml.slide+xml"/>
  <Override PartName="/ppt/theme/theme2.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29.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notesSlides/notesSlide46.xml" ContentType="application/vnd.openxmlformats-officedocument.presentationml.notesSlide+xml"/>
  <Override PartName="/ppt/slides/slide4.xml" ContentType="application/vnd.openxmlformats-officedocument.presentationml.slide+xml"/>
  <Override PartName="/ppt/slideLayouts/slideLayout16.xml" ContentType="application/vnd.openxmlformats-officedocument.presentationml.slideLayout+xml"/>
  <Override PartName="/ppt/slides/slide19.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49.xml" ContentType="application/vnd.openxmlformats-officedocument.presentationml.notesSlide+xml"/>
  <Override PartName="/ppt/slides/slide47.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6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905933248" y="0"/>
      </p:cViewPr>
      <p:guideLst>
        <p:guide pos="2880"/>
        <p:guide pos="162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notesMaster" Target="notesMasters/notesMaster1.xml"/><Relationship Id="rId62" Type="http://schemas.openxmlformats.org/officeDocument/2006/relationships/presProps" Target="presProps.xml" /><Relationship Id="rId63" Type="http://schemas.openxmlformats.org/officeDocument/2006/relationships/tableStyles" Target="tableStyles.xml" /><Relationship Id="rId6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717890099"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5744145"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defRPr>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7632856" name="Google Shape;810;p1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6540620" name="Google Shape;811;p1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32973090" name="Google Shape;631;p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6386453" name="Google Shape;632;p8: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06551412" name="Google Shape;477;p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867357" name="Google Shape;478;p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2010489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174078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089831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68089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6421351"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6519608"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2999566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660573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4878452"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775476"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14702609"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31052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3305970"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676249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53659550"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557298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8894549"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997015"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993404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02754"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4711063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93209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444040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8107398"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7524726"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07216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65952494"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2132775"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9220654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56890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702586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4616503"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660994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6190123"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2972715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0475566"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2251417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4672601"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33396889"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86224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4011422"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761725"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789476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7602885"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803387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042591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184243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2863272"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59022040"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718373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92375551" name="Google Shape;477;p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4164132" name="Google Shape;478;p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1982631"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466010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2870827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2556226"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277377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9812041"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44712190"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901964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470637"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43152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230308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2264874"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05673141"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9105136"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91437022"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19917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07269378"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977277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70249612"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9142402"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2851744"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4196599"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2561646"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647279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823251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757201"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997010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5551778"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4339437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3704212"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08697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37248"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1851619"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785142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3613220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2451930"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8561212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2805093"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40639176"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495489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822698" name="Google Shape;477;p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9009670" name="Google Shape;478;p3: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81317753"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4431042"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90108034"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184442"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61877760"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0969285"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7968691"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2198927"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602521"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1963963"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79674552"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0532794"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47588345" name="Google Shape;455;p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7846496" name="Google Shape;456;p1:notes"/>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44833425" name="Google Shape;9;p46"/>
          <p:cNvSpPr/>
          <p:nvPr/>
        </p:nvSpPr>
        <p:spPr bwMode="auto">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6333539" name="Google Shape;10;p46"/>
          <p:cNvSpPr/>
          <p:nvPr/>
        </p:nvSpPr>
        <p:spPr bwMode="auto">
          <a:xfrm>
            <a:off x="0" y="0"/>
            <a:ext cx="4572000" cy="592799"/>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324173952" name="Google Shape;11;p46"/>
          <p:cNvSpPr txBox="1"/>
          <p:nvPr>
            <p:ph type="ctrTitle"/>
          </p:nvPr>
        </p:nvSpPr>
        <p:spPr bwMode="auto">
          <a:xfrm>
            <a:off x="1413525" y="1144250"/>
            <a:ext cx="5788800" cy="51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3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pPr>
              <a:defRPr/>
            </a:pPr>
            <a:endParaRPr/>
          </a:p>
        </p:txBody>
      </p:sp>
      <p:sp>
        <p:nvSpPr>
          <p:cNvPr id="830286630" name="Google Shape;12;p46"/>
          <p:cNvSpPr txBox="1"/>
          <p:nvPr>
            <p:ph type="subTitle" idx="1"/>
          </p:nvPr>
        </p:nvSpPr>
        <p:spPr bwMode="auto">
          <a:xfrm>
            <a:off x="2231025" y="2765300"/>
            <a:ext cx="6202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727868466" name="Google Shape;13;p46"/>
          <p:cNvSpPr txBox="1"/>
          <p:nvPr>
            <p:ph type="subTitle" idx="2"/>
          </p:nvPr>
        </p:nvSpPr>
        <p:spPr bwMode="auto">
          <a:xfrm>
            <a:off x="1788725" y="1761800"/>
            <a:ext cx="5788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080191454" name="Google Shape;14;p46"/>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583779820" name="Google Shape;15;p46"/>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93353284" name="Google Shape;16;p46"/>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300063088" name="Google Shape;17;p46"/>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949700794" name="Google Shape;18;p46"/>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783194718" name="Google Shape;19;p46"/>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936554204" name="Google Shape;20;p46"/>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433821343" name="Google Shape;21;p46"/>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725606893" name="Google Shape;22;p46"/>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31052961" name="Google Shape;23;p46"/>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2112260060" name="Google Shape;24;p46"/>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138863616" name="Google Shape;25;p46"/>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949613410" name="Google Shape;26;p46"/>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572970104" name="Google Shape;27;p46"/>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990725751" name="Google Shape;29;p47"/>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878994504" name="Google Shape;30;p47"/>
          <p:cNvSpPr/>
          <p:nvPr/>
        </p:nvSpPr>
        <p:spPr bwMode="auto">
          <a:xfrm>
            <a:off x="457200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846366880" name="Google Shape;31;p47"/>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254628927" name="Google Shape;32;p47"/>
          <p:cNvSpPr txBox="1"/>
          <p:nvPr>
            <p:ph type="body" idx="1"/>
          </p:nvPr>
        </p:nvSpPr>
        <p:spPr bwMode="auto">
          <a:xfrm>
            <a:off x="1464250" y="1063175"/>
            <a:ext cx="6969600" cy="34164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000"/>
            </a:lvl1pPr>
            <a:lvl2pPr marL="914400" lvl="1" indent="-317500" algn="l">
              <a:lnSpc>
                <a:spcPct val="100000"/>
              </a:lnSpc>
              <a:spcBef>
                <a:spcPts val="0"/>
              </a:spcBef>
              <a:spcAft>
                <a:spcPts val="0"/>
              </a:spcAft>
              <a:buSzPts val="1400"/>
              <a:buChar char="○"/>
              <a:defRPr/>
            </a:lvl2pPr>
            <a:lvl3pPr marL="1371600" lvl="2" indent="-317500" algn="l">
              <a:lnSpc>
                <a:spcPct val="100000"/>
              </a:lnSpc>
              <a:spcBef>
                <a:spcPts val="0"/>
              </a:spcBef>
              <a:spcAft>
                <a:spcPts val="0"/>
              </a:spcAft>
              <a:buSzPts val="1400"/>
              <a:buChar char="■"/>
              <a:defRPr/>
            </a:lvl3pPr>
            <a:lvl4pPr marL="1828800" lvl="3" indent="-317500" algn="l">
              <a:lnSpc>
                <a:spcPct val="100000"/>
              </a:lnSpc>
              <a:spcBef>
                <a:spcPts val="0"/>
              </a:spcBef>
              <a:spcAft>
                <a:spcPts val="0"/>
              </a:spcAft>
              <a:buSzPts val="1400"/>
              <a:buChar char="●"/>
              <a:defRPr/>
            </a:lvl4pPr>
            <a:lvl5pPr marL="2286000" lvl="4" indent="-317500" algn="l">
              <a:lnSpc>
                <a:spcPct val="100000"/>
              </a:lnSpc>
              <a:spcBef>
                <a:spcPts val="0"/>
              </a:spcBef>
              <a:spcAft>
                <a:spcPts val="0"/>
              </a:spcAft>
              <a:buSzPts val="1400"/>
              <a:buChar char="○"/>
              <a:defRPr/>
            </a:lvl5pPr>
            <a:lvl6pPr marL="2743200" lvl="5" indent="-317500" algn="l">
              <a:lnSpc>
                <a:spcPct val="100000"/>
              </a:lnSpc>
              <a:spcBef>
                <a:spcPts val="0"/>
              </a:spcBef>
              <a:spcAft>
                <a:spcPts val="0"/>
              </a:spcAft>
              <a:buSzPts val="1400"/>
              <a:buChar char="■"/>
              <a:defRPr/>
            </a:lvl6pPr>
            <a:lvl7pPr marL="3200400" lvl="6" indent="-317500" algn="l">
              <a:lnSpc>
                <a:spcPct val="100000"/>
              </a:lnSpc>
              <a:spcBef>
                <a:spcPts val="0"/>
              </a:spcBef>
              <a:spcAft>
                <a:spcPts val="0"/>
              </a:spcAft>
              <a:buSzPts val="1400"/>
              <a:buChar char="●"/>
              <a:defRPr/>
            </a:lvl7pPr>
            <a:lvl8pPr marL="3657600" lvl="7" indent="-317500" algn="l">
              <a:lnSpc>
                <a:spcPct val="100000"/>
              </a:lnSpc>
              <a:spcBef>
                <a:spcPts val="0"/>
              </a:spcBef>
              <a:spcAft>
                <a:spcPts val="0"/>
              </a:spcAft>
              <a:buSzPts val="1400"/>
              <a:buChar char="○"/>
              <a:defRPr/>
            </a:lvl8pPr>
            <a:lvl9pPr marL="4114800" lvl="8" indent="-317500" algn="l">
              <a:lnSpc>
                <a:spcPct val="100000"/>
              </a:lnSpc>
              <a:spcBef>
                <a:spcPts val="0"/>
              </a:spcBef>
              <a:spcAft>
                <a:spcPts val="0"/>
              </a:spcAft>
              <a:buSzPts val="1400"/>
              <a:buChar char="■"/>
              <a:defRPr/>
            </a:lvl9pPr>
          </a:lstStyle>
          <a:p>
            <a:pPr>
              <a:defRPr/>
            </a:pPr>
            <a:endParaRPr/>
          </a:p>
        </p:txBody>
      </p:sp>
      <p:sp>
        <p:nvSpPr>
          <p:cNvPr id="1010166922" name="Google Shape;33;p47"/>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345660507" name="Google Shape;34;p47"/>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48915952" name="Google Shape;35;p47"/>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546837" name="Google Shape;36;p47"/>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124127966" name="Google Shape;37;p47"/>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481044617" name="Google Shape;38;p47"/>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612336825" name="Google Shape;39;p47"/>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425091705" name="Google Shape;40;p47"/>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914045882" name="Google Shape;41;p47"/>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2000793821" name="Google Shape;42;p47"/>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606736345" name="Google Shape;43;p47"/>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614869642" name="Google Shape;44;p47"/>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597187159" name="Google Shape;45;p47"/>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521805575" name="Google Shape;46;p47"/>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able of Contents" preserve="0" showMasterPhAnim="0" showMasterSp="1" userDrawn="1">
  <p:cSld name="CUSTOM">
    <p:spTree>
      <p:nvGrpSpPr>
        <p:cNvPr id="1" name=""/>
        <p:cNvGrpSpPr/>
        <p:nvPr/>
      </p:nvGrpSpPr>
      <p:grpSpPr bwMode="auto">
        <a:xfrm>
          <a:off x="0" y="0"/>
          <a:ext cx="0" cy="0"/>
          <a:chOff x="0" y="0"/>
          <a:chExt cx="0" cy="0"/>
        </a:xfrm>
      </p:grpSpPr>
      <p:sp>
        <p:nvSpPr>
          <p:cNvPr id="233410619" name="Google Shape;48;p48"/>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473183469" name="Google Shape;49;p48"/>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64407278" name="Google Shape;50;p48"/>
          <p:cNvSpPr txBox="1"/>
          <p:nvPr>
            <p:ph type="title"/>
          </p:nvPr>
        </p:nvSpPr>
        <p:spPr bwMode="auto">
          <a:xfrm flipH="1">
            <a:off x="1460450" y="1436713"/>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pPr>
              <a:defRPr/>
            </a:pPr>
            <a:endParaRPr/>
          </a:p>
        </p:txBody>
      </p:sp>
      <p:sp>
        <p:nvSpPr>
          <p:cNvPr id="353776832" name="Google Shape;51;p48"/>
          <p:cNvSpPr txBox="1"/>
          <p:nvPr>
            <p:ph type="subTitle" idx="1"/>
          </p:nvPr>
        </p:nvSpPr>
        <p:spPr bwMode="auto">
          <a:xfrm>
            <a:off x="2332550" y="177511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pPr>
              <a:defRPr/>
            </a:pPr>
            <a:endParaRPr/>
          </a:p>
        </p:txBody>
      </p:sp>
      <p:sp>
        <p:nvSpPr>
          <p:cNvPr id="619970799" name="Google Shape;52;p48"/>
          <p:cNvSpPr txBox="1"/>
          <p:nvPr>
            <p:ph type="subTitle" idx="2"/>
          </p:nvPr>
        </p:nvSpPr>
        <p:spPr bwMode="auto">
          <a:xfrm>
            <a:off x="2332550" y="1436725"/>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accent1"/>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2020215786" name="Google Shape;53;p48"/>
          <p:cNvSpPr txBox="1"/>
          <p:nvPr>
            <p:ph type="title" idx="3"/>
          </p:nvPr>
        </p:nvSpPr>
        <p:spPr bwMode="auto">
          <a:xfrm flipH="1">
            <a:off x="2850125" y="241986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pPr>
              <a:defRPr/>
            </a:pPr>
            <a:endParaRPr/>
          </a:p>
        </p:txBody>
      </p:sp>
      <p:sp>
        <p:nvSpPr>
          <p:cNvPr id="376600429" name="Google Shape;54;p48"/>
          <p:cNvSpPr txBox="1"/>
          <p:nvPr>
            <p:ph type="subTitle" idx="4"/>
          </p:nvPr>
        </p:nvSpPr>
        <p:spPr bwMode="auto">
          <a:xfrm>
            <a:off x="3722225" y="275546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pPr>
              <a:defRPr/>
            </a:pPr>
            <a:endParaRPr/>
          </a:p>
        </p:txBody>
      </p:sp>
      <p:sp>
        <p:nvSpPr>
          <p:cNvPr id="166341994" name="Google Shape;55;p48"/>
          <p:cNvSpPr txBox="1"/>
          <p:nvPr>
            <p:ph type="subTitle" idx="5"/>
          </p:nvPr>
        </p:nvSpPr>
        <p:spPr bwMode="auto">
          <a:xfrm>
            <a:off x="3722225" y="241985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lt2"/>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643131729" name="Google Shape;56;p48"/>
          <p:cNvSpPr txBox="1"/>
          <p:nvPr>
            <p:ph type="title" idx="6"/>
          </p:nvPr>
        </p:nvSpPr>
        <p:spPr bwMode="auto">
          <a:xfrm flipH="1">
            <a:off x="4242875" y="340021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pPr>
              <a:defRPr/>
            </a:pPr>
            <a:endParaRPr/>
          </a:p>
        </p:txBody>
      </p:sp>
      <p:sp>
        <p:nvSpPr>
          <p:cNvPr id="718743670" name="Google Shape;57;p48"/>
          <p:cNvSpPr txBox="1"/>
          <p:nvPr>
            <p:ph type="subTitle" idx="7"/>
          </p:nvPr>
        </p:nvSpPr>
        <p:spPr bwMode="auto">
          <a:xfrm>
            <a:off x="5114975" y="373859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a:pPr>
              <a:defRPr/>
            </a:pPr>
            <a:endParaRPr/>
          </a:p>
        </p:txBody>
      </p:sp>
      <p:sp>
        <p:nvSpPr>
          <p:cNvPr id="1958593407" name="Google Shape;58;p48"/>
          <p:cNvSpPr txBox="1"/>
          <p:nvPr>
            <p:ph type="subTitle" idx="8"/>
          </p:nvPr>
        </p:nvSpPr>
        <p:spPr bwMode="auto">
          <a:xfrm>
            <a:off x="5114975" y="340020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824927908" name="Google Shape;59;p48"/>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316670246" name="Google Shape;60;p48"/>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878195924" name="Google Shape;61;p48"/>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955091657" name="Google Shape;62;p48"/>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380766596" name="Google Shape;63;p48"/>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067457193" name="Google Shape;64;p48"/>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57153486" name="Google Shape;65;p48"/>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443586413" name="Google Shape;66;p48"/>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655256013" name="Google Shape;67;p48"/>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936866232" name="Google Shape;68;p48"/>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892989612" name="Google Shape;69;p48"/>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263277629" name="Google Shape;70;p48"/>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482381530" name="Google Shape;71;p48"/>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554144496" name="Google Shape;72;p48"/>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1597281522" name="Google Shape;73;p48"/>
          <p:cNvSpPr txBox="1"/>
          <p:nvPr>
            <p:ph type="title" idx="9"/>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495730364" name="Google Shape;75;p49"/>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031651092" name="Google Shape;76;p49"/>
          <p:cNvSpPr/>
          <p:nvPr/>
        </p:nvSpPr>
        <p:spPr bwMode="auto">
          <a:xfrm>
            <a:off x="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280957638" name="Google Shape;77;p49"/>
          <p:cNvSpPr txBox="1"/>
          <p:nvPr>
            <p:ph type="title"/>
          </p:nvPr>
        </p:nvSpPr>
        <p:spPr bwMode="auto">
          <a:xfrm flipH="1">
            <a:off x="2054663" y="586975"/>
            <a:ext cx="1842300" cy="1104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sz="10000"/>
            </a:lvl1pPr>
            <a:lvl2pPr lvl="1" algn="r">
              <a:lnSpc>
                <a:spcPct val="100000"/>
              </a:lnSpc>
              <a:spcBef>
                <a:spcPts val="0"/>
              </a:spcBef>
              <a:spcAft>
                <a:spcPts val="0"/>
              </a:spcAft>
              <a:buClr>
                <a:schemeClr val="dk1"/>
              </a:buClr>
              <a:buSzPts val="2500"/>
              <a:buNone/>
              <a:defRPr sz="2500">
                <a:solidFill>
                  <a:schemeClr val="dk1"/>
                </a:solidFill>
              </a:defRPr>
            </a:lvl2pPr>
            <a:lvl3pPr lvl="2" algn="r">
              <a:lnSpc>
                <a:spcPct val="100000"/>
              </a:lnSpc>
              <a:spcBef>
                <a:spcPts val="0"/>
              </a:spcBef>
              <a:spcAft>
                <a:spcPts val="0"/>
              </a:spcAft>
              <a:buClr>
                <a:schemeClr val="dk1"/>
              </a:buClr>
              <a:buSzPts val="2500"/>
              <a:buNone/>
              <a:defRPr sz="2500">
                <a:solidFill>
                  <a:schemeClr val="dk1"/>
                </a:solidFill>
              </a:defRPr>
            </a:lvl3pPr>
            <a:lvl4pPr lvl="3" algn="r">
              <a:lnSpc>
                <a:spcPct val="100000"/>
              </a:lnSpc>
              <a:spcBef>
                <a:spcPts val="0"/>
              </a:spcBef>
              <a:spcAft>
                <a:spcPts val="0"/>
              </a:spcAft>
              <a:buClr>
                <a:schemeClr val="dk1"/>
              </a:buClr>
              <a:buSzPts val="2500"/>
              <a:buNone/>
              <a:defRPr sz="2500">
                <a:solidFill>
                  <a:schemeClr val="dk1"/>
                </a:solidFill>
              </a:defRPr>
            </a:lvl4pPr>
            <a:lvl5pPr lvl="4" algn="r">
              <a:lnSpc>
                <a:spcPct val="100000"/>
              </a:lnSpc>
              <a:spcBef>
                <a:spcPts val="0"/>
              </a:spcBef>
              <a:spcAft>
                <a:spcPts val="0"/>
              </a:spcAft>
              <a:buClr>
                <a:schemeClr val="dk1"/>
              </a:buClr>
              <a:buSzPts val="2500"/>
              <a:buNone/>
              <a:defRPr sz="2500">
                <a:solidFill>
                  <a:schemeClr val="dk1"/>
                </a:solidFill>
              </a:defRPr>
            </a:lvl5pPr>
            <a:lvl6pPr lvl="5" algn="r">
              <a:lnSpc>
                <a:spcPct val="100000"/>
              </a:lnSpc>
              <a:spcBef>
                <a:spcPts val="0"/>
              </a:spcBef>
              <a:spcAft>
                <a:spcPts val="0"/>
              </a:spcAft>
              <a:buClr>
                <a:schemeClr val="dk1"/>
              </a:buClr>
              <a:buSzPts val="2500"/>
              <a:buNone/>
              <a:defRPr sz="2500">
                <a:solidFill>
                  <a:schemeClr val="dk1"/>
                </a:solidFill>
              </a:defRPr>
            </a:lvl6pPr>
            <a:lvl7pPr lvl="6" algn="r">
              <a:lnSpc>
                <a:spcPct val="100000"/>
              </a:lnSpc>
              <a:spcBef>
                <a:spcPts val="0"/>
              </a:spcBef>
              <a:spcAft>
                <a:spcPts val="0"/>
              </a:spcAft>
              <a:buClr>
                <a:schemeClr val="dk1"/>
              </a:buClr>
              <a:buSzPts val="2500"/>
              <a:buNone/>
              <a:defRPr sz="2500">
                <a:solidFill>
                  <a:schemeClr val="dk1"/>
                </a:solidFill>
              </a:defRPr>
            </a:lvl7pPr>
            <a:lvl8pPr lvl="7" algn="r">
              <a:lnSpc>
                <a:spcPct val="100000"/>
              </a:lnSpc>
              <a:spcBef>
                <a:spcPts val="0"/>
              </a:spcBef>
              <a:spcAft>
                <a:spcPts val="0"/>
              </a:spcAft>
              <a:buClr>
                <a:schemeClr val="dk1"/>
              </a:buClr>
              <a:buSzPts val="2500"/>
              <a:buNone/>
              <a:defRPr sz="2500">
                <a:solidFill>
                  <a:schemeClr val="dk1"/>
                </a:solidFill>
              </a:defRPr>
            </a:lvl8pPr>
            <a:lvl9pPr lvl="8" algn="r">
              <a:lnSpc>
                <a:spcPct val="100000"/>
              </a:lnSpc>
              <a:spcBef>
                <a:spcPts val="0"/>
              </a:spcBef>
              <a:spcAft>
                <a:spcPts val="0"/>
              </a:spcAft>
              <a:buClr>
                <a:schemeClr val="dk1"/>
              </a:buClr>
              <a:buSzPts val="2500"/>
              <a:buNone/>
              <a:defRPr sz="2500">
                <a:solidFill>
                  <a:schemeClr val="dk1"/>
                </a:solidFill>
              </a:defRPr>
            </a:lvl9pPr>
          </a:lstStyle>
          <a:p>
            <a:pPr>
              <a:defRPr/>
            </a:pPr>
            <a:endParaRPr/>
          </a:p>
        </p:txBody>
      </p:sp>
      <p:sp>
        <p:nvSpPr>
          <p:cNvPr id="1850531876" name="Google Shape;78;p49"/>
          <p:cNvSpPr txBox="1"/>
          <p:nvPr>
            <p:ph type="title" idx="2"/>
          </p:nvPr>
        </p:nvSpPr>
        <p:spPr bwMode="auto">
          <a:xfrm>
            <a:off x="2605788" y="1846623"/>
            <a:ext cx="5377200" cy="53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pPr>
              <a:defRPr/>
            </a:pPr>
            <a:endParaRPr/>
          </a:p>
        </p:txBody>
      </p:sp>
      <p:sp>
        <p:nvSpPr>
          <p:cNvPr id="383831778" name="Google Shape;79;p49"/>
          <p:cNvSpPr txBox="1"/>
          <p:nvPr>
            <p:ph type="subTitle" idx="1"/>
          </p:nvPr>
        </p:nvSpPr>
        <p:spPr bwMode="auto">
          <a:xfrm>
            <a:off x="3038363" y="2448125"/>
            <a:ext cx="3960900" cy="783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800">
                <a:solidFill>
                  <a:schemeClr val="accent3"/>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pPr>
              <a:defRPr/>
            </a:pPr>
            <a:endParaRPr/>
          </a:p>
        </p:txBody>
      </p:sp>
      <p:sp>
        <p:nvSpPr>
          <p:cNvPr id="85879705" name="Google Shape;80;p49"/>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47808814" name="Google Shape;81;p49"/>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519176730" name="Google Shape;82;p49"/>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080092347" name="Google Shape;83;p49"/>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593687430" name="Google Shape;84;p49"/>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128809918" name="Google Shape;85;p49"/>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154372435" name="Google Shape;86;p49"/>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477679801" name="Google Shape;87;p49"/>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606091007" name="Google Shape;88;p49"/>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790040034" name="Google Shape;89;p49"/>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649247560" name="Google Shape;90;p49"/>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450662706" name="Google Shape;91;p49"/>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17547809" name="Google Shape;92;p49"/>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2013540615" name="Google Shape;93;p49"/>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650639348" name="Google Shape;95;p50"/>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056534101" name="Google Shape;96;p50"/>
          <p:cNvSpPr/>
          <p:nvPr/>
        </p:nvSpPr>
        <p:spPr bwMode="auto">
          <a:xfrm>
            <a:off x="457200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316649944" name="Google Shape;97;p50"/>
          <p:cNvSpPr txBox="1"/>
          <p:nvPr>
            <p:ph type="subTitle" idx="1"/>
          </p:nvPr>
        </p:nvSpPr>
        <p:spPr bwMode="auto">
          <a:xfrm>
            <a:off x="2240150" y="3143327"/>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368048901" name="Google Shape;98;p50"/>
          <p:cNvSpPr txBox="1"/>
          <p:nvPr>
            <p:ph type="subTitle" idx="2"/>
          </p:nvPr>
        </p:nvSpPr>
        <p:spPr bwMode="auto">
          <a:xfrm>
            <a:off x="2240150" y="1151940"/>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60778619" name="Google Shape;99;p50"/>
          <p:cNvSpPr txBox="1"/>
          <p:nvPr>
            <p:ph type="subTitle" idx="3"/>
          </p:nvPr>
        </p:nvSpPr>
        <p:spPr bwMode="auto">
          <a:xfrm>
            <a:off x="1143250" y="2612625"/>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8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035018701" name="Google Shape;100;p50"/>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555264763" name="Google Shape;101;p50"/>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850821638" name="Google Shape;102;p50"/>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549004699" name="Google Shape;103;p50"/>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644301210" name="Google Shape;104;p50"/>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626611537" name="Google Shape;105;p50"/>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306526689" name="Google Shape;106;p50"/>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822544165" name="Google Shape;107;p50"/>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105125826" name="Google Shape;108;p50"/>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2137416644" name="Google Shape;109;p50"/>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577511871" name="Google Shape;110;p50"/>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533432954" name="Google Shape;111;p50"/>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323276533" name="Google Shape;112;p50"/>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302390664" name="Google Shape;113;p50"/>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546322706" name="Google Shape;114;p50"/>
          <p:cNvSpPr txBox="1"/>
          <p:nvPr>
            <p:ph type="title"/>
          </p:nvPr>
        </p:nvSpPr>
        <p:spPr bwMode="auto">
          <a:xfrm>
            <a:off x="1143250" y="621240"/>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1368775874" name="Google Shape;116;p51"/>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2761017" name="Google Shape;117;p51"/>
          <p:cNvSpPr/>
          <p:nvPr/>
        </p:nvSpPr>
        <p:spPr bwMode="auto">
          <a:xfrm>
            <a:off x="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785311485" name="Google Shape;118;p51"/>
          <p:cNvSpPr txBox="1"/>
          <p:nvPr>
            <p:ph type="title"/>
          </p:nvPr>
        </p:nvSpPr>
        <p:spPr bwMode="auto">
          <a:xfrm>
            <a:off x="1131500" y="621250"/>
            <a:ext cx="4045199"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
        <p:nvSpPr>
          <p:cNvPr id="566215436" name="Google Shape;119;p51"/>
          <p:cNvSpPr txBox="1"/>
          <p:nvPr>
            <p:ph type="subTitle" idx="1"/>
          </p:nvPr>
        </p:nvSpPr>
        <p:spPr bwMode="auto">
          <a:xfrm>
            <a:off x="1593350" y="1574450"/>
            <a:ext cx="5539200" cy="1404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494436766" name="Google Shape;120;p51"/>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887528930" name="Google Shape;121;p51"/>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013062452" name="Google Shape;122;p51"/>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218997390" name="Google Shape;123;p51"/>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539664586" name="Google Shape;124;p51"/>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786858052" name="Google Shape;125;p51"/>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666075512" name="Google Shape;126;p51"/>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959643978" name="Google Shape;127;p51"/>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2070324482" name="Google Shape;128;p51"/>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809008192" name="Google Shape;129;p51"/>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951593297" name="Google Shape;130;p51"/>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527798221" name="Google Shape;131;p51"/>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52532068" name="Google Shape;132;p51"/>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918917526" name="Google Shape;133;p51"/>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479274834" name="Google Shape;135;p52"/>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010378358" name="Google Shape;136;p52"/>
          <p:cNvSpPr/>
          <p:nvPr/>
        </p:nvSpPr>
        <p:spPr bwMode="auto">
          <a:xfrm>
            <a:off x="457200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482663616" name="Google Shape;137;p52"/>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751240665" name="Google Shape;138;p52"/>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311645912" name="Google Shape;139;p52"/>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63838424" name="Google Shape;140;p52"/>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256360162" name="Google Shape;141;p52"/>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166833143" name="Google Shape;142;p52"/>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019363874" name="Google Shape;143;p52"/>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420912985" name="Google Shape;144;p52"/>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721543583" name="Google Shape;145;p52"/>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846687279" name="Google Shape;146;p52"/>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853492601" name="Google Shape;147;p52"/>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52957265" name="Google Shape;148;p52"/>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070422711" name="Google Shape;149;p52"/>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242279407" name="Google Shape;150;p52"/>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582414415" name="Google Shape;151;p52"/>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hree columns" preserve="0" showMasterPhAnim="0" showMasterSp="1" userDrawn="1">
  <p:cSld name="CUSTOM_4">
    <p:spTree>
      <p:nvGrpSpPr>
        <p:cNvPr id="1" name=""/>
        <p:cNvGrpSpPr/>
        <p:nvPr/>
      </p:nvGrpSpPr>
      <p:grpSpPr bwMode="auto">
        <a:xfrm>
          <a:off x="0" y="0"/>
          <a:ext cx="0" cy="0"/>
          <a:chOff x="0" y="0"/>
          <a:chExt cx="0" cy="0"/>
        </a:xfrm>
      </p:grpSpPr>
      <p:sp>
        <p:nvSpPr>
          <p:cNvPr id="498098938" name="Google Shape;153;p53"/>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101197907" name="Google Shape;154;p53"/>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659779580" name="Google Shape;155;p53"/>
          <p:cNvSpPr txBox="1"/>
          <p:nvPr>
            <p:ph type="subTitle" idx="1"/>
          </p:nvPr>
        </p:nvSpPr>
        <p:spPr bwMode="auto">
          <a:xfrm>
            <a:off x="3443750" y="3621269"/>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1818779787" name="Google Shape;156;p53"/>
          <p:cNvSpPr txBox="1"/>
          <p:nvPr>
            <p:ph type="subTitle" idx="2"/>
          </p:nvPr>
        </p:nvSpPr>
        <p:spPr bwMode="auto">
          <a:xfrm>
            <a:off x="3051250" y="26383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684494249" name="Google Shape;157;p53"/>
          <p:cNvSpPr txBox="1"/>
          <p:nvPr>
            <p:ph type="subTitle" idx="3"/>
          </p:nvPr>
        </p:nvSpPr>
        <p:spPr bwMode="auto">
          <a:xfrm>
            <a:off x="3051250" y="23304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513335842" name="Google Shape;158;p53"/>
          <p:cNvSpPr txBox="1"/>
          <p:nvPr>
            <p:ph type="subTitle" idx="4"/>
          </p:nvPr>
        </p:nvSpPr>
        <p:spPr bwMode="auto">
          <a:xfrm>
            <a:off x="2624725" y="16554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672471033" name="Google Shape;159;p53"/>
          <p:cNvSpPr txBox="1"/>
          <p:nvPr>
            <p:ph type="subTitle" idx="5"/>
          </p:nvPr>
        </p:nvSpPr>
        <p:spPr bwMode="auto">
          <a:xfrm>
            <a:off x="2624725" y="13475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379610093" name="Google Shape;160;p53"/>
          <p:cNvSpPr txBox="1"/>
          <p:nvPr>
            <p:ph type="subTitle" idx="6"/>
          </p:nvPr>
        </p:nvSpPr>
        <p:spPr bwMode="auto">
          <a:xfrm>
            <a:off x="3443750" y="3313350"/>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516895781" name="Google Shape;161;p53"/>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2120532818" name="Google Shape;162;p53"/>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053724213" name="Google Shape;163;p53"/>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617951559" name="Google Shape;164;p53"/>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052458244" name="Google Shape;165;p53"/>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885381412" name="Google Shape;166;p53"/>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231165221" name="Google Shape;167;p53"/>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695569335" name="Google Shape;168;p53"/>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472057899" name="Google Shape;169;p53"/>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344104317" name="Google Shape;170;p53"/>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212764224" name="Google Shape;171;p53"/>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037965468" name="Google Shape;172;p53"/>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896113510" name="Google Shape;173;p53"/>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888276215" name="Google Shape;174;p53"/>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485551866" name="Google Shape;175;p53"/>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four columns" preserve="0" showMasterPhAnim="0" showMasterSp="1" userDrawn="1">
  <p:cSld name="CUSTOM_5">
    <p:spTree>
      <p:nvGrpSpPr>
        <p:cNvPr id="1" name=""/>
        <p:cNvGrpSpPr/>
        <p:nvPr/>
      </p:nvGrpSpPr>
      <p:grpSpPr bwMode="auto">
        <a:xfrm>
          <a:off x="0" y="0"/>
          <a:ext cx="0" cy="0"/>
          <a:chOff x="0" y="0"/>
          <a:chExt cx="0" cy="0"/>
        </a:xfrm>
      </p:grpSpPr>
      <p:sp>
        <p:nvSpPr>
          <p:cNvPr id="1271911926" name="Google Shape;177;p54"/>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060022766" name="Google Shape;178;p54"/>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94766812" name="Google Shape;179;p54"/>
          <p:cNvSpPr txBox="1"/>
          <p:nvPr>
            <p:ph type="subTitle" idx="1"/>
          </p:nvPr>
        </p:nvSpPr>
        <p:spPr bwMode="auto">
          <a:xfrm>
            <a:off x="5596231" y="1767554"/>
            <a:ext cx="2330699"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907881604" name="Google Shape;180;p54"/>
          <p:cNvSpPr txBox="1"/>
          <p:nvPr>
            <p:ph type="subTitle" idx="2"/>
          </p:nvPr>
        </p:nvSpPr>
        <p:spPr bwMode="auto">
          <a:xfrm>
            <a:off x="2494725" y="1767558"/>
            <a:ext cx="2330699"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92630386" name="Google Shape;181;p54"/>
          <p:cNvSpPr txBox="1"/>
          <p:nvPr>
            <p:ph type="subTitle" idx="3"/>
          </p:nvPr>
        </p:nvSpPr>
        <p:spPr bwMode="auto">
          <a:xfrm>
            <a:off x="2494725" y="1389663"/>
            <a:ext cx="2330699"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609249121" name="Google Shape;182;p54"/>
          <p:cNvSpPr txBox="1"/>
          <p:nvPr>
            <p:ph type="subTitle" idx="4"/>
          </p:nvPr>
        </p:nvSpPr>
        <p:spPr bwMode="auto">
          <a:xfrm>
            <a:off x="5596225" y="1389663"/>
            <a:ext cx="2330699"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923610825" name="Google Shape;183;p54"/>
          <p:cNvSpPr txBox="1"/>
          <p:nvPr>
            <p:ph type="subTitle" idx="5"/>
          </p:nvPr>
        </p:nvSpPr>
        <p:spPr bwMode="auto">
          <a:xfrm>
            <a:off x="6030031" y="3371329"/>
            <a:ext cx="2330699"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639014681" name="Google Shape;184;p54"/>
          <p:cNvSpPr txBox="1"/>
          <p:nvPr>
            <p:ph type="subTitle" idx="6"/>
          </p:nvPr>
        </p:nvSpPr>
        <p:spPr bwMode="auto">
          <a:xfrm>
            <a:off x="2928525" y="3371333"/>
            <a:ext cx="2330699"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1607507337" name="Google Shape;185;p54"/>
          <p:cNvSpPr txBox="1"/>
          <p:nvPr>
            <p:ph type="subTitle" idx="7"/>
          </p:nvPr>
        </p:nvSpPr>
        <p:spPr bwMode="auto">
          <a:xfrm>
            <a:off x="2928525" y="2993438"/>
            <a:ext cx="2330699"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752393183" name="Google Shape;186;p54"/>
          <p:cNvSpPr txBox="1"/>
          <p:nvPr>
            <p:ph type="subTitle" idx="8"/>
          </p:nvPr>
        </p:nvSpPr>
        <p:spPr bwMode="auto">
          <a:xfrm>
            <a:off x="6030025" y="2993438"/>
            <a:ext cx="2330699"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619631226" name="Google Shape;187;p54"/>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053348879" name="Google Shape;188;p54"/>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101172768" name="Google Shape;189;p54"/>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2024482280" name="Google Shape;190;p54"/>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894680777" name="Google Shape;191;p54"/>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426337936" name="Google Shape;192;p54"/>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128109540" name="Google Shape;193;p54"/>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504458777" name="Google Shape;194;p54"/>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550868638" name="Google Shape;195;p54"/>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275452332" name="Google Shape;196;p54"/>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470686205" name="Google Shape;197;p54"/>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366585386" name="Google Shape;198;p54"/>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645286402" name="Google Shape;199;p54"/>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650710201" name="Google Shape;200;p54"/>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749599165" name="Google Shape;201;p54"/>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ext" preserve="0" showMasterPhAnim="0" showMasterSp="1" userDrawn="1">
  <p:cSld name="CUSTOM_8">
    <p:spTree>
      <p:nvGrpSpPr>
        <p:cNvPr id="1" name=""/>
        <p:cNvGrpSpPr/>
        <p:nvPr/>
      </p:nvGrpSpPr>
      <p:grpSpPr bwMode="auto">
        <a:xfrm>
          <a:off x="0" y="0"/>
          <a:ext cx="0" cy="0"/>
          <a:chOff x="0" y="0"/>
          <a:chExt cx="0" cy="0"/>
        </a:xfrm>
      </p:grpSpPr>
      <p:sp>
        <p:nvSpPr>
          <p:cNvPr id="260968674" name="Google Shape;203;p55"/>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2960244" name="Google Shape;204;p55"/>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315585858" name="Google Shape;205;p55"/>
          <p:cNvSpPr txBox="1"/>
          <p:nvPr>
            <p:ph type="body" idx="1"/>
          </p:nvPr>
        </p:nvSpPr>
        <p:spPr bwMode="auto">
          <a:xfrm>
            <a:off x="3306200" y="2227588"/>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pPr>
              <a:defRPr/>
            </a:pPr>
            <a:endParaRPr/>
          </a:p>
        </p:txBody>
      </p:sp>
      <p:sp>
        <p:nvSpPr>
          <p:cNvPr id="274267005" name="Google Shape;206;p55"/>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435725213" name="Google Shape;207;p55"/>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892702421" name="Google Shape;208;p55"/>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34720139" name="Google Shape;209;p55"/>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144548170" name="Google Shape;210;p55"/>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485012640" name="Google Shape;211;p55"/>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91864037" name="Google Shape;212;p55"/>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974422307" name="Google Shape;213;p55"/>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468023759" name="Google Shape;214;p55"/>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65320623" name="Google Shape;215;p55"/>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618004447" name="Google Shape;216;p55"/>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600999641" name="Google Shape;217;p55"/>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910161685" name="Google Shape;218;p55"/>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689444925" name="Google Shape;219;p55"/>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1745073595" name="Google Shape;220;p55"/>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412911799" name="Google Shape;221;p55"/>
          <p:cNvSpPr txBox="1"/>
          <p:nvPr>
            <p:ph type="title" idx="2"/>
          </p:nvPr>
        </p:nvSpPr>
        <p:spPr bwMode="auto">
          <a:xfrm flipH="1">
            <a:off x="2091200" y="2372263"/>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pPr>
              <a:defRPr/>
            </a:pPr>
            <a:endParaRPr/>
          </a:p>
        </p:txBody>
      </p:sp>
      <p:sp>
        <p:nvSpPr>
          <p:cNvPr id="597978668" name="Google Shape;222;p55"/>
          <p:cNvSpPr txBox="1"/>
          <p:nvPr>
            <p:ph type="body" idx="3"/>
          </p:nvPr>
        </p:nvSpPr>
        <p:spPr bwMode="auto">
          <a:xfrm>
            <a:off x="3739600" y="3164425"/>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a:pPr>
              <a:defRPr/>
            </a:pPr>
            <a:endParaRPr/>
          </a:p>
        </p:txBody>
      </p:sp>
      <p:sp>
        <p:nvSpPr>
          <p:cNvPr id="1000569510" name="Google Shape;223;p55"/>
          <p:cNvSpPr txBox="1"/>
          <p:nvPr>
            <p:ph type="title" idx="4"/>
          </p:nvPr>
        </p:nvSpPr>
        <p:spPr bwMode="auto">
          <a:xfrm flipH="1">
            <a:off x="2524600" y="3309175"/>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a:pPr>
              <a:defRPr/>
            </a:pPr>
            <a:endParaRPr/>
          </a:p>
        </p:txBody>
      </p:sp>
      <p:sp>
        <p:nvSpPr>
          <p:cNvPr id="11651260" name="Google Shape;224;p55"/>
          <p:cNvSpPr txBox="1"/>
          <p:nvPr>
            <p:ph type="subTitle" idx="5"/>
          </p:nvPr>
        </p:nvSpPr>
        <p:spPr bwMode="auto">
          <a:xfrm>
            <a:off x="1672200" y="1245150"/>
            <a:ext cx="5922000" cy="54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Numbers and text" preserve="0" showMasterPhAnim="0" showMasterSp="1" userDrawn="1">
  <p:cSld name="CUSTOM_7">
    <p:spTree>
      <p:nvGrpSpPr>
        <p:cNvPr id="1" name=""/>
        <p:cNvGrpSpPr/>
        <p:nvPr/>
      </p:nvGrpSpPr>
      <p:grpSpPr bwMode="auto">
        <a:xfrm>
          <a:off x="0" y="0"/>
          <a:ext cx="0" cy="0"/>
          <a:chOff x="0" y="0"/>
          <a:chExt cx="0" cy="0"/>
        </a:xfrm>
      </p:grpSpPr>
      <p:sp>
        <p:nvSpPr>
          <p:cNvPr id="1193159445" name="Google Shape;226;p56"/>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64207620" name="Google Shape;227;p56"/>
          <p:cNvSpPr/>
          <p:nvPr/>
        </p:nvSpPr>
        <p:spPr bwMode="auto">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451513533" name="Google Shape;228;p56"/>
          <p:cNvSpPr txBox="1"/>
          <p:nvPr>
            <p:ph type="title"/>
          </p:nvPr>
        </p:nvSpPr>
        <p:spPr bwMode="auto">
          <a:xfrm>
            <a:off x="1134200" y="686250"/>
            <a:ext cx="5341200" cy="63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000">
                <a:solidFill>
                  <a:schemeClr val="dk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endParaRPr/>
          </a:p>
        </p:txBody>
      </p:sp>
      <p:sp>
        <p:nvSpPr>
          <p:cNvPr id="1117972403" name="Google Shape;229;p56"/>
          <p:cNvSpPr txBox="1"/>
          <p:nvPr>
            <p:ph type="subTitle" idx="1"/>
          </p:nvPr>
        </p:nvSpPr>
        <p:spPr bwMode="auto">
          <a:xfrm>
            <a:off x="1664475" y="1323750"/>
            <a:ext cx="48108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8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pPr>
              <a:defRPr/>
            </a:pPr>
            <a:endParaRPr/>
          </a:p>
        </p:txBody>
      </p:sp>
      <p:sp>
        <p:nvSpPr>
          <p:cNvPr id="383264256" name="Google Shape;230;p56"/>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956811404" name="Google Shape;231;p56"/>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108012831" name="Google Shape;232;p56"/>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710918354" name="Google Shape;233;p56"/>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580335122" name="Google Shape;234;p56"/>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432820605" name="Google Shape;235;p56"/>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2063041156" name="Google Shape;236;p56"/>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725741851" name="Google Shape;237;p56"/>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726863404" name="Google Shape;238;p56"/>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603967155" name="Google Shape;239;p56"/>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049096372" name="Google Shape;240;p56"/>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369946093" name="Google Shape;241;p56"/>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05722064" name="Google Shape;242;p56"/>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2085551263" name="Google Shape;243;p56"/>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308144645" name="Google Shape;244;p56"/>
          <p:cNvSpPr txBox="1"/>
          <p:nvPr>
            <p:ph type="title" idx="2"/>
          </p:nvPr>
        </p:nvSpPr>
        <p:spPr bwMode="auto">
          <a:xfrm>
            <a:off x="2100875" y="2016175"/>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endParaRPr/>
          </a:p>
        </p:txBody>
      </p:sp>
      <p:sp>
        <p:nvSpPr>
          <p:cNvPr id="1863082261" name="Google Shape;245;p56"/>
          <p:cNvSpPr txBox="1"/>
          <p:nvPr>
            <p:ph type="subTitle" idx="3"/>
          </p:nvPr>
        </p:nvSpPr>
        <p:spPr bwMode="auto">
          <a:xfrm>
            <a:off x="2100875" y="2506366"/>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pPr>
              <a:defRPr/>
            </a:pPr>
            <a:endParaRPr/>
          </a:p>
        </p:txBody>
      </p:sp>
      <p:sp>
        <p:nvSpPr>
          <p:cNvPr id="1598457518" name="Google Shape;246;p56"/>
          <p:cNvSpPr txBox="1"/>
          <p:nvPr>
            <p:ph type="title" idx="4"/>
          </p:nvPr>
        </p:nvSpPr>
        <p:spPr bwMode="auto">
          <a:xfrm>
            <a:off x="2100875" y="3013959"/>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endParaRPr/>
          </a:p>
        </p:txBody>
      </p:sp>
      <p:sp>
        <p:nvSpPr>
          <p:cNvPr id="2035422579" name="Google Shape;247;p56"/>
          <p:cNvSpPr txBox="1"/>
          <p:nvPr>
            <p:ph type="subTitle" idx="5"/>
          </p:nvPr>
        </p:nvSpPr>
        <p:spPr bwMode="auto">
          <a:xfrm>
            <a:off x="2100875" y="3504150"/>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pPr>
              <a:defRPr/>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1844804132" name="Google Shape;249;p57"/>
          <p:cNvSpPr txBox="1"/>
          <p:nvPr>
            <p:ph type="title"/>
          </p:nvPr>
        </p:nvSpPr>
        <p:spPr bwMode="auto">
          <a:xfrm>
            <a:off x="710125" y="542575"/>
            <a:ext cx="3861900" cy="142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774833393" name="Google Shape;251;p58"/>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123477128" name="Google Shape;252;p58"/>
          <p:cNvSpPr/>
          <p:nvPr/>
        </p:nvSpPr>
        <p:spPr bwMode="auto">
          <a:xfrm>
            <a:off x="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69151353" name="Google Shape;253;p58"/>
          <p:cNvSpPr txBox="1"/>
          <p:nvPr>
            <p:ph type="title"/>
          </p:nvPr>
        </p:nvSpPr>
        <p:spPr bwMode="auto">
          <a:xfrm>
            <a:off x="2673350" y="1194150"/>
            <a:ext cx="4281300" cy="162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pPr>
              <a:defRPr/>
            </a:pPr>
            <a:endParaRPr/>
          </a:p>
        </p:txBody>
      </p:sp>
      <p:sp>
        <p:nvSpPr>
          <p:cNvPr id="1374057954" name="Google Shape;254;p58"/>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547665795" name="Google Shape;255;p58"/>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942747061" name="Google Shape;256;p58"/>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216179158" name="Google Shape;257;p58"/>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209733408" name="Google Shape;258;p58"/>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567384668" name="Google Shape;259;p58"/>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771306176" name="Google Shape;260;p58"/>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679076624" name="Google Shape;261;p58"/>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664709392" name="Google Shape;262;p58"/>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087067084" name="Google Shape;263;p58"/>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867774722" name="Google Shape;264;p58"/>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070880502" name="Google Shape;265;p58"/>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351583318" name="Google Shape;266;p58"/>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317027306" name="Google Shape;267;p58"/>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1796381698" name="Google Shape;269;p59"/>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283697005" name="Google Shape;270;p59"/>
          <p:cNvSpPr/>
          <p:nvPr/>
        </p:nvSpPr>
        <p:spPr bwMode="auto">
          <a:xfrm>
            <a:off x="457200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068627927" name="Google Shape;271;p59"/>
          <p:cNvSpPr txBox="1"/>
          <p:nvPr>
            <p:ph type="subTitle" idx="1"/>
          </p:nvPr>
        </p:nvSpPr>
        <p:spPr bwMode="auto">
          <a:xfrm>
            <a:off x="1674500" y="2736550"/>
            <a:ext cx="3627600" cy="1017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pPr>
              <a:defRPr/>
            </a:pPr>
            <a:endParaRPr/>
          </a:p>
        </p:txBody>
      </p:sp>
      <p:sp>
        <p:nvSpPr>
          <p:cNvPr id="391330577" name="Google Shape;272;p59"/>
          <p:cNvSpPr txBox="1"/>
          <p:nvPr>
            <p:ph type="title"/>
          </p:nvPr>
        </p:nvSpPr>
        <p:spPr bwMode="auto">
          <a:xfrm>
            <a:off x="1154275" y="1137700"/>
            <a:ext cx="3969900" cy="142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213628636" name="Google Shape;273;p59"/>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201269922" name="Google Shape;274;p59"/>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409889021" name="Google Shape;275;p59"/>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228267726" name="Google Shape;276;p59"/>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243524852" name="Google Shape;277;p59"/>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60226209" name="Google Shape;278;p59"/>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902427586" name="Google Shape;279;p59"/>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292166244" name="Google Shape;280;p59"/>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360558578" name="Google Shape;281;p59"/>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796930434" name="Google Shape;282;p59"/>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53714758" name="Google Shape;283;p59"/>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100464320" name="Google Shape;284;p59"/>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946784614" name="Google Shape;285;p59"/>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775004646" name="Google Shape;286;p59"/>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2056405086" name="Google Shape;288;p60"/>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325405915" name="Google Shape;289;p60"/>
          <p:cNvSpPr/>
          <p:nvPr/>
        </p:nvSpPr>
        <p:spPr bwMode="auto">
          <a:xfrm>
            <a:off x="0" y="0"/>
            <a:ext cx="4572000" cy="592799"/>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73916914" name="Google Shape;290;p60"/>
          <p:cNvSpPr txBox="1"/>
          <p:nvPr>
            <p:ph type="title" hasCustomPrompt="1"/>
          </p:nvPr>
        </p:nvSpPr>
        <p:spPr bwMode="auto">
          <a:xfrm>
            <a:off x="1084225" y="1311425"/>
            <a:ext cx="6379200" cy="1018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pPr>
              <a:defRPr/>
            </a:pPr>
            <a:r>
              <a:rPr/>
              <a:t>xx%</a:t>
            </a:r>
            <a:endParaRPr/>
          </a:p>
        </p:txBody>
      </p:sp>
      <p:sp>
        <p:nvSpPr>
          <p:cNvPr id="1669707820" name="Google Shape;291;p60"/>
          <p:cNvSpPr txBox="1"/>
          <p:nvPr>
            <p:ph type="body" idx="1"/>
          </p:nvPr>
        </p:nvSpPr>
        <p:spPr bwMode="auto">
          <a:xfrm>
            <a:off x="1554225" y="2486925"/>
            <a:ext cx="6689100" cy="5280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800">
                <a:solidFill>
                  <a:schemeClr val="accent3"/>
                </a:solidFill>
              </a:defRPr>
            </a:lvl1pPr>
            <a:lvl2pPr marL="914400" lvl="1" indent="-317500" algn="ctr">
              <a:lnSpc>
                <a:spcPct val="100000"/>
              </a:lnSpc>
              <a:spcBef>
                <a:spcPts val="0"/>
              </a:spcBef>
              <a:spcAft>
                <a:spcPts val="0"/>
              </a:spcAft>
              <a:buSzPts val="1400"/>
              <a:buChar char="○"/>
              <a:defRPr/>
            </a:lvl2pPr>
            <a:lvl3pPr marL="1371600" lvl="2" indent="-317500" algn="ctr">
              <a:lnSpc>
                <a:spcPct val="100000"/>
              </a:lnSpc>
              <a:spcBef>
                <a:spcPts val="0"/>
              </a:spcBef>
              <a:spcAft>
                <a:spcPts val="0"/>
              </a:spcAft>
              <a:buSzPts val="1400"/>
              <a:buChar char="■"/>
              <a:defRPr/>
            </a:lvl3pPr>
            <a:lvl4pPr marL="1828800" lvl="3" indent="-317500" algn="ctr">
              <a:lnSpc>
                <a:spcPct val="100000"/>
              </a:lnSpc>
              <a:spcBef>
                <a:spcPts val="0"/>
              </a:spcBef>
              <a:spcAft>
                <a:spcPts val="0"/>
              </a:spcAft>
              <a:buSzPts val="1400"/>
              <a:buChar char="●"/>
              <a:defRPr/>
            </a:lvl4pPr>
            <a:lvl5pPr marL="2286000" lvl="4" indent="-317500" algn="ctr">
              <a:lnSpc>
                <a:spcPct val="100000"/>
              </a:lnSpc>
              <a:spcBef>
                <a:spcPts val="0"/>
              </a:spcBef>
              <a:spcAft>
                <a:spcPts val="0"/>
              </a:spcAft>
              <a:buSzPts val="1400"/>
              <a:buChar char="○"/>
              <a:defRPr/>
            </a:lvl5pPr>
            <a:lvl6pPr marL="2743200" lvl="5" indent="-317500" algn="ctr">
              <a:lnSpc>
                <a:spcPct val="100000"/>
              </a:lnSpc>
              <a:spcBef>
                <a:spcPts val="0"/>
              </a:spcBef>
              <a:spcAft>
                <a:spcPts val="0"/>
              </a:spcAft>
              <a:buSzPts val="1400"/>
              <a:buChar char="■"/>
              <a:defRPr/>
            </a:lvl6pPr>
            <a:lvl7pPr marL="3200400" lvl="6" indent="-317500" algn="ctr">
              <a:lnSpc>
                <a:spcPct val="100000"/>
              </a:lnSpc>
              <a:spcBef>
                <a:spcPts val="0"/>
              </a:spcBef>
              <a:spcAft>
                <a:spcPts val="0"/>
              </a:spcAft>
              <a:buSzPts val="1400"/>
              <a:buChar char="●"/>
              <a:defRPr/>
            </a:lvl7pPr>
            <a:lvl8pPr marL="3657600" lvl="7" indent="-317500" algn="ctr">
              <a:lnSpc>
                <a:spcPct val="100000"/>
              </a:lnSpc>
              <a:spcBef>
                <a:spcPts val="0"/>
              </a:spcBef>
              <a:spcAft>
                <a:spcPts val="0"/>
              </a:spcAft>
              <a:buSzPts val="1400"/>
              <a:buChar char="○"/>
              <a:defRPr/>
            </a:lvl8pPr>
            <a:lvl9pPr marL="4114800" lvl="8" indent="-317500" algn="ctr">
              <a:lnSpc>
                <a:spcPct val="100000"/>
              </a:lnSpc>
              <a:spcBef>
                <a:spcPts val="0"/>
              </a:spcBef>
              <a:spcAft>
                <a:spcPts val="0"/>
              </a:spcAft>
              <a:buSzPts val="1400"/>
              <a:buChar char="■"/>
              <a:defRPr/>
            </a:lvl9pPr>
          </a:lstStyle>
          <a:p>
            <a:pPr>
              <a:defRPr/>
            </a:pPr>
            <a:endParaRPr/>
          </a:p>
        </p:txBody>
      </p:sp>
      <p:sp>
        <p:nvSpPr>
          <p:cNvPr id="435375616" name="Google Shape;292;p60"/>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401094969" name="Google Shape;293;p60"/>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928924156" name="Google Shape;294;p60"/>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593140661" name="Google Shape;295;p60"/>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999866899" name="Google Shape;296;p60"/>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629310574" name="Google Shape;297;p60"/>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613081955" name="Google Shape;298;p60"/>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273758828" name="Google Shape;299;p60"/>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479088850" name="Google Shape;300;p60"/>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609865649" name="Google Shape;301;p60"/>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782378036" name="Google Shape;302;p60"/>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809396535" name="Google Shape;303;p60"/>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121870387" name="Google Shape;304;p60"/>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633308864" name="Google Shape;305;p60"/>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Quote" preserve="0" showMasterPhAnim="0" showMasterSp="1" userDrawn="1">
  <p:cSld name="CUSTOM_2">
    <p:spTree>
      <p:nvGrpSpPr>
        <p:cNvPr id="1" name=""/>
        <p:cNvGrpSpPr/>
        <p:nvPr/>
      </p:nvGrpSpPr>
      <p:grpSpPr bwMode="auto">
        <a:xfrm>
          <a:off x="0" y="0"/>
          <a:ext cx="0" cy="0"/>
          <a:chOff x="0" y="0"/>
          <a:chExt cx="0" cy="0"/>
        </a:xfrm>
      </p:grpSpPr>
      <p:sp>
        <p:nvSpPr>
          <p:cNvPr id="902049186" name="Google Shape;307;p61"/>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354778859" name="Google Shape;308;p61"/>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011992894" name="Google Shape;309;p61"/>
          <p:cNvSpPr txBox="1"/>
          <p:nvPr>
            <p:ph type="title"/>
          </p:nvPr>
        </p:nvSpPr>
        <p:spPr bwMode="auto">
          <a:xfrm>
            <a:off x="1752950" y="3005100"/>
            <a:ext cx="6109200" cy="37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4200"/>
              <a:buNone/>
              <a:defRPr sz="1800">
                <a:solidFill>
                  <a:schemeClr val="dk2"/>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pPr>
              <a:defRPr/>
            </a:pPr>
            <a:endParaRPr/>
          </a:p>
        </p:txBody>
      </p:sp>
      <p:sp>
        <p:nvSpPr>
          <p:cNvPr id="1013341977" name="Google Shape;310;p61"/>
          <p:cNvSpPr txBox="1"/>
          <p:nvPr>
            <p:ph type="subTitle" idx="1"/>
          </p:nvPr>
        </p:nvSpPr>
        <p:spPr bwMode="auto">
          <a:xfrm>
            <a:off x="1752950" y="1764900"/>
            <a:ext cx="6109200" cy="124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2000">
                <a:solidFill>
                  <a:schemeClr val="accent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52134265" name="Google Shape;311;p61"/>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165721170" name="Google Shape;312;p61"/>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789286212" name="Google Shape;313;p61"/>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219767535" name="Google Shape;314;p61"/>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689153963" name="Google Shape;315;p61"/>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541939455" name="Google Shape;316;p61"/>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516395155" name="Google Shape;317;p61"/>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835599964" name="Google Shape;318;p61"/>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956127973" name="Google Shape;319;p61"/>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048068047" name="Google Shape;320;p61"/>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301915799" name="Google Shape;321;p61"/>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680688647" name="Google Shape;322;p61"/>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143894018" name="Google Shape;323;p61"/>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594439841" name="Google Shape;324;p61"/>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six columns" preserve="0" showMasterPhAnim="0" showMasterSp="1" userDrawn="1">
  <p:cSld name="CUSTOM_6">
    <p:spTree>
      <p:nvGrpSpPr>
        <p:cNvPr id="1" name=""/>
        <p:cNvGrpSpPr/>
        <p:nvPr/>
      </p:nvGrpSpPr>
      <p:grpSpPr bwMode="auto">
        <a:xfrm>
          <a:off x="0" y="0"/>
          <a:ext cx="0" cy="0"/>
          <a:chOff x="0" y="0"/>
          <a:chExt cx="0" cy="0"/>
        </a:xfrm>
      </p:grpSpPr>
      <p:sp>
        <p:nvSpPr>
          <p:cNvPr id="967925064" name="Google Shape;326;p62"/>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16926654" name="Google Shape;327;p62"/>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14920272" name="Google Shape;328;p62"/>
          <p:cNvSpPr txBox="1"/>
          <p:nvPr>
            <p:ph type="subTitle" idx="1"/>
          </p:nvPr>
        </p:nvSpPr>
        <p:spPr bwMode="auto">
          <a:xfrm>
            <a:off x="1679425" y="1587644"/>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964008088" name="Google Shape;329;p62"/>
          <p:cNvSpPr txBox="1"/>
          <p:nvPr>
            <p:ph type="subTitle" idx="2"/>
          </p:nvPr>
        </p:nvSpPr>
        <p:spPr bwMode="auto">
          <a:xfrm>
            <a:off x="1679425" y="126990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842594624" name="Google Shape;330;p62"/>
          <p:cNvSpPr txBox="1"/>
          <p:nvPr>
            <p:ph type="subTitle" idx="3"/>
          </p:nvPr>
        </p:nvSpPr>
        <p:spPr bwMode="auto">
          <a:xfrm>
            <a:off x="2536285" y="3541351"/>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215926305" name="Google Shape;331;p62"/>
          <p:cNvSpPr txBox="1"/>
          <p:nvPr>
            <p:ph type="subTitle" idx="4"/>
          </p:nvPr>
        </p:nvSpPr>
        <p:spPr bwMode="auto">
          <a:xfrm>
            <a:off x="2536286" y="322145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2096547157" name="Google Shape;332;p62"/>
          <p:cNvSpPr txBox="1"/>
          <p:nvPr>
            <p:ph type="subTitle" idx="5"/>
          </p:nvPr>
        </p:nvSpPr>
        <p:spPr bwMode="auto">
          <a:xfrm>
            <a:off x="4994100" y="1577676"/>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2081250498" name="Google Shape;333;p62"/>
          <p:cNvSpPr txBox="1"/>
          <p:nvPr>
            <p:ph type="subTitle" idx="6"/>
          </p:nvPr>
        </p:nvSpPr>
        <p:spPr bwMode="auto">
          <a:xfrm>
            <a:off x="4994100" y="12577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350914815" name="Google Shape;334;p62"/>
          <p:cNvSpPr txBox="1"/>
          <p:nvPr>
            <p:ph type="subTitle" idx="7"/>
          </p:nvPr>
        </p:nvSpPr>
        <p:spPr bwMode="auto">
          <a:xfrm>
            <a:off x="2099975"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437447206" name="Google Shape;335;p62"/>
          <p:cNvSpPr txBox="1"/>
          <p:nvPr>
            <p:ph type="subTitle" idx="8"/>
          </p:nvPr>
        </p:nvSpPr>
        <p:spPr bwMode="auto">
          <a:xfrm>
            <a:off x="2099975"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2094522893" name="Google Shape;336;p62"/>
          <p:cNvSpPr txBox="1"/>
          <p:nvPr>
            <p:ph type="subTitle" idx="9"/>
          </p:nvPr>
        </p:nvSpPr>
        <p:spPr bwMode="auto">
          <a:xfrm>
            <a:off x="5414650"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1861214489" name="Google Shape;337;p62"/>
          <p:cNvSpPr txBox="1"/>
          <p:nvPr>
            <p:ph type="subTitle" idx="13"/>
          </p:nvPr>
        </p:nvSpPr>
        <p:spPr bwMode="auto">
          <a:xfrm>
            <a:off x="5414650"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5170123" name="Google Shape;338;p62"/>
          <p:cNvSpPr txBox="1"/>
          <p:nvPr>
            <p:ph type="subTitle" idx="14"/>
          </p:nvPr>
        </p:nvSpPr>
        <p:spPr bwMode="auto">
          <a:xfrm>
            <a:off x="5846735" y="355131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a:pPr>
              <a:defRPr/>
            </a:pPr>
            <a:endParaRPr/>
          </a:p>
        </p:txBody>
      </p:sp>
      <p:sp>
        <p:nvSpPr>
          <p:cNvPr id="1192230622" name="Google Shape;339;p62"/>
          <p:cNvSpPr txBox="1"/>
          <p:nvPr>
            <p:ph type="subTitle" idx="15"/>
          </p:nvPr>
        </p:nvSpPr>
        <p:spPr bwMode="auto">
          <a:xfrm>
            <a:off x="5846736" y="32335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pPr>
              <a:defRPr/>
            </a:pPr>
            <a:endParaRPr/>
          </a:p>
        </p:txBody>
      </p:sp>
      <p:sp>
        <p:nvSpPr>
          <p:cNvPr id="1800441174" name="Google Shape;340;p62"/>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710675569" name="Google Shape;341;p62"/>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619366794" name="Google Shape;342;p62"/>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528870266" name="Google Shape;343;p62"/>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456457712" name="Google Shape;344;p62"/>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698499345" name="Google Shape;345;p62"/>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301409340" name="Google Shape;346;p62"/>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640239146" name="Google Shape;347;p62"/>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913722613" name="Google Shape;348;p62"/>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742296919" name="Google Shape;349;p62"/>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850314733" name="Google Shape;350;p62"/>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602133581" name="Google Shape;351;p62"/>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66493612" name="Google Shape;352;p62"/>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622704095" name="Google Shape;353;p62"/>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1884122914" name="Google Shape;354;p62"/>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ext 1" preserve="0" showMasterPhAnim="0" showMasterSp="1" userDrawn="1">
  <p:cSld name="CUSTOM_9_1">
    <p:spTree>
      <p:nvGrpSpPr>
        <p:cNvPr id="1" name=""/>
        <p:cNvGrpSpPr/>
        <p:nvPr/>
      </p:nvGrpSpPr>
      <p:grpSpPr bwMode="auto">
        <a:xfrm>
          <a:off x="0" y="0"/>
          <a:ext cx="0" cy="0"/>
          <a:chOff x="0" y="0"/>
          <a:chExt cx="0" cy="0"/>
        </a:xfrm>
      </p:grpSpPr>
      <p:sp>
        <p:nvSpPr>
          <p:cNvPr id="1555436332" name="Google Shape;356;p63"/>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59710112" name="Google Shape;357;p63"/>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498890924" name="Google Shape;358;p63"/>
          <p:cNvSpPr txBox="1"/>
          <p:nvPr>
            <p:ph type="subTitle" idx="1"/>
          </p:nvPr>
        </p:nvSpPr>
        <p:spPr bwMode="auto">
          <a:xfrm>
            <a:off x="1667256" y="2355825"/>
            <a:ext cx="2891100" cy="156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sz="1600">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a:pPr>
              <a:defRPr/>
            </a:pPr>
            <a:endParaRPr/>
          </a:p>
        </p:txBody>
      </p:sp>
      <p:sp>
        <p:nvSpPr>
          <p:cNvPr id="1213662082" name="Google Shape;359;p63"/>
          <p:cNvSpPr txBox="1"/>
          <p:nvPr>
            <p:ph type="title"/>
          </p:nvPr>
        </p:nvSpPr>
        <p:spPr bwMode="auto">
          <a:xfrm>
            <a:off x="1121875" y="1183919"/>
            <a:ext cx="2891100" cy="112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
        <p:nvSpPr>
          <p:cNvPr id="1868019638" name="Google Shape;360;p63"/>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845633776" name="Google Shape;361;p63"/>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809202413" name="Google Shape;362;p63"/>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999815552" name="Google Shape;363;p63"/>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488186582" name="Google Shape;364;p63"/>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846007270" name="Google Shape;365;p63"/>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14037084" name="Google Shape;366;p63"/>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628659519" name="Google Shape;367;p63"/>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769266617" name="Google Shape;368;p63"/>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203383487" name="Google Shape;369;p63"/>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497556388" name="Google Shape;370;p63"/>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903684861" name="Google Shape;371;p63"/>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420506633" name="Google Shape;372;p63"/>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981309375" name="Google Shape;373;p63"/>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hanks" preserve="0" showMasterPhAnim="0" showMasterSp="1" userDrawn="1">
  <p:cSld name="CUSTOM_1">
    <p:spTree>
      <p:nvGrpSpPr>
        <p:cNvPr id="1" name=""/>
        <p:cNvGrpSpPr/>
        <p:nvPr/>
      </p:nvGrpSpPr>
      <p:grpSpPr bwMode="auto">
        <a:xfrm>
          <a:off x="0" y="0"/>
          <a:ext cx="0" cy="0"/>
          <a:chOff x="0" y="0"/>
          <a:chExt cx="0" cy="0"/>
        </a:xfrm>
      </p:grpSpPr>
      <p:sp>
        <p:nvSpPr>
          <p:cNvPr id="1883762208" name="Google Shape;375;p64"/>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94160142" name="Google Shape;376;p64"/>
          <p:cNvSpPr/>
          <p:nvPr/>
        </p:nvSpPr>
        <p:spPr bwMode="auto">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08168692" name="Google Shape;377;p64"/>
          <p:cNvSpPr txBox="1"/>
          <p:nvPr>
            <p:ph type="ctrTitle"/>
          </p:nvPr>
        </p:nvSpPr>
        <p:spPr bwMode="auto">
          <a:xfrm>
            <a:off x="1139125" y="582056"/>
            <a:ext cx="3064500" cy="53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52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pPr>
              <a:defRPr/>
            </a:pPr>
            <a:endParaRPr/>
          </a:p>
        </p:txBody>
      </p:sp>
      <p:sp>
        <p:nvSpPr>
          <p:cNvPr id="747268897" name="Google Shape;378;p64"/>
          <p:cNvSpPr txBox="1"/>
          <p:nvPr>
            <p:ph type="subTitle" idx="1"/>
          </p:nvPr>
        </p:nvSpPr>
        <p:spPr bwMode="auto">
          <a:xfrm>
            <a:off x="2064825" y="1695725"/>
            <a:ext cx="3720600" cy="702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359787489" name="Google Shape;379;p64"/>
          <p:cNvSpPr txBox="1"/>
          <p:nvPr>
            <p:ph type="subTitle" idx="2"/>
          </p:nvPr>
        </p:nvSpPr>
        <p:spPr bwMode="auto">
          <a:xfrm>
            <a:off x="1570575" y="1261025"/>
            <a:ext cx="4572000" cy="434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0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423089239" name="Google Shape;380;p64"/>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1838402287" name="Google Shape;381;p64"/>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31975815" name="Google Shape;382;p64"/>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249394087" name="Google Shape;383;p64"/>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797227762" name="Google Shape;384;p64"/>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2108977647" name="Google Shape;385;p64"/>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1636969039" name="Google Shape;386;p64"/>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03407338" name="Google Shape;387;p64"/>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662639488" name="Google Shape;388;p64"/>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431870033" name="Google Shape;389;p64"/>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836710950" name="Google Shape;390;p64"/>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433889484" name="Google Shape;391;p64"/>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1321933132" name="Google Shape;392;p64"/>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519905437" name="Google Shape;393;p64"/>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31549189" name="Google Shape;394;p64"/>
          <p:cNvSpPr txBox="1"/>
          <p:nvPr/>
        </p:nvSpPr>
        <p:spPr bwMode="auto">
          <a:xfrm>
            <a:off x="2912425" y="3087263"/>
            <a:ext cx="4418100" cy="63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defRPr/>
            </a:pPr>
            <a:r>
              <a:rPr lang="en-GB" sz="1200" b="0" i="0" u="none" strike="noStrike" cap="none">
                <a:solidFill>
                  <a:schemeClr val="accent3"/>
                </a:solidFill>
                <a:latin typeface="Fira Code"/>
                <a:ea typeface="Fira Code"/>
                <a:cs typeface="Fira Code"/>
              </a:rPr>
              <a:t>CREDITS: This presentation template was created by </a:t>
            </a:r>
            <a:r>
              <a:rPr lang="en-GB" sz="1200" b="1" i="0" u="sng" strike="noStrike" cap="none">
                <a:solidFill>
                  <a:schemeClr val="accent3"/>
                </a:solidFill>
                <a:latin typeface="Fira Code"/>
                <a:ea typeface="Fira Code"/>
                <a:cs typeface="Fira Code"/>
                <a:hlinkClick r:id="rId2" tooltip=""/>
              </a:rPr>
              <a:t>Slidesgo</a:t>
            </a:r>
            <a:r>
              <a:rPr lang="en-GB" sz="1200" b="0" i="0" u="none" strike="noStrike" cap="none">
                <a:solidFill>
                  <a:schemeClr val="accent3"/>
                </a:solidFill>
                <a:latin typeface="Fira Code"/>
                <a:ea typeface="Fira Code"/>
                <a:cs typeface="Fira Code"/>
              </a:rPr>
              <a:t>, including icons by </a:t>
            </a:r>
            <a:r>
              <a:rPr lang="en-GB" sz="1200" b="1" i="0" u="sng" strike="noStrike" cap="none">
                <a:solidFill>
                  <a:schemeClr val="accent3"/>
                </a:solidFill>
                <a:latin typeface="Fira Code"/>
                <a:ea typeface="Fira Code"/>
                <a:cs typeface="Fira Code"/>
                <a:hlinkClick r:id="rId3" tooltip=""/>
              </a:rPr>
              <a:t>Flaticon</a:t>
            </a:r>
            <a:r>
              <a:rPr lang="en-GB" sz="1200" b="0" i="0" u="none" strike="noStrike" cap="none">
                <a:solidFill>
                  <a:schemeClr val="accent3"/>
                </a:solidFill>
                <a:latin typeface="Fira Code"/>
                <a:ea typeface="Fira Code"/>
                <a:cs typeface="Fira Code"/>
              </a:rPr>
              <a:t>, and infographics &amp; images by </a:t>
            </a:r>
            <a:r>
              <a:rPr lang="en-GB" sz="1200" b="1" i="0" u="sng" strike="noStrike" cap="none">
                <a:solidFill>
                  <a:schemeClr val="accent3"/>
                </a:solidFill>
                <a:latin typeface="Fira Code"/>
                <a:ea typeface="Fira Code"/>
                <a:cs typeface="Fira Code"/>
                <a:hlinkClick r:id="rId4" tooltip=""/>
              </a:rPr>
              <a:t>Freepik</a:t>
            </a:r>
            <a:endParaRPr sz="1200" b="1" i="0" u="sng" strike="noStrike" cap="none">
              <a:solidFill>
                <a:schemeClr val="accent3"/>
              </a:solidFill>
              <a:latin typeface="Fira Code"/>
              <a:ea typeface="Fira Code"/>
              <a:cs typeface="Fira Code"/>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ext 2" preserve="0" showMasterPhAnim="0" showMasterSp="1" userDrawn="1">
  <p:cSld name="CUSTOM_9_1_1">
    <p:spTree>
      <p:nvGrpSpPr>
        <p:cNvPr id="1" name=""/>
        <p:cNvGrpSpPr/>
        <p:nvPr/>
      </p:nvGrpSpPr>
      <p:grpSpPr bwMode="auto">
        <a:xfrm>
          <a:off x="0" y="0"/>
          <a:ext cx="0" cy="0"/>
          <a:chOff x="0" y="0"/>
          <a:chExt cx="0" cy="0"/>
        </a:xfrm>
      </p:grpSpPr>
      <p:sp>
        <p:nvSpPr>
          <p:cNvPr id="1466560690" name="Google Shape;396;p65"/>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51436626" name="Google Shape;397;p65"/>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682837373" name="Google Shape;398;p65"/>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924886616" name="Google Shape;399;p65"/>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640240912" name="Google Shape;400;p65"/>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338720454" name="Google Shape;401;p65"/>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1750811054" name="Google Shape;402;p65"/>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780100129" name="Google Shape;403;p65"/>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553485820" name="Google Shape;404;p65"/>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1477767782" name="Google Shape;405;p65"/>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2061147301" name="Google Shape;406;p65"/>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920379435" name="Google Shape;407;p65"/>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58875633" name="Google Shape;408;p65"/>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317516853" name="Google Shape;409;p65"/>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533368280" name="Google Shape;410;p65"/>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283536518" name="Google Shape;411;p65"/>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
        <p:nvSpPr>
          <p:cNvPr id="522798206" name="Google Shape;412;p65"/>
          <p:cNvSpPr txBox="1"/>
          <p:nvPr>
            <p:ph type="body" idx="1"/>
          </p:nvPr>
        </p:nvSpPr>
        <p:spPr bwMode="auto">
          <a:xfrm>
            <a:off x="2090500" y="1956600"/>
            <a:ext cx="5111399" cy="21096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accent3"/>
              </a:buClr>
              <a:buSzPts val="1400"/>
              <a:buChar char="∗"/>
              <a:defRPr sz="2000">
                <a:solidFill>
                  <a:schemeClr val="accent3"/>
                </a:solidFill>
              </a:defRPr>
            </a:lvl1pPr>
            <a:lvl2pPr marL="914400" lvl="1" indent="-330200" algn="l">
              <a:lnSpc>
                <a:spcPct val="100000"/>
              </a:lnSpc>
              <a:spcBef>
                <a:spcPts val="0"/>
              </a:spcBef>
              <a:spcAft>
                <a:spcPts val="0"/>
              </a:spcAft>
              <a:buClr>
                <a:schemeClr val="accent3"/>
              </a:buClr>
              <a:buSzPts val="1600"/>
              <a:buFont typeface="Montserrat"/>
              <a:buChar char="○"/>
              <a:defRPr sz="1200">
                <a:solidFill>
                  <a:schemeClr val="accent3"/>
                </a:solidFill>
              </a:defRPr>
            </a:lvl2pPr>
            <a:lvl3pPr marL="1371600" lvl="2" indent="-330200" algn="l">
              <a:lnSpc>
                <a:spcPct val="100000"/>
              </a:lnSpc>
              <a:spcBef>
                <a:spcPts val="0"/>
              </a:spcBef>
              <a:spcAft>
                <a:spcPts val="0"/>
              </a:spcAft>
              <a:buClr>
                <a:schemeClr val="accent3"/>
              </a:buClr>
              <a:buSzPts val="1600"/>
              <a:buFont typeface="Montserrat"/>
              <a:buChar char="■"/>
              <a:defRPr>
                <a:solidFill>
                  <a:schemeClr val="accent3"/>
                </a:solidFill>
              </a:defRPr>
            </a:lvl3pPr>
            <a:lvl4pPr marL="1828800" lvl="3" indent="-330200" algn="l">
              <a:lnSpc>
                <a:spcPct val="100000"/>
              </a:lnSpc>
              <a:spcBef>
                <a:spcPts val="0"/>
              </a:spcBef>
              <a:spcAft>
                <a:spcPts val="0"/>
              </a:spcAft>
              <a:buClr>
                <a:schemeClr val="accent3"/>
              </a:buClr>
              <a:buSzPts val="1600"/>
              <a:buFont typeface="Montserrat"/>
              <a:buChar char="●"/>
              <a:defRPr>
                <a:solidFill>
                  <a:schemeClr val="accent3"/>
                </a:solidFill>
              </a:defRPr>
            </a:lvl4pPr>
            <a:lvl5pPr marL="2286000" lvl="4" indent="-330200" algn="l">
              <a:lnSpc>
                <a:spcPct val="100000"/>
              </a:lnSpc>
              <a:spcBef>
                <a:spcPts val="0"/>
              </a:spcBef>
              <a:spcAft>
                <a:spcPts val="0"/>
              </a:spcAft>
              <a:buClr>
                <a:schemeClr val="accent3"/>
              </a:buClr>
              <a:buSzPts val="1600"/>
              <a:buFont typeface="Montserrat"/>
              <a:buChar char="○"/>
              <a:defRPr>
                <a:solidFill>
                  <a:schemeClr val="accent3"/>
                </a:solidFill>
              </a:defRPr>
            </a:lvl5pPr>
            <a:lvl6pPr marL="2743200" lvl="5" indent="-330200" algn="l">
              <a:lnSpc>
                <a:spcPct val="100000"/>
              </a:lnSpc>
              <a:spcBef>
                <a:spcPts val="0"/>
              </a:spcBef>
              <a:spcAft>
                <a:spcPts val="0"/>
              </a:spcAft>
              <a:buClr>
                <a:schemeClr val="accent3"/>
              </a:buClr>
              <a:buSzPts val="1600"/>
              <a:buFont typeface="Montserrat"/>
              <a:buChar char="■"/>
              <a:defRPr>
                <a:solidFill>
                  <a:schemeClr val="accent3"/>
                </a:solidFill>
              </a:defRPr>
            </a:lvl6pPr>
            <a:lvl7pPr marL="3200400" lvl="6" indent="-330200" algn="l">
              <a:lnSpc>
                <a:spcPct val="100000"/>
              </a:lnSpc>
              <a:spcBef>
                <a:spcPts val="0"/>
              </a:spcBef>
              <a:spcAft>
                <a:spcPts val="0"/>
              </a:spcAft>
              <a:buClr>
                <a:schemeClr val="accent3"/>
              </a:buClr>
              <a:buSzPts val="1600"/>
              <a:buFont typeface="Montserrat"/>
              <a:buChar char="●"/>
              <a:defRPr>
                <a:solidFill>
                  <a:schemeClr val="accent3"/>
                </a:solidFill>
              </a:defRPr>
            </a:lvl7pPr>
            <a:lvl8pPr marL="3657600" lvl="7" indent="-330200" algn="l">
              <a:lnSpc>
                <a:spcPct val="100000"/>
              </a:lnSpc>
              <a:spcBef>
                <a:spcPts val="0"/>
              </a:spcBef>
              <a:spcAft>
                <a:spcPts val="0"/>
              </a:spcAft>
              <a:buClr>
                <a:schemeClr val="accent3"/>
              </a:buClr>
              <a:buSzPts val="1600"/>
              <a:buFont typeface="Montserrat"/>
              <a:buChar char="○"/>
              <a:defRPr>
                <a:solidFill>
                  <a:schemeClr val="accent3"/>
                </a:solidFill>
              </a:defRPr>
            </a:lvl8pPr>
            <a:lvl9pPr marL="4114800" lvl="8" indent="-330200" algn="l">
              <a:lnSpc>
                <a:spcPct val="100000"/>
              </a:lnSpc>
              <a:spcBef>
                <a:spcPts val="0"/>
              </a:spcBef>
              <a:spcAft>
                <a:spcPts val="0"/>
              </a:spcAft>
              <a:buClr>
                <a:schemeClr val="accent3"/>
              </a:buClr>
              <a:buSzPts val="1600"/>
              <a:buFont typeface="Montserrat"/>
              <a:buChar char="■"/>
              <a:defRPr>
                <a:solidFill>
                  <a:schemeClr val="accent3"/>
                </a:solidFill>
              </a:defRPr>
            </a:lvl9pPr>
          </a:lstStyle>
          <a:p>
            <a:pPr>
              <a:defRPr/>
            </a:pPr>
            <a:endParaRPr/>
          </a:p>
        </p:txBody>
      </p:sp>
      <p:sp>
        <p:nvSpPr>
          <p:cNvPr id="293899140" name="Google Shape;413;p65"/>
          <p:cNvSpPr txBox="1"/>
          <p:nvPr>
            <p:ph type="subTitle" idx="2"/>
          </p:nvPr>
        </p:nvSpPr>
        <p:spPr bwMode="auto">
          <a:xfrm>
            <a:off x="1676975" y="1309850"/>
            <a:ext cx="54507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2000"/>
              <a:buNone/>
              <a:defRPr>
                <a:solidFill>
                  <a:schemeClr val="accent3"/>
                </a:solidFill>
              </a:defRPr>
            </a:lvl1pPr>
            <a:lvl2pPr lvl="1" algn="ctr">
              <a:lnSpc>
                <a:spcPct val="100000"/>
              </a:lnSpc>
              <a:spcBef>
                <a:spcPts val="0"/>
              </a:spcBef>
              <a:spcAft>
                <a:spcPts val="0"/>
              </a:spcAft>
              <a:buClr>
                <a:schemeClr val="accent3"/>
              </a:buClr>
              <a:buSzPts val="2000"/>
              <a:buNone/>
              <a:defRPr sz="2000" b="1">
                <a:solidFill>
                  <a:schemeClr val="accent3"/>
                </a:solidFill>
              </a:defRPr>
            </a:lvl2pPr>
            <a:lvl3pPr lvl="2" algn="ctr">
              <a:lnSpc>
                <a:spcPct val="100000"/>
              </a:lnSpc>
              <a:spcBef>
                <a:spcPts val="0"/>
              </a:spcBef>
              <a:spcAft>
                <a:spcPts val="0"/>
              </a:spcAft>
              <a:buClr>
                <a:schemeClr val="accent3"/>
              </a:buClr>
              <a:buSzPts val="2000"/>
              <a:buNone/>
              <a:defRPr sz="2000" b="1">
                <a:solidFill>
                  <a:schemeClr val="accent3"/>
                </a:solidFill>
              </a:defRPr>
            </a:lvl3pPr>
            <a:lvl4pPr lvl="3" algn="ctr">
              <a:lnSpc>
                <a:spcPct val="100000"/>
              </a:lnSpc>
              <a:spcBef>
                <a:spcPts val="0"/>
              </a:spcBef>
              <a:spcAft>
                <a:spcPts val="0"/>
              </a:spcAft>
              <a:buClr>
                <a:schemeClr val="accent3"/>
              </a:buClr>
              <a:buSzPts val="2000"/>
              <a:buNone/>
              <a:defRPr sz="2000" b="1">
                <a:solidFill>
                  <a:schemeClr val="accent3"/>
                </a:solidFill>
              </a:defRPr>
            </a:lvl4pPr>
            <a:lvl5pPr lvl="4" algn="ctr">
              <a:lnSpc>
                <a:spcPct val="100000"/>
              </a:lnSpc>
              <a:spcBef>
                <a:spcPts val="0"/>
              </a:spcBef>
              <a:spcAft>
                <a:spcPts val="0"/>
              </a:spcAft>
              <a:buClr>
                <a:schemeClr val="accent3"/>
              </a:buClr>
              <a:buSzPts val="2000"/>
              <a:buNone/>
              <a:defRPr sz="2000" b="1">
                <a:solidFill>
                  <a:schemeClr val="accent3"/>
                </a:solidFill>
              </a:defRPr>
            </a:lvl5pPr>
            <a:lvl6pPr lvl="5" algn="ctr">
              <a:lnSpc>
                <a:spcPct val="100000"/>
              </a:lnSpc>
              <a:spcBef>
                <a:spcPts val="0"/>
              </a:spcBef>
              <a:spcAft>
                <a:spcPts val="0"/>
              </a:spcAft>
              <a:buClr>
                <a:schemeClr val="accent3"/>
              </a:buClr>
              <a:buSzPts val="2000"/>
              <a:buNone/>
              <a:defRPr sz="2000" b="1">
                <a:solidFill>
                  <a:schemeClr val="accent3"/>
                </a:solidFill>
              </a:defRPr>
            </a:lvl6pPr>
            <a:lvl7pPr lvl="6" algn="ctr">
              <a:lnSpc>
                <a:spcPct val="100000"/>
              </a:lnSpc>
              <a:spcBef>
                <a:spcPts val="0"/>
              </a:spcBef>
              <a:spcAft>
                <a:spcPts val="0"/>
              </a:spcAft>
              <a:buClr>
                <a:schemeClr val="accent3"/>
              </a:buClr>
              <a:buSzPts val="2000"/>
              <a:buNone/>
              <a:defRPr sz="2000" b="1">
                <a:solidFill>
                  <a:schemeClr val="accent3"/>
                </a:solidFill>
              </a:defRPr>
            </a:lvl7pPr>
            <a:lvl8pPr lvl="7" algn="ctr">
              <a:lnSpc>
                <a:spcPct val="100000"/>
              </a:lnSpc>
              <a:spcBef>
                <a:spcPts val="0"/>
              </a:spcBef>
              <a:spcAft>
                <a:spcPts val="0"/>
              </a:spcAft>
              <a:buClr>
                <a:schemeClr val="accent3"/>
              </a:buClr>
              <a:buSzPts val="2000"/>
              <a:buNone/>
              <a:defRPr sz="2000" b="1">
                <a:solidFill>
                  <a:schemeClr val="accent3"/>
                </a:solidFill>
              </a:defRPr>
            </a:lvl8pPr>
            <a:lvl9pPr lvl="8" algn="ctr">
              <a:lnSpc>
                <a:spcPct val="100000"/>
              </a:lnSpc>
              <a:spcBef>
                <a:spcPts val="0"/>
              </a:spcBef>
              <a:spcAft>
                <a:spcPts val="0"/>
              </a:spcAft>
              <a:buClr>
                <a:schemeClr val="accent3"/>
              </a:buClr>
              <a:buSzPts val="2000"/>
              <a:buNone/>
              <a:defRPr sz="2000" b="1">
                <a:solidFill>
                  <a:schemeClr val="accent3"/>
                </a:solidFill>
              </a:defRPr>
            </a:lvl9pPr>
          </a:lstStyle>
          <a:p>
            <a:pPr>
              <a:defRPr/>
            </a:pPr>
            <a:endParaRPr/>
          </a:p>
        </p:txBody>
      </p:sp>
      <p:sp>
        <p:nvSpPr>
          <p:cNvPr id="1542911340" name="Google Shape;414;p65"/>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pPr>
              <a:defRPr/>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bg>
      <p:bgPr shadeToTitle="0">
        <a:solidFill>
          <a:schemeClr val="accent6"/>
        </a:solidFill>
      </p:bgPr>
    </p:bg>
    <p:spTree>
      <p:nvGrpSpPr>
        <p:cNvPr id="1" name=""/>
        <p:cNvGrpSpPr/>
        <p:nvPr/>
      </p:nvGrpSpPr>
      <p:grpSpPr bwMode="auto">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 preserve="0" showMasterPhAnim="0" showMasterSp="1" userDrawn="1">
  <p:cSld name="CUSTOM_9">
    <p:spTree>
      <p:nvGrpSpPr>
        <p:cNvPr id="1" name=""/>
        <p:cNvGrpSpPr/>
        <p:nvPr/>
      </p:nvGrpSpPr>
      <p:grpSpPr bwMode="auto">
        <a:xfrm>
          <a:off x="0" y="0"/>
          <a:ext cx="0" cy="0"/>
          <a:chOff x="0" y="0"/>
          <a:chExt cx="0" cy="0"/>
        </a:xfrm>
      </p:grpSpPr>
      <p:sp>
        <p:nvSpPr>
          <p:cNvPr id="890911160" name="Google Shape;417;p69"/>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43496789" name="Google Shape;418;p69"/>
          <p:cNvSpPr/>
          <p:nvPr/>
        </p:nvSpPr>
        <p:spPr bwMode="auto">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974497045" name="Google Shape;419;p69"/>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497488858" name="Google Shape;420;p69"/>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1049493342" name="Google Shape;421;p69"/>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889472581" name="Google Shape;422;p69"/>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67105362" name="Google Shape;423;p69"/>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664840201" name="Google Shape;424;p69"/>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786580955" name="Google Shape;425;p69"/>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841243484" name="Google Shape;426;p69"/>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1750476686" name="Google Shape;427;p69"/>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1561124817" name="Google Shape;428;p69"/>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380852131" name="Google Shape;429;p69"/>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30700442" name="Google Shape;430;p69"/>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2003299455" name="Google Shape;431;p69"/>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332076064" name="Google Shape;432;p69"/>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ackground  1" preserve="0" showMasterPhAnim="0" showMasterSp="1" userDrawn="1">
  <p:cSld name="CUSTOM_9_2">
    <p:spTree>
      <p:nvGrpSpPr>
        <p:cNvPr id="1" name=""/>
        <p:cNvGrpSpPr/>
        <p:nvPr/>
      </p:nvGrpSpPr>
      <p:grpSpPr bwMode="auto">
        <a:xfrm>
          <a:off x="0" y="0"/>
          <a:ext cx="0" cy="0"/>
          <a:chOff x="0" y="0"/>
          <a:chExt cx="0" cy="0"/>
        </a:xfrm>
      </p:grpSpPr>
      <p:sp>
        <p:nvSpPr>
          <p:cNvPr id="1398945239" name="Google Shape;434;p70"/>
          <p:cNvSpPr/>
          <p:nvPr/>
        </p:nvSpPr>
        <p:spPr bwMode="auto">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864386071" name="Google Shape;435;p70"/>
          <p:cNvSpPr/>
          <p:nvPr/>
        </p:nvSpPr>
        <p:spPr bwMode="auto">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77248098" name="Google Shape;436;p70"/>
          <p:cNvSpPr txBox="1"/>
          <p:nvPr/>
        </p:nvSpPr>
        <p:spPr bwMode="auto">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a:t>
            </a:r>
            <a:endParaRPr sz="1400" b="0" i="0" u="none" strike="noStrike" cap="none">
              <a:solidFill>
                <a:srgbClr val="707070"/>
              </a:solidFill>
              <a:latin typeface="Fira Code"/>
              <a:ea typeface="Fira Code"/>
              <a:cs typeface="Fira Code"/>
            </a:endParaRPr>
          </a:p>
        </p:txBody>
      </p:sp>
      <p:sp>
        <p:nvSpPr>
          <p:cNvPr id="539143518" name="Google Shape;437;p70"/>
          <p:cNvSpPr txBox="1"/>
          <p:nvPr/>
        </p:nvSpPr>
        <p:spPr bwMode="auto">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2</a:t>
            </a:r>
            <a:endParaRPr sz="1400" b="0" i="0" u="none" strike="noStrike" cap="none">
              <a:solidFill>
                <a:srgbClr val="707070"/>
              </a:solidFill>
              <a:latin typeface="Fira Code"/>
              <a:ea typeface="Fira Code"/>
              <a:cs typeface="Fira Code"/>
            </a:endParaRPr>
          </a:p>
        </p:txBody>
      </p:sp>
      <p:sp>
        <p:nvSpPr>
          <p:cNvPr id="247239332" name="Google Shape;438;p70"/>
          <p:cNvSpPr txBox="1"/>
          <p:nvPr/>
        </p:nvSpPr>
        <p:spPr bwMode="auto">
          <a:xfrm>
            <a:off x="710125" y="1273349"/>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3</a:t>
            </a:r>
            <a:endParaRPr sz="1400" b="0" i="0" u="none" strike="noStrike" cap="none">
              <a:solidFill>
                <a:srgbClr val="707070"/>
              </a:solidFill>
              <a:latin typeface="Fira Code"/>
              <a:ea typeface="Fira Code"/>
              <a:cs typeface="Fira Code"/>
            </a:endParaRPr>
          </a:p>
        </p:txBody>
      </p:sp>
      <p:sp>
        <p:nvSpPr>
          <p:cNvPr id="172086243" name="Google Shape;439;p70"/>
          <p:cNvSpPr txBox="1"/>
          <p:nvPr/>
        </p:nvSpPr>
        <p:spPr bwMode="auto">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4</a:t>
            </a:r>
            <a:endParaRPr sz="1400" b="0" i="0" u="none" strike="noStrike" cap="none">
              <a:solidFill>
                <a:srgbClr val="707070"/>
              </a:solidFill>
              <a:latin typeface="Fira Code"/>
              <a:ea typeface="Fira Code"/>
              <a:cs typeface="Fira Code"/>
            </a:endParaRPr>
          </a:p>
        </p:txBody>
      </p:sp>
      <p:sp>
        <p:nvSpPr>
          <p:cNvPr id="751958044" name="Google Shape;440;p70"/>
          <p:cNvSpPr txBox="1"/>
          <p:nvPr/>
        </p:nvSpPr>
        <p:spPr bwMode="auto">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5</a:t>
            </a:r>
            <a:endParaRPr sz="1400" b="0" i="0" u="none" strike="noStrike" cap="none">
              <a:solidFill>
                <a:srgbClr val="707070"/>
              </a:solidFill>
              <a:latin typeface="Fira Code"/>
              <a:ea typeface="Fira Code"/>
              <a:cs typeface="Fira Code"/>
            </a:endParaRPr>
          </a:p>
        </p:txBody>
      </p:sp>
      <p:sp>
        <p:nvSpPr>
          <p:cNvPr id="1520214995" name="Google Shape;441;p70"/>
          <p:cNvSpPr txBox="1"/>
          <p:nvPr/>
        </p:nvSpPr>
        <p:spPr bwMode="auto">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6</a:t>
            </a:r>
            <a:endParaRPr sz="1400" b="0" i="0" u="none" strike="noStrike" cap="none">
              <a:solidFill>
                <a:srgbClr val="707070"/>
              </a:solidFill>
              <a:latin typeface="Fira Code"/>
              <a:ea typeface="Fira Code"/>
              <a:cs typeface="Fira Code"/>
            </a:endParaRPr>
          </a:p>
        </p:txBody>
      </p:sp>
      <p:sp>
        <p:nvSpPr>
          <p:cNvPr id="393622809" name="Google Shape;442;p70"/>
          <p:cNvSpPr txBox="1"/>
          <p:nvPr/>
        </p:nvSpPr>
        <p:spPr bwMode="auto">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7</a:t>
            </a:r>
            <a:endParaRPr sz="1400" b="0" i="0" u="none" strike="noStrike" cap="none">
              <a:solidFill>
                <a:srgbClr val="707070"/>
              </a:solidFill>
              <a:latin typeface="Fira Code"/>
              <a:ea typeface="Fira Code"/>
              <a:cs typeface="Fira Code"/>
            </a:endParaRPr>
          </a:p>
        </p:txBody>
      </p:sp>
      <p:sp>
        <p:nvSpPr>
          <p:cNvPr id="759155209" name="Google Shape;443;p70"/>
          <p:cNvSpPr txBox="1"/>
          <p:nvPr/>
        </p:nvSpPr>
        <p:spPr bwMode="auto">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8</a:t>
            </a:r>
            <a:endParaRPr sz="1400" b="0" i="0" u="none" strike="noStrike" cap="none">
              <a:solidFill>
                <a:srgbClr val="707070"/>
              </a:solidFill>
              <a:latin typeface="Fira Code"/>
              <a:ea typeface="Fira Code"/>
              <a:cs typeface="Fira Code"/>
            </a:endParaRPr>
          </a:p>
        </p:txBody>
      </p:sp>
      <p:sp>
        <p:nvSpPr>
          <p:cNvPr id="2056610584" name="Google Shape;444;p70"/>
          <p:cNvSpPr txBox="1"/>
          <p:nvPr/>
        </p:nvSpPr>
        <p:spPr bwMode="auto">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9</a:t>
            </a:r>
            <a:endParaRPr sz="1400" b="0" i="0" u="none" strike="noStrike" cap="none">
              <a:solidFill>
                <a:srgbClr val="707070"/>
              </a:solidFill>
              <a:latin typeface="Fira Code"/>
              <a:ea typeface="Fira Code"/>
              <a:cs typeface="Fira Code"/>
            </a:endParaRPr>
          </a:p>
        </p:txBody>
      </p:sp>
      <p:sp>
        <p:nvSpPr>
          <p:cNvPr id="299282336" name="Google Shape;445;p70"/>
          <p:cNvSpPr txBox="1"/>
          <p:nvPr/>
        </p:nvSpPr>
        <p:spPr bwMode="auto">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10</a:t>
            </a:r>
            <a:endParaRPr sz="1400" b="0" i="0" u="none" strike="noStrike" cap="none">
              <a:solidFill>
                <a:srgbClr val="707070"/>
              </a:solidFill>
              <a:latin typeface="Fira Code"/>
              <a:ea typeface="Fira Code"/>
              <a:cs typeface="Fira Code"/>
            </a:endParaRPr>
          </a:p>
        </p:txBody>
      </p:sp>
      <p:sp>
        <p:nvSpPr>
          <p:cNvPr id="1988668651" name="Google Shape;446;p70"/>
          <p:cNvSpPr txBox="1"/>
          <p:nvPr/>
        </p:nvSpPr>
        <p:spPr bwMode="auto">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11</a:t>
            </a:r>
            <a:endParaRPr sz="1400" b="0" i="0" u="none" strike="noStrike" cap="none">
              <a:solidFill>
                <a:srgbClr val="707070"/>
              </a:solidFill>
              <a:latin typeface="Fira Code"/>
              <a:ea typeface="Fira Code"/>
              <a:cs typeface="Fira Code"/>
            </a:endParaRPr>
          </a:p>
        </p:txBody>
      </p:sp>
      <p:sp>
        <p:nvSpPr>
          <p:cNvPr id="1798765825" name="Google Shape;447;p70"/>
          <p:cNvSpPr txBox="1"/>
          <p:nvPr/>
        </p:nvSpPr>
        <p:spPr bwMode="auto">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12</a:t>
            </a:r>
            <a:endParaRPr sz="1400" b="0" i="0" u="none" strike="noStrike" cap="none">
              <a:solidFill>
                <a:srgbClr val="707070"/>
              </a:solidFill>
              <a:latin typeface="Fira Code"/>
              <a:ea typeface="Fira Code"/>
              <a:cs typeface="Fira Code"/>
            </a:endParaRPr>
          </a:p>
        </p:txBody>
      </p:sp>
      <p:sp>
        <p:nvSpPr>
          <p:cNvPr id="557028674" name="Google Shape;448;p70"/>
          <p:cNvSpPr txBox="1"/>
          <p:nvPr/>
        </p:nvSpPr>
        <p:spPr bwMode="auto">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13</a:t>
            </a:r>
            <a:endParaRPr sz="1400" b="0" i="0" u="none" strike="noStrike" cap="none">
              <a:solidFill>
                <a:srgbClr val="707070"/>
              </a:solidFill>
              <a:latin typeface="Fira Code"/>
              <a:ea typeface="Fira Code"/>
              <a:cs typeface="Fira Code"/>
            </a:endParaRPr>
          </a:p>
        </p:txBody>
      </p:sp>
      <p:sp>
        <p:nvSpPr>
          <p:cNvPr id="105038385" name="Google Shape;449;p70"/>
          <p:cNvSpPr txBox="1"/>
          <p:nvPr/>
        </p:nvSpPr>
        <p:spPr bwMode="auto">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r>
              <a:rPr lang="en-GB" sz="1400" b="0" i="0" u="none" strike="noStrike" cap="none">
                <a:solidFill>
                  <a:srgbClr val="707070"/>
                </a:solidFill>
                <a:latin typeface="Fira Code"/>
                <a:ea typeface="Fira Code"/>
                <a:cs typeface="Fira Code"/>
              </a:rPr>
              <a:t>14</a:t>
            </a:r>
            <a:endParaRPr sz="1400" b="0" i="0" u="none" strike="noStrike" cap="none">
              <a:solidFill>
                <a:srgbClr val="707070"/>
              </a:solidFill>
              <a:latin typeface="Fira Code"/>
              <a:ea typeface="Fira Code"/>
              <a:cs typeface="Fira Code"/>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accent5"/>
        </a:solidFill>
      </p:bgPr>
    </p:bg>
    <p:spTree>
      <p:nvGrpSpPr>
        <p:cNvPr id="1" name=""/>
        <p:cNvGrpSpPr/>
        <p:nvPr/>
      </p:nvGrpSpPr>
      <p:grpSpPr bwMode="auto">
        <a:xfrm>
          <a:off x="0" y="0"/>
          <a:ext cx="0" cy="0"/>
          <a:chOff x="0" y="0"/>
          <a:chExt cx="0" cy="0"/>
        </a:xfrm>
      </p:grpSpPr>
      <p:sp>
        <p:nvSpPr>
          <p:cNvPr id="358345476" name="Google Shape;6;p45"/>
          <p:cNvSpPr txBox="1"/>
          <p:nvPr>
            <p:ph type="title"/>
          </p:nvPr>
        </p:nvSpPr>
        <p:spPr bwMode="auto">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a:defRPr/>
            </a:pPr>
            <a:endParaRPr/>
          </a:p>
        </p:txBody>
      </p:sp>
      <p:sp>
        <p:nvSpPr>
          <p:cNvPr id="1131034695" name="Google Shape;7;p45"/>
          <p:cNvSpPr txBox="1"/>
          <p:nvPr>
            <p:ph type="body" idx="1"/>
          </p:nvPr>
        </p:nvSpPr>
        <p:spPr bwMode="auto">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defRPr>
            </a:lvl9pPr>
          </a:lstStyle>
          <a:p>
            <a:pPr>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jpg"/><Relationship Id="rId4" Type="http://schemas.openxmlformats.org/officeDocument/2006/relationships/image" Target="../media/image1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12.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15.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17.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1.png"/><Relationship Id="rId4" Type="http://schemas.openxmlformats.org/officeDocument/2006/relationships/image" Target="../media/image22.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9.png"/><Relationship Id="rId4" Type="http://schemas.openxmlformats.org/officeDocument/2006/relationships/image" Target="../media/image30.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1.png"/><Relationship Id="rId4" Type="http://schemas.openxmlformats.org/officeDocument/2006/relationships/image" Target="../media/image32.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9.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0.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41.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rotWithShape="1">
          <a:blip r:embed="rId3"/>
          <a:stretch/>
        </a:blipFill>
      </p:bgPr>
    </p:bg>
    <p:spTree>
      <p:nvGrpSpPr>
        <p:cNvPr id="1" name=""/>
        <p:cNvGrpSpPr/>
        <p:nvPr/>
      </p:nvGrpSpPr>
      <p:grpSpPr bwMode="auto">
        <a:xfrm>
          <a:off x="0" y="0"/>
          <a:ext cx="0" cy="0"/>
          <a:chOff x="0" y="0"/>
          <a:chExt cx="0" cy="0"/>
        </a:xfrm>
      </p:grpSpPr>
      <p:sp>
        <p:nvSpPr>
          <p:cNvPr id="2090171411" name="Google Shape;813;p13"/>
          <p:cNvSpPr txBox="1"/>
          <p:nvPr>
            <p:ph type="title"/>
          </p:nvPr>
        </p:nvSpPr>
        <p:spPr bwMode="auto">
          <a:xfrm>
            <a:off x="709930" y="542290"/>
            <a:ext cx="4483735" cy="153670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4200"/>
              <a:buNone/>
              <a:defRPr/>
            </a:pPr>
            <a:r>
              <a:rPr lang="en-GB">
                <a:solidFill>
                  <a:schemeClr val="accent2"/>
                </a:solidFill>
              </a:rPr>
              <a:t>‘</a:t>
            </a:r>
            <a:r>
              <a:rPr lang="es-AR" b="1">
                <a:solidFill>
                  <a:schemeClr val="accent2"/>
                </a:solidFill>
              </a:rPr>
              <a:t>Unidad </a:t>
            </a:r>
            <a:r>
              <a:rPr lang="es-MX" b="1">
                <a:solidFill>
                  <a:schemeClr val="accent2"/>
                </a:solidFill>
              </a:rPr>
              <a:t>3</a:t>
            </a:r>
            <a:r>
              <a:rPr lang="es-AR" b="1">
                <a:solidFill>
                  <a:schemeClr val="accent2"/>
                </a:solidFill>
              </a:rPr>
              <a:t>:</a:t>
            </a:r>
            <a:r>
              <a:rPr lang="en-GB">
                <a:solidFill>
                  <a:schemeClr val="accent2"/>
                </a:solidFill>
              </a:rPr>
              <a:t>’</a:t>
            </a:r>
            <a:r>
              <a:rPr lang="en-GB"/>
              <a:t> </a:t>
            </a:r>
            <a:br>
              <a:rPr lang="en-GB"/>
            </a:br>
            <a:r>
              <a:rPr lang="en-GB">
                <a:solidFill>
                  <a:schemeClr val="accent6"/>
                </a:solidFill>
              </a:rPr>
              <a:t>{</a:t>
            </a:r>
            <a:r>
              <a:rPr lang="en-GB"/>
              <a:t> </a:t>
            </a:r>
            <a:r>
              <a:rPr lang="es-AR" b="1">
                <a:solidFill>
                  <a:schemeClr val="accent1"/>
                </a:solidFill>
              </a:rPr>
              <a:t>Desarrollo Web con Javascript</a:t>
            </a:r>
            <a:endParaRPr lang="es-AR" b="1">
              <a:solidFill>
                <a:schemeClr val="accent1"/>
              </a:solidFill>
            </a:endParaRPr>
          </a:p>
        </p:txBody>
      </p:sp>
      <p:grpSp>
        <p:nvGrpSpPr>
          <p:cNvPr id="930519949" name="Group 5"/>
          <p:cNvGrpSpPr/>
          <p:nvPr/>
        </p:nvGrpSpPr>
        <p:grpSpPr bwMode="auto">
          <a:xfrm>
            <a:off x="467360" y="1637030"/>
            <a:ext cx="506095" cy="1088390"/>
            <a:chOff x="1063" y="2494"/>
            <a:chExt cx="797" cy="1714"/>
          </a:xfrm>
        </p:grpSpPr>
        <p:sp>
          <p:nvSpPr>
            <p:cNvPr id="7" name="Google Shape;814;p13"/>
            <p:cNvSpPr txBox="1"/>
            <p:nvPr/>
          </p:nvSpPr>
          <p:spPr bwMode="auto">
            <a:xfrm>
              <a:off x="1063" y="3190"/>
              <a:ext cx="797" cy="1018"/>
            </a:xfrm>
            <a:prstGeom prst="rect">
              <a:avLst/>
            </a:prstGeom>
            <a:noFill/>
            <a:ln>
              <a:noFill/>
            </a:ln>
          </p:spPr>
          <p:txBody>
            <a:bodyPr spcFirstLastPara="1" wrap="square" lIns="91425" tIns="91425" rIns="91425" bIns="91425" anchor="t" anchorCtr="0">
              <a:spAutoFit/>
            </a:bodyPr>
            <a:p>
              <a:pPr marL="0" marR="0" lvl="0" indent="0" algn="ctr" rtl="0">
                <a:lnSpc>
                  <a:spcPct val="100000"/>
                </a:lnSpc>
                <a:spcBef>
                  <a:spcPts val="0"/>
                </a:spcBef>
                <a:spcAft>
                  <a:spcPts val="0"/>
                </a:spcAft>
                <a:buClr>
                  <a:srgbClr val="000000"/>
                </a:buClr>
                <a:buSzPts val="3000"/>
                <a:buFont typeface="Arial"/>
                <a:buNone/>
                <a:defRPr/>
              </a:pPr>
              <a:r>
                <a:rPr lang="en-GB" sz="3000" b="0" i="0" u="none" strike="noStrike" cap="none">
                  <a:solidFill>
                    <a:schemeClr val="accent6"/>
                  </a:solidFill>
                  <a:latin typeface="Fira Code"/>
                  <a:ea typeface="Fira Code"/>
                  <a:cs typeface="Fira Code"/>
                </a:rPr>
                <a:t>}</a:t>
              </a:r>
              <a:endParaRPr sz="3000" b="0" i="0" u="none" strike="noStrike" cap="none">
                <a:solidFill>
                  <a:schemeClr val="accent6"/>
                </a:solidFill>
                <a:latin typeface="Fira Code"/>
                <a:ea typeface="Fira Code"/>
                <a:cs typeface="Fira Code"/>
              </a:endParaRPr>
            </a:p>
          </p:txBody>
        </p:sp>
        <p:cxnSp>
          <p:nvCxnSpPr>
            <p:cNvPr id="8" name="Google Shape;815;p13"/>
            <p:cNvCxnSpPr>
              <a:endCxn id="7" idx="0"/>
            </p:cNvCxnSpPr>
            <p:nvPr/>
          </p:nvCxnSpPr>
          <p:spPr bwMode="auto">
            <a:xfrm>
              <a:off x="1462" y="2494"/>
              <a:ext cx="0" cy="695"/>
            </a:xfrm>
            <a:prstGeom prst="straightConnector1">
              <a:avLst/>
            </a:prstGeom>
            <a:noFill/>
            <a:ln w="9525" cap="flat" cmpd="sng">
              <a:solidFill>
                <a:schemeClr val="accent4"/>
              </a:solidFill>
              <a:prstDash val="solid"/>
              <a:round/>
              <a:headEnd type="none" w="sm" len="sm"/>
              <a:tailEnd type="none" w="sm" len="sm"/>
            </a:ln>
          </p:spPr>
        </p:cxnSp>
      </p:grpSp>
      <p:sp>
        <p:nvSpPr>
          <p:cNvPr id="2037443664" name="CuadroTexto 2"/>
          <p:cNvSpPr txBox="1"/>
          <p:nvPr/>
        </p:nvSpPr>
        <p:spPr bwMode="auto">
          <a:xfrm>
            <a:off x="4293393" y="4098290"/>
            <a:ext cx="4572000" cy="738664"/>
          </a:xfrm>
          <a:prstGeom prst="rect">
            <a:avLst/>
          </a:prstGeom>
          <a:noFill/>
        </p:spPr>
        <p:txBody>
          <a:bodyPr wrap="square">
            <a:spAutoFit/>
          </a:bodyPr>
          <a:p>
            <a:pPr marL="0" marR="0" lvl="0" indent="0" algn="r" rtl="0">
              <a:lnSpc>
                <a:spcPct val="100000"/>
              </a:lnSpc>
              <a:spcBef>
                <a:spcPts val="0"/>
              </a:spcBef>
              <a:spcAft>
                <a:spcPts val="0"/>
              </a:spcAft>
              <a:buClr>
                <a:schemeClr val="dk2"/>
              </a:buClr>
              <a:buSzPts val="2800"/>
              <a:buFont typeface="Fira Code"/>
              <a:buNone/>
              <a:defRPr/>
            </a:pPr>
            <a:r>
              <a:rPr lang="en-GB" sz="1400" b="0" u="none" strike="noStrike" cap="none">
                <a:solidFill>
                  <a:schemeClr val="accent3"/>
                </a:solidFill>
                <a:latin typeface="Fira Code"/>
                <a:ea typeface="Fira Code"/>
                <a:cs typeface="Fira Code"/>
              </a:rPr>
              <a:t>Instituto </a:t>
            </a:r>
            <a:r>
              <a:rPr lang="en-GB" sz="1400" b="0" u="none" strike="noStrike" cap="none">
                <a:solidFill>
                  <a:schemeClr val="accent3"/>
                </a:solidFill>
                <a:latin typeface="Fira Code"/>
                <a:ea typeface="Fira Code"/>
                <a:cs typeface="Fira Code"/>
              </a:rPr>
              <a:t>Politécnico</a:t>
            </a:r>
            <a:r>
              <a:rPr lang="en-GB" sz="1400" b="0" u="none" strike="noStrike" cap="none">
                <a:solidFill>
                  <a:schemeClr val="accent3"/>
                </a:solidFill>
                <a:latin typeface="Fira Code"/>
                <a:ea typeface="Fira Code"/>
                <a:cs typeface="Fira Code"/>
              </a:rPr>
              <a:t> Formosa</a:t>
            </a:r>
            <a:endParaRPr lang="en-GB" sz="1400" b="0" u="none" strike="noStrike" cap="none">
              <a:solidFill>
                <a:schemeClr val="accent3"/>
              </a:solidFill>
              <a:latin typeface="Fira Code"/>
              <a:ea typeface="Fira Code"/>
              <a:cs typeface="Fira Code"/>
            </a:endParaRPr>
          </a:p>
          <a:p>
            <a:pPr marL="0" marR="0" lvl="0" indent="0" algn="r" rtl="0">
              <a:lnSpc>
                <a:spcPct val="100000"/>
              </a:lnSpc>
              <a:spcBef>
                <a:spcPts val="0"/>
              </a:spcBef>
              <a:spcAft>
                <a:spcPts val="0"/>
              </a:spcAft>
              <a:buClr>
                <a:schemeClr val="dk2"/>
              </a:buClr>
              <a:buSzPts val="2800"/>
              <a:buFont typeface="Fira Code"/>
              <a:buNone/>
              <a:defRPr/>
            </a:pPr>
            <a:r>
              <a:rPr lang="en-GB">
                <a:solidFill>
                  <a:schemeClr val="accent3"/>
                </a:solidFill>
                <a:latin typeface="Fira Code"/>
                <a:ea typeface="Fira Code"/>
                <a:cs typeface="Fira Code"/>
              </a:rPr>
              <a:t>Tec. En Desarrollo de Software </a:t>
            </a:r>
            <a:r>
              <a:rPr lang="en-GB">
                <a:solidFill>
                  <a:schemeClr val="accent3"/>
                </a:solidFill>
                <a:latin typeface="Fira Code"/>
                <a:ea typeface="Fira Code"/>
                <a:cs typeface="Fira Code"/>
              </a:rPr>
              <a:t>Multiplataforma</a:t>
            </a:r>
            <a:endParaRPr lang="en-GB" sz="1400" b="0" u="none" strike="noStrike" cap="none">
              <a:solidFill>
                <a:schemeClr val="accent3"/>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053748" name="Google Shape;634;p8"/>
          <p:cNvSpPr txBox="1"/>
          <p:nvPr>
            <p:ph type="title"/>
          </p:nvPr>
        </p:nvSpPr>
        <p:spPr bwMode="auto">
          <a:xfrm>
            <a:off x="1143250" y="582700"/>
            <a:ext cx="72906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defRPr/>
            </a:pPr>
            <a:r>
              <a:rPr lang="es-AR"/>
              <a:t>CONTENIDOS DE LA CLASE</a:t>
            </a:r>
            <a:r>
              <a:rPr lang="en-GB">
                <a:solidFill>
                  <a:schemeClr val="accent2"/>
                </a:solidFill>
              </a:rPr>
              <a:t> </a:t>
            </a:r>
            <a:r>
              <a:rPr lang="en-GB">
                <a:solidFill>
                  <a:schemeClr val="accent6"/>
                </a:solidFill>
              </a:rPr>
              <a:t>{</a:t>
            </a:r>
            <a:endParaRPr>
              <a:solidFill>
                <a:schemeClr val="accent6"/>
              </a:solidFill>
            </a:endParaRPr>
          </a:p>
        </p:txBody>
      </p:sp>
      <p:sp>
        <p:nvSpPr>
          <p:cNvPr id="66303480" name="Google Shape;635;p8"/>
          <p:cNvSpPr txBox="1"/>
          <p:nvPr/>
        </p:nvSpPr>
        <p:spPr bwMode="auto">
          <a:xfrm>
            <a:off x="1084825" y="3954425"/>
            <a:ext cx="5061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800" b="0" i="0" u="none" strike="noStrike" cap="none">
                <a:solidFill>
                  <a:schemeClr val="accent6"/>
                </a:solidFill>
                <a:latin typeface="Fira Code"/>
                <a:ea typeface="Fira Code"/>
                <a:cs typeface="Fira Code"/>
              </a:rPr>
              <a:t>}</a:t>
            </a:r>
            <a:endParaRPr sz="2800" b="0" i="0" u="none" strike="noStrike" cap="none">
              <a:solidFill>
                <a:schemeClr val="accent6"/>
              </a:solidFill>
              <a:latin typeface="Fira Code"/>
              <a:ea typeface="Fira Code"/>
              <a:cs typeface="Fira Code"/>
            </a:endParaRPr>
          </a:p>
        </p:txBody>
      </p:sp>
      <p:sp>
        <p:nvSpPr>
          <p:cNvPr id="320961675"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89525080"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712157383"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314602986"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1544501604" name="Google Shape;638;p8"/>
          <p:cNvSpPr txBox="1"/>
          <p:nvPr/>
        </p:nvSpPr>
        <p:spPr bwMode="auto">
          <a:xfrm>
            <a:off x="2078990" y="1965960"/>
            <a:ext cx="7061200" cy="584200"/>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2000"/>
              <a:buFont typeface="Arial"/>
              <a:buNone/>
              <a:defRPr/>
            </a:pPr>
            <a:r>
              <a:rPr lang="es-AR" sz="1600" b="0" i="0" u="none" strike="noStrike" cap="none">
                <a:solidFill>
                  <a:schemeClr val="lt2"/>
                </a:solidFill>
                <a:latin typeface="Fira Code"/>
                <a:ea typeface="Fira Code"/>
                <a:cs typeface="Fira Code"/>
              </a:rPr>
              <a:t>Introduccion a </a:t>
            </a:r>
            <a:r>
              <a:rPr lang="es-ES" sz="1600" b="0" i="0" u="none" strike="noStrike" cap="none">
                <a:solidFill>
                  <a:schemeClr val="lt2"/>
                </a:solidFill>
                <a:latin typeface="Fira Code"/>
                <a:ea typeface="Fira Code"/>
                <a:cs typeface="Fira Code"/>
              </a:rPr>
              <a:t>JavaScript</a:t>
            </a:r>
            <a:endParaRPr lang="es-ES" sz="1600" b="0" i="0" u="none" strike="noStrike" cap="none">
              <a:solidFill>
                <a:schemeClr val="lt2"/>
              </a:solidFill>
              <a:latin typeface="Fira Code"/>
              <a:ea typeface="Fira Code"/>
              <a:cs typeface="Fira Code"/>
            </a:endParaRPr>
          </a:p>
        </p:txBody>
      </p:sp>
      <p:sp>
        <p:nvSpPr>
          <p:cNvPr id="1149153916" name="Google Shape;640;p8"/>
          <p:cNvSpPr txBox="1"/>
          <p:nvPr/>
        </p:nvSpPr>
        <p:spPr bwMode="auto">
          <a:xfrm>
            <a:off x="2627630" y="2616835"/>
            <a:ext cx="6634480" cy="584200"/>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2000"/>
              <a:buFont typeface="Arial"/>
              <a:buNone/>
              <a:defRPr/>
            </a:pPr>
            <a:r>
              <a:rPr lang="es-ES" sz="1600" b="0" i="0" u="none" strike="noStrike" cap="none">
                <a:solidFill>
                  <a:schemeClr val="dk2"/>
                </a:solidFill>
                <a:latin typeface="Fira Code"/>
                <a:ea typeface="Fira Code"/>
                <a:cs typeface="Fira Code"/>
              </a:rPr>
              <a:t>Fundamentos de JavaScript</a:t>
            </a:r>
            <a:endParaRPr lang="es-ES" sz="1600" b="0" i="0" u="none" strike="noStrike" cap="none">
              <a:solidFill>
                <a:schemeClr val="dk2"/>
              </a:solidFill>
              <a:latin typeface="Fira Code"/>
              <a:ea typeface="Fira Code"/>
              <a:cs typeface="Fira Code"/>
            </a:endParaRPr>
          </a:p>
        </p:txBody>
      </p:sp>
      <p:cxnSp>
        <p:nvCxnSpPr>
          <p:cNvPr id="1626153313" name="Google Shape;647;p8"/>
          <p:cNvCxnSpPr/>
          <p:nvPr/>
        </p:nvCxnSpPr>
        <p:spPr bwMode="auto">
          <a:xfrm>
            <a:off x="1331595" y="1059815"/>
            <a:ext cx="12065" cy="2447925"/>
          </a:xfrm>
          <a:prstGeom prst="straightConnector1">
            <a:avLst/>
          </a:prstGeom>
          <a:noFill/>
          <a:ln w="9525" cap="flat" cmpd="sng">
            <a:solidFill>
              <a:schemeClr val="accent4"/>
            </a:solidFill>
            <a:prstDash val="solid"/>
            <a:round/>
            <a:headEnd type="none" w="sm" len="sm"/>
            <a:tailEnd type="none" w="sm" len="sm"/>
          </a:ln>
        </p:spPr>
      </p:cxnSp>
      <p:cxnSp>
        <p:nvCxnSpPr>
          <p:cNvPr id="1709156913" name="Google Shape;649;p8"/>
          <p:cNvCxnSpPr/>
          <p:nvPr/>
        </p:nvCxnSpPr>
        <p:spPr bwMode="auto">
          <a:xfrm>
            <a:off x="1342320" y="2258420"/>
            <a:ext cx="698400" cy="0"/>
          </a:xfrm>
          <a:prstGeom prst="straightConnector1">
            <a:avLst/>
          </a:prstGeom>
          <a:noFill/>
          <a:ln w="9525" cap="flat" cmpd="sng">
            <a:solidFill>
              <a:schemeClr val="accent4"/>
            </a:solidFill>
            <a:prstDash val="solid"/>
            <a:round/>
            <a:headEnd type="none" w="sm" len="sm"/>
            <a:tailEnd type="none" w="sm" len="sm"/>
          </a:ln>
        </p:spPr>
      </p:cxnSp>
      <p:cxnSp>
        <p:nvCxnSpPr>
          <p:cNvPr id="1917241375" name="Google Shape;653;p8"/>
          <p:cNvCxnSpPr/>
          <p:nvPr/>
        </p:nvCxnSpPr>
        <p:spPr bwMode="auto">
          <a:xfrm>
            <a:off x="1331595" y="2941320"/>
            <a:ext cx="1276350" cy="0"/>
          </a:xfrm>
          <a:prstGeom prst="straightConnector1">
            <a:avLst/>
          </a:prstGeom>
          <a:noFill/>
          <a:ln w="9525" cap="flat" cmpd="sng">
            <a:solidFill>
              <a:schemeClr val="accent4"/>
            </a:solidFill>
            <a:prstDash val="solid"/>
            <a:round/>
            <a:headEnd type="none" w="sm" len="sm"/>
            <a:tailEnd type="none" w="sm" len="sm"/>
          </a:ln>
        </p:spPr>
      </p:cxnSp>
      <p:cxnSp>
        <p:nvCxnSpPr>
          <p:cNvPr id="1594237278" name="Google Shape;653;p8"/>
          <p:cNvCxnSpPr/>
          <p:nvPr/>
        </p:nvCxnSpPr>
        <p:spPr bwMode="auto">
          <a:xfrm>
            <a:off x="1342390" y="3507740"/>
            <a:ext cx="1870710" cy="0"/>
          </a:xfrm>
          <a:prstGeom prst="straightConnector1">
            <a:avLst/>
          </a:prstGeom>
          <a:noFill/>
          <a:ln w="9525" cap="flat" cmpd="sng">
            <a:solidFill>
              <a:schemeClr val="accent4"/>
            </a:solidFill>
            <a:prstDash val="solid"/>
            <a:round/>
            <a:headEnd type="none" w="sm" len="sm"/>
            <a:tailEnd type="none" w="sm" len="sm"/>
          </a:ln>
        </p:spPr>
      </p:cxnSp>
      <p:sp>
        <p:nvSpPr>
          <p:cNvPr id="503055380" name="Google Shape;640;p8"/>
          <p:cNvSpPr txBox="1"/>
          <p:nvPr/>
        </p:nvSpPr>
        <p:spPr bwMode="auto">
          <a:xfrm>
            <a:off x="3213100" y="3201035"/>
            <a:ext cx="5746750" cy="584200"/>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2000"/>
              <a:buFont typeface="Arial"/>
              <a:buNone/>
              <a:defRPr/>
            </a:pPr>
            <a:r>
              <a:rPr lang="es-ES" sz="1600" b="0" i="0" u="none" strike="noStrike" cap="none">
                <a:solidFill>
                  <a:schemeClr val="accent1">
                    <a:lumMod val="75000"/>
                  </a:schemeClr>
                </a:solidFill>
                <a:latin typeface="Fira Code"/>
                <a:ea typeface="Fira Code"/>
                <a:cs typeface="Fira Code"/>
              </a:rPr>
              <a:t>Funciones, Objetos y Arreglos</a:t>
            </a:r>
            <a:endParaRPr lang="es-ES" sz="1600" b="0" i="0" u="none" strike="noStrike" cap="none">
              <a:solidFill>
                <a:schemeClr val="accent1">
                  <a:lumMod val="75000"/>
                </a:schemeClr>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7497513" name="Google Shape;489;p3"/>
          <p:cNvSpPr txBox="1"/>
          <p:nvPr>
            <p:ph type="title" idx="9"/>
          </p:nvPr>
        </p:nvSpPr>
        <p:spPr bwMode="auto">
          <a:xfrm>
            <a:off x="1043305" y="699769"/>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defRPr/>
            </a:pPr>
            <a:r>
              <a:rPr lang="es-AR" sz="2000"/>
              <a:t> </a:t>
            </a:r>
            <a:r>
              <a:rPr lang="en-GB" sz="2000">
                <a:solidFill>
                  <a:schemeClr val="accent6"/>
                </a:solidFill>
              </a:rPr>
              <a:t>{</a:t>
            </a:r>
            <a:endParaRPr sz="2000">
              <a:solidFill>
                <a:schemeClr val="accent6"/>
              </a:solidFill>
            </a:endParaRPr>
          </a:p>
        </p:txBody>
      </p:sp>
      <p:grpSp>
        <p:nvGrpSpPr>
          <p:cNvPr id="828095335" name="Google Shape;490;p3"/>
          <p:cNvGrpSpPr/>
          <p:nvPr/>
        </p:nvGrpSpPr>
        <p:grpSpPr bwMode="auto">
          <a:xfrm>
            <a:off x="1084825" y="1168950"/>
            <a:ext cx="506100" cy="3336020"/>
            <a:chOff x="1084825" y="1168950"/>
            <a:chExt cx="506100" cy="3336020"/>
          </a:xfrm>
        </p:grpSpPr>
        <p:sp>
          <p:nvSpPr>
            <p:cNvPr id="491" name="Google Shape;491;p3"/>
            <p:cNvSpPr txBox="1"/>
            <p:nvPr/>
          </p:nvSpPr>
          <p:spPr bwMode="auto">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400" b="0" i="0" u="none" strike="noStrike" cap="none">
                  <a:solidFill>
                    <a:schemeClr val="accent6"/>
                  </a:solidFill>
                  <a:latin typeface="Fira Code"/>
                  <a:ea typeface="Fira Code"/>
                  <a:cs typeface="Fira Code"/>
                </a:rPr>
                <a:t>}</a:t>
              </a:r>
              <a:endParaRPr lang="en-GB" sz="2400" b="0" i="0" u="none" strike="noStrike" cap="none">
                <a:solidFill>
                  <a:schemeClr val="accent6"/>
                </a:solidFill>
                <a:latin typeface="Fira Code"/>
                <a:ea typeface="Fira Code"/>
                <a:cs typeface="Fira Code"/>
              </a:endParaRPr>
            </a:p>
          </p:txBody>
        </p:sp>
        <p:cxnSp>
          <p:nvCxnSpPr>
            <p:cNvPr id="492" name="Google Shape;492;p3"/>
            <p:cNvCxnSpPr/>
            <p:nvPr/>
          </p:nvCxnSpPr>
          <p:spPr bwMode="auto">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54768635" name="Google Shape;471;p2"/>
          <p:cNvSpPr txBox="1"/>
          <p:nvPr/>
        </p:nvSpPr>
        <p:spPr bwMode="auto">
          <a:xfrm>
            <a:off x="1907540" y="1896745"/>
            <a:ext cx="6356985" cy="13087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2400"/>
              <a:t>[</a:t>
            </a:r>
            <a:r>
              <a:rPr lang="es-MX" sz="2400"/>
              <a:t> </a:t>
            </a:r>
            <a:r>
              <a:rPr lang="es-AR" sz="2400"/>
              <a:t>Introducción a JavaScript</a:t>
            </a:r>
            <a:r>
              <a:rPr lang="es-MX" sz="2400"/>
              <a:t> </a:t>
            </a:r>
            <a:r>
              <a:rPr lang="es-AR" sz="2400"/>
              <a:t>]</a:t>
            </a:r>
            <a:r>
              <a:rPr lang="es-AR" sz="2400"/>
              <a:t> </a:t>
            </a:r>
            <a:r>
              <a:rPr lang="es-AR" sz="2400">
                <a:solidFill>
                  <a:schemeClr val="accent2"/>
                </a:solidFill>
              </a:rPr>
              <a:t> </a:t>
            </a:r>
            <a:endParaRPr lang="es-AR" sz="2400">
              <a:solidFill>
                <a:schemeClr val="accent2"/>
              </a:solidFill>
            </a:endParaRPr>
          </a:p>
        </p:txBody>
      </p:sp>
      <p:sp>
        <p:nvSpPr>
          <p:cNvPr id="63295960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01519221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4474874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5879738" name="Google Shape;458;p1"/>
          <p:cNvSpPr txBox="1"/>
          <p:nvPr>
            <p:ph type="ctrTitle"/>
          </p:nvPr>
        </p:nvSpPr>
        <p:spPr bwMode="auto">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¿Cúal es la historia de JavaScript?</a:t>
            </a:r>
            <a:r>
              <a:rPr lang="en-GB" sz="2000">
                <a:solidFill>
                  <a:schemeClr val="accent3"/>
                </a:solidFill>
              </a:rPr>
              <a:t>{</a:t>
            </a:r>
            <a:endParaRPr sz="2000">
              <a:solidFill>
                <a:schemeClr val="accent3"/>
              </a:solidFill>
            </a:endParaRPr>
          </a:p>
        </p:txBody>
      </p:sp>
      <p:sp>
        <p:nvSpPr>
          <p:cNvPr id="1577077850" name="Google Shape;459;p1"/>
          <p:cNvSpPr txBox="1"/>
          <p:nvPr>
            <p:ph type="subTitle" idx="1"/>
          </p:nvPr>
        </p:nvSpPr>
        <p:spPr bwMode="auto">
          <a:xfrm>
            <a:off x="2170430" y="1131570"/>
            <a:ext cx="6202679" cy="188087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200"/>
              <a:t>&lt; </a:t>
            </a:r>
            <a:r>
              <a:rPr sz="1200"/>
              <a:t>JavaScript fue creado por Brendan Eich en 1995 mientras trabajaba en Netscape Communications Corporation. La idea original era crear un lenguaje de programación que pudiera ejecutarse en el navegador del usuario, lo que permitiría a los desarrolladores crear páginas web interactivas y dinámicas. El primer nombre del lenguaje fue Mocha, </a:t>
            </a:r>
            <a:r>
              <a:rPr sz="1200"/>
              <a:t>En Septiembre de ese año lo renombra a LiveScript hasta que le cambiaron el nombre a JavaScript debido a una estrategia de marketing, ya que Netscape fue adquirida por Sun Microsystems, propietaria del lenguaje Java, muy popular por aquel entonces.</a:t>
            </a:r>
            <a:r>
              <a:rPr lang="es-AR" sz="1200"/>
              <a:t> &gt;</a:t>
            </a:r>
            <a:endParaRPr sz="1200"/>
          </a:p>
          <a:p>
            <a:pPr marL="0" lvl="0" indent="0" algn="l" rtl="0">
              <a:lnSpc>
                <a:spcPct val="100000"/>
              </a:lnSpc>
              <a:spcBef>
                <a:spcPts val="0"/>
              </a:spcBef>
              <a:spcAft>
                <a:spcPts val="0"/>
              </a:spcAft>
              <a:buSzPts val="2800"/>
              <a:buNone/>
              <a:defRPr/>
            </a:pPr>
            <a:endParaRPr sz="1200"/>
          </a:p>
          <a:p>
            <a:pPr marL="0" lvl="0" indent="0" algn="l" rtl="0">
              <a:lnSpc>
                <a:spcPct val="100000"/>
              </a:lnSpc>
              <a:spcBef>
                <a:spcPts val="0"/>
              </a:spcBef>
              <a:spcAft>
                <a:spcPts val="0"/>
              </a:spcAft>
              <a:buSzPts val="2800"/>
              <a:buNone/>
              <a:defRPr/>
            </a:pPr>
            <a:endParaRPr lang="en-GB" sz="1200"/>
          </a:p>
        </p:txBody>
      </p:sp>
      <p:grpSp>
        <p:nvGrpSpPr>
          <p:cNvPr id="719778869"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517317984"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45398388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2127263848" name="Picture 0" descr="cronologia-javascript-1"/>
          <p:cNvPicPr>
            <a:picLocks noChangeAspect="1"/>
          </p:cNvPicPr>
          <p:nvPr/>
        </p:nvPicPr>
        <p:blipFill rotWithShape="1">
          <a:blip r:embed="rId3"/>
          <a:stretch/>
        </p:blipFill>
        <p:spPr bwMode="auto">
          <a:xfrm>
            <a:off x="3506470" y="2715895"/>
            <a:ext cx="3530600" cy="1673860"/>
          </a:xfrm>
          <a:prstGeom prst="rect">
            <a:avLst/>
          </a:prstGeom>
        </p:spPr>
      </p:pic>
      <p:sp>
        <p:nvSpPr>
          <p:cNvPr id="1097780092"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7037963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1518755" name="Google Shape;458;p1"/>
          <p:cNvSpPr txBox="1"/>
          <p:nvPr>
            <p:ph type="ctrTitle"/>
          </p:nvPr>
        </p:nvSpPr>
        <p:spPr bwMode="auto">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¿Cúal es la historia de JavaScript?</a:t>
            </a:r>
            <a:r>
              <a:rPr lang="en-GB" sz="2000">
                <a:solidFill>
                  <a:schemeClr val="accent3"/>
                </a:solidFill>
              </a:rPr>
              <a:t>{</a:t>
            </a:r>
            <a:endParaRPr sz="2000">
              <a:solidFill>
                <a:schemeClr val="accent3"/>
              </a:solidFill>
            </a:endParaRPr>
          </a:p>
        </p:txBody>
      </p:sp>
      <p:sp>
        <p:nvSpPr>
          <p:cNvPr id="1937677226" name="Google Shape;459;p1"/>
          <p:cNvSpPr txBox="1"/>
          <p:nvPr>
            <p:ph type="subTitle" idx="1"/>
          </p:nvPr>
        </p:nvSpPr>
        <p:spPr bwMode="auto">
          <a:xfrm>
            <a:off x="2195830" y="1203325"/>
            <a:ext cx="6202679" cy="173291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100"/>
              <a:t>&lt; </a:t>
            </a:r>
            <a:r>
              <a:rPr lang="en-GB" sz="1100"/>
              <a:t>En febrero de 1996, JavaScript fue adoptado por Microsoft en Internet Explorer, lo que llevó a una rápida expansión de su uso. La especificación de JavaScript fue estandarizada en 1997 por la Ecma International, una organización dedicada a la estandarización de tecnologías de la información y la comunicación. En 1999 aparece la 3a versión del estándar ECMAScript</a:t>
            </a:r>
            <a:r>
              <a:rPr lang="es-AR" sz="1100"/>
              <a:t>.</a:t>
            </a:r>
            <a:r>
              <a:rPr lang="en-GB" sz="1100"/>
              <a:t> Hubo pequeños intentos de escribir la versión 4, pero hasta 2011 no se aprobó y se estandarizó la versíon 5 (ES5)</a:t>
            </a:r>
            <a:r>
              <a:rPr lang="es-AR" sz="1100"/>
              <a:t>. </a:t>
            </a:r>
            <a:r>
              <a:rPr lang="en-GB" sz="1100"/>
              <a:t>En junio de 2013 quedó parado el borrador de la versión 6, pero en Diciembre de 2014 se aprobó al fin y  a partir de Junio de 2015</a:t>
            </a:r>
            <a:r>
              <a:rPr lang="es-AR" sz="1100"/>
              <a:t> fue la sexta versión importante del estándar ECMAScript y trajo consigo una serie de nuevas características y mejoras significativas para el lenguaje de programación JavaScript. </a:t>
            </a:r>
            <a:r>
              <a:rPr lang="en-GB" sz="1100"/>
              <a:t>.&gt;</a:t>
            </a:r>
            <a:endParaRPr sz="1100"/>
          </a:p>
          <a:p>
            <a:pPr marL="0" lvl="0" indent="0" algn="l" rtl="0">
              <a:lnSpc>
                <a:spcPct val="100000"/>
              </a:lnSpc>
              <a:spcBef>
                <a:spcPts val="0"/>
              </a:spcBef>
              <a:spcAft>
                <a:spcPts val="0"/>
              </a:spcAft>
              <a:buSzPts val="2800"/>
              <a:buNone/>
              <a:defRPr/>
            </a:pPr>
            <a:endParaRPr sz="1100"/>
          </a:p>
          <a:p>
            <a:pPr marL="0" lvl="0" indent="0" algn="l" rtl="0">
              <a:lnSpc>
                <a:spcPct val="100000"/>
              </a:lnSpc>
              <a:spcBef>
                <a:spcPts val="0"/>
              </a:spcBef>
              <a:spcAft>
                <a:spcPts val="0"/>
              </a:spcAft>
              <a:buSzPts val="2800"/>
              <a:buNone/>
              <a:defRPr/>
            </a:pPr>
            <a:endParaRPr lang="en-GB" sz="1100"/>
          </a:p>
        </p:txBody>
      </p:sp>
      <p:grpSp>
        <p:nvGrpSpPr>
          <p:cNvPr id="192973084"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730248487"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28633750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468471193" name="Picture 0" descr="cronologia-javascript-1"/>
          <p:cNvPicPr>
            <a:picLocks noChangeAspect="1"/>
          </p:cNvPicPr>
          <p:nvPr/>
        </p:nvPicPr>
        <p:blipFill rotWithShape="1">
          <a:blip r:embed="rId3"/>
          <a:stretch/>
        </p:blipFill>
        <p:spPr bwMode="auto">
          <a:xfrm>
            <a:off x="1909445" y="2699385"/>
            <a:ext cx="3215640" cy="1524635"/>
          </a:xfrm>
          <a:prstGeom prst="rect">
            <a:avLst/>
          </a:prstGeom>
        </p:spPr>
      </p:pic>
      <p:pic>
        <p:nvPicPr>
          <p:cNvPr id="1133027513" name="Picture 2" descr="cronologia-javascript-2"/>
          <p:cNvPicPr>
            <a:picLocks noChangeAspect="1"/>
          </p:cNvPicPr>
          <p:nvPr/>
        </p:nvPicPr>
        <p:blipFill rotWithShape="1">
          <a:blip r:embed="rId4"/>
          <a:stretch/>
        </p:blipFill>
        <p:spPr bwMode="auto">
          <a:xfrm>
            <a:off x="5575300" y="2724785"/>
            <a:ext cx="3110865" cy="1499235"/>
          </a:xfrm>
          <a:prstGeom prst="rect">
            <a:avLst/>
          </a:prstGeom>
        </p:spPr>
      </p:pic>
      <p:sp>
        <p:nvSpPr>
          <p:cNvPr id="330861580"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76018327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0273089" name="Google Shape;458;p1"/>
          <p:cNvSpPr txBox="1"/>
          <p:nvPr>
            <p:ph type="ctrTitle"/>
          </p:nvPr>
        </p:nvSpPr>
        <p:spPr bwMode="auto">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¿Con qué objetivo fue creado? </a:t>
            </a:r>
            <a:r>
              <a:rPr lang="en-GB" sz="2000">
                <a:solidFill>
                  <a:schemeClr val="accent3"/>
                </a:solidFill>
              </a:rPr>
              <a:t>{</a:t>
            </a:r>
            <a:endParaRPr sz="2000">
              <a:solidFill>
                <a:schemeClr val="accent3"/>
              </a:solidFill>
            </a:endParaRPr>
          </a:p>
        </p:txBody>
      </p:sp>
      <p:sp>
        <p:nvSpPr>
          <p:cNvPr id="1511573880" name="Google Shape;459;p1"/>
          <p:cNvSpPr txBox="1"/>
          <p:nvPr>
            <p:ph type="subTitle" idx="1"/>
          </p:nvPr>
        </p:nvSpPr>
        <p:spPr bwMode="auto">
          <a:xfrm>
            <a:off x="2123440" y="1297305"/>
            <a:ext cx="6202679" cy="271208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200"/>
              <a:t>&lt; </a:t>
            </a:r>
            <a:r>
              <a:rPr sz="1200"/>
              <a:t>JavaScript fue creado con el objetivo de agregar interactividad y dinamismo a las páginas web. Cuando se desarrolló </a:t>
            </a:r>
            <a:r>
              <a:rPr lang="es-AR" sz="1200"/>
              <a:t>y</a:t>
            </a:r>
            <a:r>
              <a:rPr sz="1200"/>
              <a:t> se llamó "LiveScript"</a:t>
            </a:r>
            <a:r>
              <a:rPr lang="es-AR" sz="1200"/>
              <a:t>, </a:t>
            </a:r>
            <a:r>
              <a:rPr sz="1200"/>
              <a:t>se diseñó para ser una extensión de Java para agregar interactividad a las páginas web. Más tarde</a:t>
            </a:r>
            <a:r>
              <a:rPr lang="es-AR" sz="1200"/>
              <a:t> cuando se</a:t>
            </a:r>
            <a:r>
              <a:rPr sz="1200"/>
              <a:t> renombró a JavaScript</a:t>
            </a:r>
            <a:r>
              <a:rPr lang="es-AR" sz="1200"/>
              <a:t>, se</a:t>
            </a:r>
            <a:r>
              <a:rPr sz="1200"/>
              <a:t> desarrolló para ser un lenguaje de programación independiente para la web.</a:t>
            </a:r>
            <a:endParaRPr sz="1200"/>
          </a:p>
          <a:p>
            <a:pPr marL="0" lvl="0" indent="0" algn="l" rtl="0">
              <a:lnSpc>
                <a:spcPct val="100000"/>
              </a:lnSpc>
              <a:spcBef>
                <a:spcPts val="0"/>
              </a:spcBef>
              <a:spcAft>
                <a:spcPts val="0"/>
              </a:spcAft>
              <a:buSzPts val="2800"/>
              <a:buNone/>
              <a:defRPr/>
            </a:pPr>
            <a:endParaRPr sz="1200"/>
          </a:p>
          <a:p>
            <a:pPr marL="0" lvl="0" indent="0" algn="l" rtl="0">
              <a:lnSpc>
                <a:spcPct val="100000"/>
              </a:lnSpc>
              <a:spcBef>
                <a:spcPts val="0"/>
              </a:spcBef>
              <a:spcAft>
                <a:spcPts val="0"/>
              </a:spcAft>
              <a:buSzPts val="2800"/>
              <a:buNone/>
              <a:defRPr/>
            </a:pPr>
            <a:r>
              <a:rPr lang="en-GB" sz="1200"/>
              <a:t>Antes de JavaScript, las páginas web eran principalmente estáticas y no tenían la capacidad de responder a la entrada del usuario o de actualizar dinámicamente la página sin tener que cargarla completamente de nuevo. Con JavaScript, los desarrolladores pueden crear aplicaciones web interactivas que responden a la entrada del usuario en tiempo real y actualizan dinámicamente el contenido de la página sin tener que volver a cargar la página completa. &gt;</a:t>
            </a:r>
            <a:endParaRPr lang="en-GB" sz="1200"/>
          </a:p>
        </p:txBody>
      </p:sp>
      <p:grpSp>
        <p:nvGrpSpPr>
          <p:cNvPr id="1066056962"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47327399"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37201929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83095316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62017480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5246462" name="Google Shape;458;p1"/>
          <p:cNvSpPr txBox="1"/>
          <p:nvPr>
            <p:ph type="ctrTitle"/>
          </p:nvPr>
        </p:nvSpPr>
        <p:spPr bwMode="auto">
          <a:xfrm>
            <a:off x="1413510" y="627380"/>
            <a:ext cx="643255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¿Cómo y cuándo se agregan nuevas funcionalidades en javascript? </a:t>
            </a:r>
            <a:r>
              <a:rPr lang="en-GB" sz="2000">
                <a:solidFill>
                  <a:schemeClr val="accent3"/>
                </a:solidFill>
              </a:rPr>
              <a:t>{</a:t>
            </a:r>
            <a:endParaRPr sz="2000">
              <a:solidFill>
                <a:schemeClr val="accent3"/>
              </a:solidFill>
            </a:endParaRPr>
          </a:p>
        </p:txBody>
      </p:sp>
      <p:sp>
        <p:nvSpPr>
          <p:cNvPr id="1962875242" name="Google Shape;459;p1"/>
          <p:cNvSpPr txBox="1"/>
          <p:nvPr>
            <p:ph type="subTitle" idx="1"/>
          </p:nvPr>
        </p:nvSpPr>
        <p:spPr bwMode="auto">
          <a:xfrm>
            <a:off x="2123440" y="1297305"/>
            <a:ext cx="6202679" cy="271208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200"/>
              <a:t>&lt; </a:t>
            </a:r>
            <a:r>
              <a:rPr sz="1200"/>
              <a:t>Las nuevas funcionalidades de JavaScript se agregan a través de actualizaciones de </a:t>
            </a:r>
            <a:r>
              <a:rPr lang="es-AR" sz="1200"/>
              <a:t>las </a:t>
            </a:r>
            <a:r>
              <a:rPr sz="1200"/>
              <a:t>especificaciones llamadas ECMAScript. ECMAScript es un estándar que define la sintaxis y el comportamiento del lenguaje de programación JavaScript. Cada nueva versión de ECMAScript incluye nuevas funcionalidades y mejoras en el lenguaje.</a:t>
            </a:r>
            <a:endParaRPr sz="1200"/>
          </a:p>
          <a:p>
            <a:pPr marL="0" lvl="0" indent="0" algn="l" rtl="0">
              <a:lnSpc>
                <a:spcPct val="100000"/>
              </a:lnSpc>
              <a:spcBef>
                <a:spcPts val="0"/>
              </a:spcBef>
              <a:spcAft>
                <a:spcPts val="0"/>
              </a:spcAft>
              <a:buSzPts val="2800"/>
              <a:buNone/>
              <a:defRPr/>
            </a:pPr>
            <a:endParaRPr sz="1200"/>
          </a:p>
          <a:p>
            <a:pPr marL="0" lvl="0" indent="0" algn="l" rtl="0">
              <a:lnSpc>
                <a:spcPct val="100000"/>
              </a:lnSpc>
              <a:spcBef>
                <a:spcPts val="0"/>
              </a:spcBef>
              <a:spcAft>
                <a:spcPts val="0"/>
              </a:spcAft>
              <a:buSzPts val="2800"/>
              <a:buNone/>
              <a:defRPr/>
            </a:pPr>
            <a:r>
              <a:rPr lang="en-GB" sz="1200"/>
              <a:t>Antes de JavaScript, las páginas web eran principalmente estáticas y no tenían la capacidad de responder a la entrada del usuario o de actualizar dinámicamente la página sin tener que cargarla completamente de nuevo. Con JavaScript, los desarrolladores pueden crear aplicaciones web interactivas que responden a la entrada del usuario en tiempo real y actualizan dinámicamente el contenido de la página sin tener que volver a cargar la página completa. &gt;</a:t>
            </a:r>
            <a:endParaRPr lang="en-GB" sz="1200"/>
          </a:p>
        </p:txBody>
      </p:sp>
      <p:grpSp>
        <p:nvGrpSpPr>
          <p:cNvPr id="995110586"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206054663"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69446827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57043573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92258797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8782402" name="Google Shape;458;p1"/>
          <p:cNvSpPr txBox="1"/>
          <p:nvPr>
            <p:ph type="ctrTitle"/>
          </p:nvPr>
        </p:nvSpPr>
        <p:spPr bwMode="auto">
          <a:xfrm>
            <a:off x="1413510" y="627380"/>
            <a:ext cx="736854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es y en qué consiste la especificación ECMAScript? </a:t>
            </a:r>
            <a:r>
              <a:rPr lang="en-GB" sz="2000">
                <a:solidFill>
                  <a:schemeClr val="accent3"/>
                </a:solidFill>
              </a:rPr>
              <a:t>{</a:t>
            </a:r>
            <a:endParaRPr sz="2000">
              <a:solidFill>
                <a:schemeClr val="accent3"/>
              </a:solidFill>
            </a:endParaRPr>
          </a:p>
        </p:txBody>
      </p:sp>
      <p:sp>
        <p:nvSpPr>
          <p:cNvPr id="1552586532" name="Google Shape;459;p1"/>
          <p:cNvSpPr txBox="1"/>
          <p:nvPr>
            <p:ph type="subTitle" idx="1"/>
          </p:nvPr>
        </p:nvSpPr>
        <p:spPr bwMode="auto">
          <a:xfrm>
            <a:off x="2123440" y="1297305"/>
            <a:ext cx="6202679" cy="271208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200"/>
              <a:t>&lt; </a:t>
            </a:r>
            <a:r>
              <a:rPr sz="1200"/>
              <a:t>La especificación ECMAScript es un estándar que define el lenguaje de programación JavaScript. ECMAScript establece la sintaxis, la semántica y las reglas para la implementación del lenguaje de programación JavaScript. Es desarrollado y mantenido por el comité técnico TC39 de la organización internacional de normalización ECMA, de ahí su nombre.</a:t>
            </a:r>
            <a:r>
              <a:rPr lang="es-AR" sz="1200"/>
              <a:t> </a:t>
            </a:r>
            <a:r>
              <a:rPr lang="en-GB" sz="1200"/>
              <a:t>La especificación ECMAScript define la estructura básica del lenguaje, incluyendo la sintaxis y las características clave como las variables, los operadores, las estructuras de control de flujo y las funciones. También define las nuevas funcionalidades y mejoras que se agregan a JavaScript en cada versión</a:t>
            </a:r>
            <a:r>
              <a:rPr lang="es-AR" sz="1200"/>
              <a:t>.</a:t>
            </a:r>
            <a:endParaRPr lang="es-AR" sz="1200"/>
          </a:p>
          <a:p>
            <a:pPr marL="0" lvl="0" indent="0" algn="l" rtl="0">
              <a:lnSpc>
                <a:spcPct val="100000"/>
              </a:lnSpc>
              <a:spcBef>
                <a:spcPts val="0"/>
              </a:spcBef>
              <a:spcAft>
                <a:spcPts val="0"/>
              </a:spcAft>
              <a:buSzPts val="2800"/>
              <a:buNone/>
              <a:defRPr/>
            </a:pPr>
            <a:endParaRPr lang="es-AR" sz="1200"/>
          </a:p>
          <a:p>
            <a:pPr marL="0" lvl="0" indent="0" algn="l" rtl="0">
              <a:lnSpc>
                <a:spcPct val="100000"/>
              </a:lnSpc>
              <a:spcBef>
                <a:spcPts val="0"/>
              </a:spcBef>
              <a:spcAft>
                <a:spcPts val="0"/>
              </a:spcAft>
              <a:buSzPts val="2800"/>
              <a:buNone/>
              <a:defRPr/>
            </a:pPr>
            <a:r>
              <a:rPr lang="en-GB" sz="1200"/>
              <a:t>La especificación ECMAScript es importante para los desarrolladores porque les permite escribir código JavaScript que funcionará de manera consistente en diferentes plataformas y navegadores, y les permite utilizar las últimas características y funcionalidades del lenguaje. Además, la especificación ECMAScript proporciona un marco de referencia común para los desarrolladores, lo que les permite colaborar y compartir código de manera más efectiva.&gt;</a:t>
            </a:r>
            <a:endParaRPr lang="en-GB" sz="1200"/>
          </a:p>
        </p:txBody>
      </p:sp>
      <p:grpSp>
        <p:nvGrpSpPr>
          <p:cNvPr id="1323169718"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466295991"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49661958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537463722"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206631048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1337097" name="Google Shape;458;p1"/>
          <p:cNvSpPr txBox="1"/>
          <p:nvPr>
            <p:ph type="ctrTitle"/>
          </p:nvPr>
        </p:nvSpPr>
        <p:spPr bwMode="auto">
          <a:xfrm>
            <a:off x="1413510" y="61087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1600"/>
              <a:t>¿</a:t>
            </a:r>
            <a:r>
              <a:rPr lang="es-MX" sz="1600"/>
              <a:t>C</a:t>
            </a:r>
            <a:r>
              <a:rPr lang="es-AR" sz="1600"/>
              <a:t>uá</a:t>
            </a:r>
            <a:r>
              <a:rPr lang="es-MX" sz="1600"/>
              <a:t>l es el alcance y las ramas en las que JavaScript está involucrado?</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sp>
        <p:nvSpPr>
          <p:cNvPr id="2002430765" name="Google Shape;512;p5"/>
          <p:cNvSpPr txBox="1"/>
          <p:nvPr/>
        </p:nvSpPr>
        <p:spPr bwMode="auto">
          <a:xfrm>
            <a:off x="1907540" y="1617979"/>
            <a:ext cx="5288280" cy="7842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 </a:t>
            </a:r>
            <a:r>
              <a:rPr sz="1000"/>
              <a:t>JavaScript se utiliza ampliamente en el desarrollo web para crear páginas web interactivas y dinámicas. Con la ayuda de bibliotecas y frameworks como React, Vue.js, Angular, entre otros, JavaScript permite crear aplicaciones web complejas y escalables.</a:t>
            </a:r>
            <a:r>
              <a:rPr lang="en-GB" sz="1000"/>
              <a:t> &gt;</a:t>
            </a:r>
            <a:endParaRPr lang="en-GB" sz="1000"/>
          </a:p>
        </p:txBody>
      </p:sp>
      <p:sp>
        <p:nvSpPr>
          <p:cNvPr id="1579752684" name="Google Shape;513;p5"/>
          <p:cNvSpPr txBox="1"/>
          <p:nvPr/>
        </p:nvSpPr>
        <p:spPr bwMode="auto">
          <a:xfrm>
            <a:off x="1835020" y="2958542"/>
            <a:ext cx="5137500" cy="784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&lt;JavaScript se utiliza en el desarrollo móvil para crear aplicaciones móviles híbridas y nativas. Frameworks como React Native y Ionic permiten a los desarrolladores utilizar JavaScript para crear aplicaciones móviles que funcionan en múltiples plataformas. &gt;</a:t>
            </a:r>
            <a:endParaRPr lang="en-GB" sz="1000"/>
          </a:p>
        </p:txBody>
      </p:sp>
      <p:sp>
        <p:nvSpPr>
          <p:cNvPr id="1188660282" name="Google Shape;514;p5"/>
          <p:cNvSpPr txBox="1"/>
          <p:nvPr/>
        </p:nvSpPr>
        <p:spPr bwMode="auto">
          <a:xfrm>
            <a:off x="1475990" y="2585320"/>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2800" b="0" i="0" u="none" strike="noStrike" cap="none">
                <a:solidFill>
                  <a:schemeClr val="dk2"/>
                </a:solidFill>
                <a:latin typeface="Fira Code"/>
                <a:ea typeface="Fira Code"/>
                <a:cs typeface="Fira Code"/>
              </a:defRPr>
            </a:lvl1pPr>
            <a:lvl2pPr marL="914400" marR="0" lvl="1"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MX" sz="1000">
                <a:solidFill>
                  <a:schemeClr val="accent6"/>
                </a:solidFill>
              </a:rPr>
              <a:t>Desarrollo móvil</a:t>
            </a:r>
            <a:r>
              <a:rPr lang="es-AR" sz="1000">
                <a:solidFill>
                  <a:schemeClr val="accent6"/>
                </a:solidFill>
              </a:rPr>
              <a:t>:</a:t>
            </a:r>
            <a:r>
              <a:rPr lang="en-GB" sz="1000">
                <a:solidFill>
                  <a:schemeClr val="accent6"/>
                </a:solidFill>
              </a:rPr>
              <a:t> {</a:t>
            </a:r>
            <a:endParaRPr lang="en-GB" sz="1000">
              <a:solidFill>
                <a:schemeClr val="accent6"/>
              </a:solidFill>
            </a:endParaRPr>
          </a:p>
        </p:txBody>
      </p:sp>
      <p:sp>
        <p:nvSpPr>
          <p:cNvPr id="2021844364" name="Google Shape;515;p5"/>
          <p:cNvSpPr txBox="1"/>
          <p:nvPr/>
        </p:nvSpPr>
        <p:spPr bwMode="auto">
          <a:xfrm>
            <a:off x="1476625" y="1251795"/>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n-GB" sz="1000">
                <a:solidFill>
                  <a:schemeClr val="accent6"/>
                </a:solidFill>
              </a:rPr>
              <a:t>Desarrollo web:</a:t>
            </a:r>
            <a:r>
              <a:rPr lang="es-AR" sz="1000">
                <a:solidFill>
                  <a:schemeClr val="accent6"/>
                </a:solidFill>
              </a:rPr>
              <a:t> </a:t>
            </a:r>
            <a:r>
              <a:rPr lang="en-GB" sz="1000">
                <a:solidFill>
                  <a:schemeClr val="accent6"/>
                </a:solidFill>
              </a:rPr>
              <a:t>{ </a:t>
            </a:r>
            <a:endParaRPr lang="en-GB" sz="1000">
              <a:solidFill>
                <a:schemeClr val="accent6"/>
              </a:solidFill>
            </a:endParaRPr>
          </a:p>
        </p:txBody>
      </p:sp>
      <p:grpSp>
        <p:nvGrpSpPr>
          <p:cNvPr id="410883120" name="Google Shape;551;p5"/>
          <p:cNvGrpSpPr/>
          <p:nvPr/>
        </p:nvGrpSpPr>
        <p:grpSpPr bwMode="auto">
          <a:xfrm>
            <a:off x="1438520" y="2958688"/>
            <a:ext cx="506100" cy="1086542"/>
            <a:chOff x="1084825" y="3203163"/>
            <a:chExt cx="506100" cy="1086542"/>
          </a:xfrm>
        </p:grpSpPr>
        <p:cxnSp>
          <p:nvCxnSpPr>
            <p:cNvPr id="552"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1426682010" name="Google Shape;551;p5"/>
          <p:cNvGrpSpPr/>
          <p:nvPr/>
        </p:nvGrpSpPr>
        <p:grpSpPr bwMode="auto">
          <a:xfrm>
            <a:off x="1460110" y="1617568"/>
            <a:ext cx="506100" cy="1086542"/>
            <a:chOff x="1084825" y="3203163"/>
            <a:chExt cx="506100" cy="1086542"/>
          </a:xfrm>
        </p:grpSpPr>
        <p:cxnSp>
          <p:nvCxnSpPr>
            <p:cNvPr id="4"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158357052" name="Google Shape;462;p1"/>
          <p:cNvGrpSpPr/>
          <p:nvPr/>
        </p:nvGrpSpPr>
        <p:grpSpPr bwMode="auto">
          <a:xfrm>
            <a:off x="1337310" y="1419860"/>
            <a:ext cx="506095" cy="2905262"/>
            <a:chOff x="1413525" y="1759900"/>
            <a:chExt cx="506100" cy="2107918"/>
          </a:xfrm>
        </p:grpSpPr>
        <p:cxnSp>
          <p:nvCxnSpPr>
            <p:cNvPr id="9" name="Google Shape;463;p1"/>
            <p:cNvCxnSpPr/>
            <p:nvPr/>
          </p:nvCxnSpPr>
          <p:spPr bwMode="auto">
            <a:xfrm>
              <a:off x="1552225" y="1759900"/>
              <a:ext cx="0" cy="1763400"/>
            </a:xfrm>
            <a:prstGeom prst="straightConnector1">
              <a:avLst/>
            </a:prstGeom>
            <a:noFill/>
            <a:ln w="9525" cap="flat" cmpd="sng">
              <a:solidFill>
                <a:schemeClr val="accent4"/>
              </a:solidFill>
              <a:prstDash val="solid"/>
              <a:round/>
              <a:headEnd type="none" w="sm" len="sm"/>
              <a:tailEnd type="none" w="sm" len="sm"/>
            </a:ln>
          </p:spPr>
        </p:cxnSp>
        <p:sp>
          <p:nvSpPr>
            <p:cNvPr id="10" name="Google Shape;464;p1"/>
            <p:cNvSpPr txBox="1"/>
            <p:nvPr/>
          </p:nvSpPr>
          <p:spPr bwMode="auto">
            <a:xfrm>
              <a:off x="1413525" y="3557750"/>
              <a:ext cx="506100" cy="3100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1600" b="0" i="0" u="none" strike="noStrike" cap="none">
                  <a:solidFill>
                    <a:schemeClr val="accent3"/>
                  </a:solidFill>
                  <a:latin typeface="Fira Code"/>
                  <a:ea typeface="Fira Code"/>
                  <a:cs typeface="Fira Code"/>
                </a:rPr>
                <a:t>}</a:t>
              </a:r>
              <a:endParaRPr lang="en-GB" sz="1600" b="0" i="0" u="none" strike="noStrike" cap="none">
                <a:solidFill>
                  <a:schemeClr val="accent3"/>
                </a:solidFill>
                <a:latin typeface="Fira Code"/>
                <a:ea typeface="Fira Code"/>
                <a:cs typeface="Fira Code"/>
              </a:endParaRPr>
            </a:p>
          </p:txBody>
        </p:sp>
      </p:grpSp>
      <p:sp>
        <p:nvSpPr>
          <p:cNvPr id="1943188822" name="Google Shape;489;p3"/>
          <p:cNvSpPr txBox="1"/>
          <p:nvPr/>
        </p:nvSpPr>
        <p:spPr bwMode="auto">
          <a:xfrm>
            <a:off x="1536065" y="987425"/>
            <a:ext cx="7595235" cy="5410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JavaScript</a:t>
            </a:r>
            <a:r>
              <a:rPr lang="es-AR" sz="1400">
                <a:solidFill>
                  <a:schemeClr val="accent6"/>
                </a:solidFill>
              </a:rPr>
              <a:t> s</a:t>
            </a:r>
            <a:r>
              <a:rPr lang="es-MX" sz="1400">
                <a:solidFill>
                  <a:schemeClr val="accent6"/>
                </a:solidFill>
              </a:rPr>
              <a:t>e utiliza en una amplia variedad de aplicaciones y ramas de la tecnología.</a:t>
            </a:r>
            <a:r>
              <a:rPr lang="es-AR" sz="1400">
                <a:solidFill>
                  <a:schemeClr val="accent6"/>
                </a:solidFill>
              </a:rPr>
              <a:t>&gt;</a:t>
            </a:r>
            <a:endParaRPr lang="es-AR" sz="1400">
              <a:solidFill>
                <a:schemeClr val="accent6"/>
              </a:solidFill>
            </a:endParaRPr>
          </a:p>
        </p:txBody>
      </p:sp>
      <p:sp>
        <p:nvSpPr>
          <p:cNvPr id="898023439"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542898898"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88226471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93176388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9903044" name="Google Shape;458;p1"/>
          <p:cNvSpPr txBox="1"/>
          <p:nvPr>
            <p:ph type="ctrTitle"/>
          </p:nvPr>
        </p:nvSpPr>
        <p:spPr bwMode="auto">
          <a:xfrm>
            <a:off x="1413510" y="61087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1600"/>
              <a:t>¿</a:t>
            </a:r>
            <a:r>
              <a:rPr lang="es-MX" sz="1600"/>
              <a:t>C</a:t>
            </a:r>
            <a:r>
              <a:rPr lang="es-AR" sz="1600"/>
              <a:t>uá</a:t>
            </a:r>
            <a:r>
              <a:rPr lang="es-MX" sz="1600"/>
              <a:t>l es el alcance y las ramas en las que JavaScript está involucrado?</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sp>
        <p:nvSpPr>
          <p:cNvPr id="858056702" name="Google Shape;512;p5"/>
          <p:cNvSpPr txBox="1"/>
          <p:nvPr/>
        </p:nvSpPr>
        <p:spPr bwMode="auto">
          <a:xfrm>
            <a:off x="1907540" y="1617979"/>
            <a:ext cx="5288280" cy="7842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 </a:t>
            </a:r>
            <a:r>
              <a:rPr sz="1000"/>
              <a:t>JavaScript se utiliza en el desarrollo de juegos en línea y móviles. Con la ayuda de bibliotecas y frameworks como Phaser, Three.js y Babylon.js, los desarrolladores pueden crear juegos 2D y 3D interactivos y de alta calidad.</a:t>
            </a:r>
            <a:r>
              <a:rPr lang="en-GB" sz="1000"/>
              <a:t> &gt;</a:t>
            </a:r>
            <a:endParaRPr lang="en-GB" sz="1000"/>
          </a:p>
        </p:txBody>
      </p:sp>
      <p:sp>
        <p:nvSpPr>
          <p:cNvPr id="276079678" name="Google Shape;513;p5"/>
          <p:cNvSpPr txBox="1"/>
          <p:nvPr/>
        </p:nvSpPr>
        <p:spPr bwMode="auto">
          <a:xfrm>
            <a:off x="1835655" y="2958542"/>
            <a:ext cx="5137500" cy="784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lang="es-AR" sz="1000"/>
              <a:t>J</a:t>
            </a:r>
            <a:r>
              <a:rPr lang="en-GB" sz="1000"/>
              <a:t>avaScript se utiliza en el desarrollo de aplicaciones de escritorio, especialmente en el ámbito de la automatización de tareas. Frameworks como Electron y NW.js permiten a los desarrolladores utilizar JavaScript para crear aplicaciones de escritorio multiplataforma. &gt;</a:t>
            </a:r>
            <a:endParaRPr lang="en-GB" sz="1000"/>
          </a:p>
        </p:txBody>
      </p:sp>
      <p:sp>
        <p:nvSpPr>
          <p:cNvPr id="1376824429" name="Google Shape;514;p5"/>
          <p:cNvSpPr txBox="1"/>
          <p:nvPr/>
        </p:nvSpPr>
        <p:spPr bwMode="auto">
          <a:xfrm>
            <a:off x="1475990" y="2585320"/>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2800" b="0" i="0" u="none" strike="noStrike" cap="none">
                <a:solidFill>
                  <a:schemeClr val="dk2"/>
                </a:solidFill>
                <a:latin typeface="Fira Code"/>
                <a:ea typeface="Fira Code"/>
                <a:cs typeface="Fira Code"/>
              </a:defRPr>
            </a:lvl1pPr>
            <a:lvl2pPr marL="914400" marR="0" lvl="1"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MX" sz="1000">
                <a:solidFill>
                  <a:schemeClr val="accent6"/>
                </a:solidFill>
              </a:rPr>
              <a:t>Desarrollo de aplicaciones de escritorio</a:t>
            </a:r>
            <a:r>
              <a:rPr lang="en-GB" sz="1000">
                <a:solidFill>
                  <a:schemeClr val="accent6"/>
                </a:solidFill>
              </a:rPr>
              <a:t> {</a:t>
            </a:r>
            <a:endParaRPr lang="en-GB" sz="1000">
              <a:solidFill>
                <a:schemeClr val="accent6"/>
              </a:solidFill>
            </a:endParaRPr>
          </a:p>
        </p:txBody>
      </p:sp>
      <p:sp>
        <p:nvSpPr>
          <p:cNvPr id="596977964" name="Google Shape;515;p5"/>
          <p:cNvSpPr txBox="1"/>
          <p:nvPr/>
        </p:nvSpPr>
        <p:spPr bwMode="auto">
          <a:xfrm>
            <a:off x="1476625" y="1251795"/>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n-GB" sz="1000">
                <a:solidFill>
                  <a:schemeClr val="accent6"/>
                </a:solidFill>
              </a:rPr>
              <a:t>Desarrollo de juegos:</a:t>
            </a:r>
            <a:r>
              <a:rPr lang="es-AR" sz="1000">
                <a:solidFill>
                  <a:schemeClr val="accent6"/>
                </a:solidFill>
              </a:rPr>
              <a:t> </a:t>
            </a:r>
            <a:r>
              <a:rPr lang="en-GB" sz="1000">
                <a:solidFill>
                  <a:schemeClr val="accent6"/>
                </a:solidFill>
              </a:rPr>
              <a:t>{ </a:t>
            </a:r>
            <a:endParaRPr lang="en-GB" sz="1000">
              <a:solidFill>
                <a:schemeClr val="accent6"/>
              </a:solidFill>
            </a:endParaRPr>
          </a:p>
        </p:txBody>
      </p:sp>
      <p:grpSp>
        <p:nvGrpSpPr>
          <p:cNvPr id="1736405509" name="Google Shape;551;p5"/>
          <p:cNvGrpSpPr/>
          <p:nvPr/>
        </p:nvGrpSpPr>
        <p:grpSpPr bwMode="auto">
          <a:xfrm>
            <a:off x="1438520" y="2958688"/>
            <a:ext cx="506100" cy="1086542"/>
            <a:chOff x="1084825" y="3203163"/>
            <a:chExt cx="506100" cy="1086542"/>
          </a:xfrm>
        </p:grpSpPr>
        <p:cxnSp>
          <p:nvCxnSpPr>
            <p:cNvPr id="552"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446275488" name="Google Shape;551;p5"/>
          <p:cNvGrpSpPr/>
          <p:nvPr/>
        </p:nvGrpSpPr>
        <p:grpSpPr bwMode="auto">
          <a:xfrm>
            <a:off x="1460110" y="1617568"/>
            <a:ext cx="506100" cy="1086542"/>
            <a:chOff x="1084825" y="3203163"/>
            <a:chExt cx="506100" cy="1086542"/>
          </a:xfrm>
        </p:grpSpPr>
        <p:cxnSp>
          <p:nvCxnSpPr>
            <p:cNvPr id="4"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868996894" name="Google Shape;462;p1"/>
          <p:cNvGrpSpPr/>
          <p:nvPr/>
        </p:nvGrpSpPr>
        <p:grpSpPr bwMode="auto">
          <a:xfrm>
            <a:off x="1337310" y="1419860"/>
            <a:ext cx="506095" cy="2905262"/>
            <a:chOff x="1413525" y="1759900"/>
            <a:chExt cx="506100" cy="2107918"/>
          </a:xfrm>
        </p:grpSpPr>
        <p:cxnSp>
          <p:nvCxnSpPr>
            <p:cNvPr id="9" name="Google Shape;463;p1"/>
            <p:cNvCxnSpPr/>
            <p:nvPr/>
          </p:nvCxnSpPr>
          <p:spPr bwMode="auto">
            <a:xfrm>
              <a:off x="1552225" y="1759900"/>
              <a:ext cx="0" cy="1763400"/>
            </a:xfrm>
            <a:prstGeom prst="straightConnector1">
              <a:avLst/>
            </a:prstGeom>
            <a:noFill/>
            <a:ln w="9525" cap="flat" cmpd="sng">
              <a:solidFill>
                <a:schemeClr val="accent4"/>
              </a:solidFill>
              <a:prstDash val="solid"/>
              <a:round/>
              <a:headEnd type="none" w="sm" len="sm"/>
              <a:tailEnd type="none" w="sm" len="sm"/>
            </a:ln>
          </p:spPr>
        </p:cxnSp>
        <p:sp>
          <p:nvSpPr>
            <p:cNvPr id="10" name="Google Shape;464;p1"/>
            <p:cNvSpPr txBox="1"/>
            <p:nvPr/>
          </p:nvSpPr>
          <p:spPr bwMode="auto">
            <a:xfrm>
              <a:off x="1413525" y="3557750"/>
              <a:ext cx="506100" cy="3100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1600" b="0" i="0" u="none" strike="noStrike" cap="none">
                  <a:solidFill>
                    <a:schemeClr val="accent3"/>
                  </a:solidFill>
                  <a:latin typeface="Fira Code"/>
                  <a:ea typeface="Fira Code"/>
                  <a:cs typeface="Fira Code"/>
                </a:rPr>
                <a:t>}</a:t>
              </a:r>
              <a:endParaRPr lang="en-GB" sz="1600" b="0" i="0" u="none" strike="noStrike" cap="none">
                <a:solidFill>
                  <a:schemeClr val="accent3"/>
                </a:solidFill>
                <a:latin typeface="Fira Code"/>
                <a:ea typeface="Fira Code"/>
                <a:cs typeface="Fira Code"/>
              </a:endParaRPr>
            </a:p>
          </p:txBody>
        </p:sp>
      </p:grpSp>
      <p:sp>
        <p:nvSpPr>
          <p:cNvPr id="695784529" name="Google Shape;489;p3"/>
          <p:cNvSpPr txBox="1"/>
          <p:nvPr/>
        </p:nvSpPr>
        <p:spPr bwMode="auto">
          <a:xfrm>
            <a:off x="1536065" y="987425"/>
            <a:ext cx="7595235" cy="5410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JavaScript</a:t>
            </a:r>
            <a:r>
              <a:rPr lang="es-AR" sz="1400">
                <a:solidFill>
                  <a:schemeClr val="accent6"/>
                </a:solidFill>
              </a:rPr>
              <a:t> s</a:t>
            </a:r>
            <a:r>
              <a:rPr lang="es-MX" sz="1400">
                <a:solidFill>
                  <a:schemeClr val="accent6"/>
                </a:solidFill>
              </a:rPr>
              <a:t>e utiliza en una amplia variedad de aplicaciones y ramas de la tecnología.</a:t>
            </a:r>
            <a:r>
              <a:rPr lang="es-AR" sz="1400">
                <a:solidFill>
                  <a:schemeClr val="accent6"/>
                </a:solidFill>
              </a:rPr>
              <a:t>&gt;</a:t>
            </a:r>
            <a:endParaRPr lang="es-AR" sz="1400">
              <a:solidFill>
                <a:schemeClr val="accent6"/>
              </a:solidFill>
            </a:endParaRPr>
          </a:p>
        </p:txBody>
      </p:sp>
      <p:sp>
        <p:nvSpPr>
          <p:cNvPr id="125616636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46602583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70785577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206558761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7119045"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a:t>
            </a:r>
            <a:r>
              <a:rPr lang="es-MX" sz="2000"/>
              <a:t>C</a:t>
            </a:r>
            <a:r>
              <a:rPr lang="es-AR" sz="2000"/>
              <a:t>uáles son las capacidades de uso en multiplataforma que ofrece el lenguaje javascript</a:t>
            </a:r>
            <a:r>
              <a:rPr lang="es-MX" sz="2000"/>
              <a: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76655604"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418511831"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221130516"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668313544"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501652406" name="Group 2"/>
          <p:cNvGrpSpPr/>
          <p:nvPr/>
        </p:nvGrpSpPr>
        <p:grpSpPr bwMode="auto">
          <a:xfrm>
            <a:off x="1280160" y="1724660"/>
            <a:ext cx="7170420" cy="1931035"/>
            <a:chOff x="2097" y="2106"/>
            <a:chExt cx="11292" cy="3041"/>
          </a:xfrm>
        </p:grpSpPr>
        <p:grpSp>
          <p:nvGrpSpPr>
            <p:cNvPr id="11" name="Group 10"/>
            <p:cNvGrpSpPr/>
            <p:nvPr/>
          </p:nvGrpSpPr>
          <p:grpSpPr bwMode="auto">
            <a:xfrm>
              <a:off x="2097" y="2106"/>
              <a:ext cx="11292" cy="1217"/>
              <a:chOff x="2324" y="1978"/>
              <a:chExt cx="11292" cy="1217"/>
            </a:xfrm>
          </p:grpSpPr>
          <p:sp>
            <p:nvSpPr>
              <p:cNvPr id="481" name="Google Shape;481;p3"/>
              <p:cNvSpPr txBox="1"/>
              <p:nvPr/>
            </p:nvSpPr>
            <p:spPr bwMode="auto">
              <a:xfrm>
                <a:off x="3199" y="1978"/>
                <a:ext cx="10417" cy="121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es un lenguaje de programación interpretado:</a:t>
                </a:r>
                <a:r>
                  <a:rPr sz="1200"/>
                  <a:t> Esto significa que el código JavaScript se ejecuta en tiempo de ejecución, lo que permite que se adapte a diferentes plataformas. El intérprete de JavaScript está presente en muchos navegadores web y en entornos de servidor como Node.js.</a:t>
                </a:r>
                <a:r>
                  <a:rPr lang="es-AR" sz="1200"/>
                  <a:t> </a:t>
                </a:r>
                <a:r>
                  <a:rPr lang="en-GB" sz="1200"/>
                  <a:t>&gt;</a:t>
                </a:r>
                <a:endParaRPr lang="en-GB" sz="1200"/>
              </a:p>
            </p:txBody>
          </p:sp>
          <p:sp>
            <p:nvSpPr>
              <p:cNvPr id="480" name="Google Shape;480;p3"/>
              <p:cNvSpPr txBox="1"/>
              <p:nvPr/>
            </p:nvSpPr>
            <p:spPr bwMode="auto">
              <a:xfrm flipH="1">
                <a:off x="2324" y="220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1)</a:t>
                </a:r>
                <a:endParaRPr lang="es-AR" sz="1800"/>
              </a:p>
            </p:txBody>
          </p:sp>
        </p:grpSp>
        <p:grpSp>
          <p:nvGrpSpPr>
            <p:cNvPr id="4" name="Group 3"/>
            <p:cNvGrpSpPr/>
            <p:nvPr/>
          </p:nvGrpSpPr>
          <p:grpSpPr bwMode="auto">
            <a:xfrm>
              <a:off x="2097" y="3900"/>
              <a:ext cx="11292" cy="1247"/>
              <a:chOff x="2324" y="2811"/>
              <a:chExt cx="11292" cy="1247"/>
            </a:xfrm>
          </p:grpSpPr>
          <p:sp>
            <p:nvSpPr>
              <p:cNvPr id="7" name="Google Shape;481;p3"/>
              <p:cNvSpPr txBox="1"/>
              <p:nvPr/>
            </p:nvSpPr>
            <p:spPr bwMode="auto">
              <a:xfrm>
                <a:off x="3199" y="2811"/>
                <a:ext cx="10417" cy="124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es un lenguaje de programación con tipado dinámico:</a:t>
                </a:r>
                <a:r>
                  <a:rPr sz="1200"/>
                  <a:t> Esto significa que las variables no tienen un tipo de datos fijo y pueden cambiar de tipo durante la ejecución de la aplicación. Esto permite una mayor flexibilidad en el uso de las variables y una adaptabilidad a diferentes plataformas.</a:t>
                </a:r>
                <a:r>
                  <a:rPr lang="es-AR" sz="1200"/>
                  <a:t> </a:t>
                </a:r>
                <a:r>
                  <a:rPr lang="en-GB" sz="1200"/>
                  <a:t>&gt;</a:t>
                </a:r>
                <a:endParaRPr lang="en-GB" sz="1200"/>
              </a:p>
            </p:txBody>
          </p:sp>
          <p:sp>
            <p:nvSpPr>
              <p:cNvPr id="8" name="Google Shape;480;p3"/>
              <p:cNvSpPr txBox="1"/>
              <p:nvPr/>
            </p:nvSpPr>
            <p:spPr bwMode="auto">
              <a:xfrm flipH="1">
                <a:off x="2324" y="2839"/>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2)</a:t>
                </a:r>
                <a:endParaRPr lang="es-AR" sz="1800"/>
              </a:p>
            </p:txBody>
          </p:sp>
        </p:grpSp>
      </p:grpSp>
      <p:sp>
        <p:nvSpPr>
          <p:cNvPr id="17612597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260098119" name="Google Shape;489;p3"/>
          <p:cNvSpPr txBox="1"/>
          <p:nvPr/>
        </p:nvSpPr>
        <p:spPr bwMode="auto">
          <a:xfrm>
            <a:off x="1552575" y="1227455"/>
            <a:ext cx="7578090" cy="3987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 </a:t>
            </a:r>
            <a:r>
              <a:rPr lang="es-AR" sz="1400">
                <a:solidFill>
                  <a:schemeClr val="accent6"/>
                </a:solidFill>
              </a:rPr>
              <a:t>Para comprender:</a:t>
            </a:r>
            <a:r>
              <a:rPr lang="es-MX" sz="1400">
                <a:solidFill>
                  <a:schemeClr val="accent6"/>
                </a:solidFill>
              </a:rPr>
              <a:t> </a:t>
            </a:r>
            <a:r>
              <a:rPr lang="es-AR" sz="1400">
                <a:solidFill>
                  <a:schemeClr val="accent6"/>
                </a:solidFill>
              </a:rPr>
              <a:t>&gt;</a:t>
            </a:r>
            <a:endParaRPr lang="es-AR" sz="1400">
              <a:solidFill>
                <a:schemeClr val="accent6"/>
              </a:solidFill>
            </a:endParaRPr>
          </a:p>
        </p:txBody>
      </p:sp>
      <p:sp>
        <p:nvSpPr>
          <p:cNvPr id="1097401937"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09426933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92995462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0034993"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a:t>
            </a:r>
            <a:r>
              <a:rPr lang="es-MX" sz="2000"/>
              <a:t>C</a:t>
            </a:r>
            <a:r>
              <a:rPr lang="es-AR" sz="2000"/>
              <a:t>uáles son las capacidades de uso en multiplataforma que ofrece el lenguaje javascript</a:t>
            </a:r>
            <a:r>
              <a:rPr lang="es-MX" sz="2000"/>
              <a: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08440021"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621060839"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451978097"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862881908"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219807762" name="Group 2"/>
          <p:cNvGrpSpPr/>
          <p:nvPr/>
        </p:nvGrpSpPr>
        <p:grpSpPr bwMode="auto">
          <a:xfrm>
            <a:off x="1280160" y="1724660"/>
            <a:ext cx="7170420" cy="1931035"/>
            <a:chOff x="2097" y="2106"/>
            <a:chExt cx="11292" cy="3041"/>
          </a:xfrm>
        </p:grpSpPr>
        <p:grpSp>
          <p:nvGrpSpPr>
            <p:cNvPr id="11" name="Group 10"/>
            <p:cNvGrpSpPr/>
            <p:nvPr/>
          </p:nvGrpSpPr>
          <p:grpSpPr bwMode="auto">
            <a:xfrm>
              <a:off x="2097" y="2106"/>
              <a:ext cx="11292" cy="1217"/>
              <a:chOff x="2324" y="1978"/>
              <a:chExt cx="11292" cy="1217"/>
            </a:xfrm>
          </p:grpSpPr>
          <p:sp>
            <p:nvSpPr>
              <p:cNvPr id="481" name="Google Shape;481;p3"/>
              <p:cNvSpPr txBox="1"/>
              <p:nvPr/>
            </p:nvSpPr>
            <p:spPr bwMode="auto">
              <a:xfrm>
                <a:off x="3199" y="1978"/>
                <a:ext cx="10417" cy="121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es un lenguaje de programación interpretado:</a:t>
                </a:r>
                <a:r>
                  <a:rPr sz="1200"/>
                  <a:t> Esto significa que el código JavaScript se ejecuta en tiempo de ejecución, lo que permite que se adapte a diferentes plataformas. El intérprete de JavaScript está presente en muchos navegadores web y en entornos de servidor como Node.js.</a:t>
                </a:r>
                <a:r>
                  <a:rPr lang="es-AR" sz="1200"/>
                  <a:t> </a:t>
                </a:r>
                <a:r>
                  <a:rPr lang="en-GB" sz="1200"/>
                  <a:t>&gt;</a:t>
                </a:r>
                <a:endParaRPr lang="en-GB" sz="1200"/>
              </a:p>
            </p:txBody>
          </p:sp>
          <p:sp>
            <p:nvSpPr>
              <p:cNvPr id="480" name="Google Shape;480;p3"/>
              <p:cNvSpPr txBox="1"/>
              <p:nvPr/>
            </p:nvSpPr>
            <p:spPr bwMode="auto">
              <a:xfrm flipH="1">
                <a:off x="2324" y="220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1)</a:t>
                </a:r>
                <a:endParaRPr lang="es-AR" sz="1800"/>
              </a:p>
            </p:txBody>
          </p:sp>
        </p:grpSp>
        <p:grpSp>
          <p:nvGrpSpPr>
            <p:cNvPr id="4" name="Group 3"/>
            <p:cNvGrpSpPr/>
            <p:nvPr/>
          </p:nvGrpSpPr>
          <p:grpSpPr bwMode="auto">
            <a:xfrm>
              <a:off x="2097" y="3900"/>
              <a:ext cx="11292" cy="1247"/>
              <a:chOff x="2324" y="2811"/>
              <a:chExt cx="11292" cy="1247"/>
            </a:xfrm>
          </p:grpSpPr>
          <p:sp>
            <p:nvSpPr>
              <p:cNvPr id="7" name="Google Shape;481;p3"/>
              <p:cNvSpPr txBox="1"/>
              <p:nvPr/>
            </p:nvSpPr>
            <p:spPr bwMode="auto">
              <a:xfrm>
                <a:off x="3199" y="2811"/>
                <a:ext cx="10417" cy="124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es un lenguaje de programación con tipado dinámico:</a:t>
                </a:r>
                <a:r>
                  <a:rPr sz="1200"/>
                  <a:t> Esto significa que las variables no tienen un tipo de datos fijo y pueden cambiar de tipo durante la ejecución de la aplicación. Esto permite una mayor flexibilidad en el uso de las variables y una adaptabilidad a diferentes plataformas.</a:t>
                </a:r>
                <a:r>
                  <a:rPr lang="es-AR" sz="1200"/>
                  <a:t> </a:t>
                </a:r>
                <a:r>
                  <a:rPr lang="en-GB" sz="1200"/>
                  <a:t>&gt;</a:t>
                </a:r>
                <a:endParaRPr lang="en-GB" sz="1200"/>
              </a:p>
            </p:txBody>
          </p:sp>
          <p:sp>
            <p:nvSpPr>
              <p:cNvPr id="8" name="Google Shape;480;p3"/>
              <p:cNvSpPr txBox="1"/>
              <p:nvPr/>
            </p:nvSpPr>
            <p:spPr bwMode="auto">
              <a:xfrm flipH="1">
                <a:off x="2324" y="2839"/>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2)</a:t>
                </a:r>
                <a:endParaRPr lang="es-AR" sz="1800"/>
              </a:p>
            </p:txBody>
          </p:sp>
        </p:grpSp>
      </p:grpSp>
      <p:sp>
        <p:nvSpPr>
          <p:cNvPr id="86424948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69319768" name="Google Shape;489;p3"/>
          <p:cNvSpPr txBox="1"/>
          <p:nvPr/>
        </p:nvSpPr>
        <p:spPr bwMode="auto">
          <a:xfrm>
            <a:off x="1552575" y="1227455"/>
            <a:ext cx="7578090" cy="3987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 </a:t>
            </a:r>
            <a:r>
              <a:rPr lang="es-AR" sz="1400">
                <a:solidFill>
                  <a:schemeClr val="accent6"/>
                </a:solidFill>
              </a:rPr>
              <a:t>Para comprender:</a:t>
            </a:r>
            <a:r>
              <a:rPr lang="es-MX" sz="1400">
                <a:solidFill>
                  <a:schemeClr val="accent6"/>
                </a:solidFill>
              </a:rPr>
              <a:t> </a:t>
            </a:r>
            <a:r>
              <a:rPr lang="es-AR" sz="1400">
                <a:solidFill>
                  <a:schemeClr val="accent6"/>
                </a:solidFill>
              </a:rPr>
              <a:t>&gt;</a:t>
            </a:r>
            <a:endParaRPr lang="es-AR" sz="1400">
              <a:solidFill>
                <a:schemeClr val="accent6"/>
              </a:solidFill>
            </a:endParaRPr>
          </a:p>
        </p:txBody>
      </p:sp>
      <p:sp>
        <p:nvSpPr>
          <p:cNvPr id="195224019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727714120"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261589595"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1548566"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a:t>
            </a:r>
            <a:r>
              <a:rPr lang="es-MX" sz="2000"/>
              <a:t>C</a:t>
            </a:r>
            <a:r>
              <a:rPr lang="es-AR" sz="2000"/>
              <a:t>uáles son las capacidades de uso en multiplataforma que ofrece el lenguaje javascript</a:t>
            </a:r>
            <a:r>
              <a:rPr lang="es-MX" sz="2000"/>
              <a: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47950200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661636465"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046588274"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481996295"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230116829" name="Group 2"/>
          <p:cNvGrpSpPr/>
          <p:nvPr/>
        </p:nvGrpSpPr>
        <p:grpSpPr bwMode="auto">
          <a:xfrm>
            <a:off x="1280160" y="1724660"/>
            <a:ext cx="7170420" cy="1931035"/>
            <a:chOff x="2097" y="2106"/>
            <a:chExt cx="11292" cy="3041"/>
          </a:xfrm>
        </p:grpSpPr>
        <p:grpSp>
          <p:nvGrpSpPr>
            <p:cNvPr id="11" name="Group 10"/>
            <p:cNvGrpSpPr/>
            <p:nvPr/>
          </p:nvGrpSpPr>
          <p:grpSpPr bwMode="auto">
            <a:xfrm>
              <a:off x="2097" y="2106"/>
              <a:ext cx="11292" cy="1217"/>
              <a:chOff x="2324" y="1978"/>
              <a:chExt cx="11292" cy="1217"/>
            </a:xfrm>
          </p:grpSpPr>
          <p:sp>
            <p:nvSpPr>
              <p:cNvPr id="481" name="Google Shape;481;p3"/>
              <p:cNvSpPr txBox="1"/>
              <p:nvPr/>
            </p:nvSpPr>
            <p:spPr bwMode="auto">
              <a:xfrm>
                <a:off x="3199" y="1978"/>
                <a:ext cx="10417" cy="121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tiene una amplia variedad de bibliotecas y frameworks:</a:t>
                </a:r>
                <a:r>
                  <a:rPr sz="1200"/>
                  <a:t> Hay una gran cantidad de bibliotecas y frameworks de JavaScript disponibles que facilitan el desarrollo de aplicaciones multiplataforma. Estos frameworks y bibliotecas permiten a los desarrolladores crear aplicaciones que funcionan en diferentes plataformas, desde navegadores web hasta dispositivos móviles.</a:t>
                </a:r>
                <a:r>
                  <a:rPr lang="es-AR" sz="1200"/>
                  <a:t> </a:t>
                </a:r>
                <a:r>
                  <a:rPr lang="en-GB" sz="1200"/>
                  <a:t>&gt;</a:t>
                </a:r>
                <a:endParaRPr lang="en-GB" sz="1200"/>
              </a:p>
            </p:txBody>
          </p:sp>
          <p:sp>
            <p:nvSpPr>
              <p:cNvPr id="480" name="Google Shape;480;p3"/>
              <p:cNvSpPr txBox="1"/>
              <p:nvPr/>
            </p:nvSpPr>
            <p:spPr bwMode="auto">
              <a:xfrm flipH="1">
                <a:off x="2324" y="220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3)</a:t>
                </a:r>
                <a:endParaRPr lang="es-AR" sz="1800"/>
              </a:p>
            </p:txBody>
          </p:sp>
        </p:grpSp>
        <p:grpSp>
          <p:nvGrpSpPr>
            <p:cNvPr id="4" name="Group 3"/>
            <p:cNvGrpSpPr/>
            <p:nvPr/>
          </p:nvGrpSpPr>
          <p:grpSpPr bwMode="auto">
            <a:xfrm>
              <a:off x="2097" y="3900"/>
              <a:ext cx="11292" cy="1247"/>
              <a:chOff x="2324" y="2811"/>
              <a:chExt cx="11292" cy="1247"/>
            </a:xfrm>
          </p:grpSpPr>
          <p:sp>
            <p:nvSpPr>
              <p:cNvPr id="7" name="Google Shape;481;p3"/>
              <p:cNvSpPr txBox="1"/>
              <p:nvPr/>
            </p:nvSpPr>
            <p:spPr bwMode="auto">
              <a:xfrm>
                <a:off x="3199" y="2811"/>
                <a:ext cx="10417" cy="124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70C0"/>
                    </a:solidFill>
                  </a:rPr>
                  <a:t>JavaScript se puede utilizar tanto en el lado del cliente como en el lado del servidor:</a:t>
                </a:r>
                <a:r>
                  <a:rPr sz="1200"/>
                  <a:t> Esto significa que JavaScript se puede utilizar para crear tanto aplicaciones web como aplicaciones de escritorio. Node.js es un entorno de servidor de JavaScript que permite la creación de aplicaciones web y de escritorio utilizando JavaScript.</a:t>
                </a:r>
                <a:r>
                  <a:rPr lang="es-AR" sz="1200"/>
                  <a:t> </a:t>
                </a:r>
                <a:r>
                  <a:rPr lang="en-GB" sz="1200"/>
                  <a:t>&gt;</a:t>
                </a:r>
                <a:endParaRPr lang="en-GB" sz="1200"/>
              </a:p>
            </p:txBody>
          </p:sp>
          <p:sp>
            <p:nvSpPr>
              <p:cNvPr id="8" name="Google Shape;480;p3"/>
              <p:cNvSpPr txBox="1"/>
              <p:nvPr/>
            </p:nvSpPr>
            <p:spPr bwMode="auto">
              <a:xfrm flipH="1">
                <a:off x="2324" y="2839"/>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4)</a:t>
                </a:r>
                <a:endParaRPr lang="es-AR" sz="1800"/>
              </a:p>
            </p:txBody>
          </p:sp>
        </p:grpSp>
      </p:grpSp>
      <p:sp>
        <p:nvSpPr>
          <p:cNvPr id="1661197541"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616663473" name="Google Shape;489;p3"/>
          <p:cNvSpPr txBox="1"/>
          <p:nvPr/>
        </p:nvSpPr>
        <p:spPr bwMode="auto">
          <a:xfrm>
            <a:off x="1552575" y="1227455"/>
            <a:ext cx="7578090" cy="3987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 </a:t>
            </a:r>
            <a:r>
              <a:rPr lang="es-AR" sz="1400">
                <a:solidFill>
                  <a:schemeClr val="accent6"/>
                </a:solidFill>
              </a:rPr>
              <a:t>Para comprender:</a:t>
            </a:r>
            <a:r>
              <a:rPr lang="es-MX" sz="1400">
                <a:solidFill>
                  <a:schemeClr val="accent6"/>
                </a:solidFill>
              </a:rPr>
              <a:t> </a:t>
            </a:r>
            <a:r>
              <a:rPr lang="es-AR" sz="1400">
                <a:solidFill>
                  <a:schemeClr val="accent6"/>
                </a:solidFill>
              </a:rPr>
              <a:t>&gt;</a:t>
            </a:r>
            <a:endParaRPr lang="es-AR" sz="1400">
              <a:solidFill>
                <a:schemeClr val="accent6"/>
              </a:solidFill>
            </a:endParaRPr>
          </a:p>
        </p:txBody>
      </p:sp>
      <p:sp>
        <p:nvSpPr>
          <p:cNvPr id="2065463937"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05200355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72682940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150387676"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220883805"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sz="2000"/>
              <a:t>Ejemplos de aplicaciones creadas con una base en JavaScript</a:t>
            </a:r>
            <a:r>
              <a:rPr lang="es-AR" sz="2000"/>
              <a:t> </a:t>
            </a:r>
            <a:r>
              <a:rPr lang="en-GB" sz="2000">
                <a:solidFill>
                  <a:schemeClr val="accent6"/>
                </a:solidFill>
              </a:rPr>
              <a:t>{</a:t>
            </a:r>
            <a:r>
              <a:rPr lang="en-GB" sz="2000"/>
              <a:t> </a:t>
            </a:r>
            <a:endParaRPr lang="en-GB" sz="2000"/>
          </a:p>
        </p:txBody>
      </p:sp>
      <p:sp>
        <p:nvSpPr>
          <p:cNvPr id="1160492706" name="Google Shape;512;p5"/>
          <p:cNvSpPr txBox="1"/>
          <p:nvPr/>
        </p:nvSpPr>
        <p:spPr bwMode="auto">
          <a:xfrm>
            <a:off x="1412240" y="2715895"/>
            <a:ext cx="5526405"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&lt;Facebook-Meta&gt;</a:t>
            </a:r>
            <a:r>
              <a:rPr lang="en-GB"/>
              <a:t> </a:t>
            </a:r>
            <a:r>
              <a:rPr lang="es-AR"/>
              <a:t>{ es una de las redes sociales más populares del mundo y utiliza una gran cantidad de JavaScript para proporcionar una experiencia de usuario fluida e interactiva. Facebook utiliza una gran cantidad de bibliotecas y frameworks de JavaScript, como React y GraphQL, para crear una aplicación web escalable y robusta. }</a:t>
            </a:r>
            <a:endParaRPr lang="es-AR"/>
          </a:p>
        </p:txBody>
      </p:sp>
      <p:sp>
        <p:nvSpPr>
          <p:cNvPr id="729397601" name="Google Shape;512;p5"/>
          <p:cNvSpPr txBox="1"/>
          <p:nvPr/>
        </p:nvSpPr>
        <p:spPr bwMode="auto">
          <a:xfrm>
            <a:off x="1412240" y="1365884"/>
            <a:ext cx="5666740" cy="114236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&lt;Gmail&gt;</a:t>
            </a:r>
            <a:r>
              <a:rPr lang="en-GB"/>
              <a:t> </a:t>
            </a:r>
            <a:r>
              <a:rPr lang="es-AR"/>
              <a:t>{ </a:t>
            </a:r>
            <a:r>
              <a:rPr lang="es-AR"/>
              <a:t>e</a:t>
            </a:r>
            <a:r>
              <a:rPr/>
              <a:t>s uno de los servicios de correo electrónico más populares del mundo y utiliza una gran </a:t>
            </a:r>
            <a:r>
              <a:rPr/>
              <a:t>cantidad de JavaScript para proporcionar una experiencia de usuario dinámica e interactiva. Gmail utiliza AJAX (Asynchronous JavaScript and XML) para actualizar el contenido de la página sin necesidad de recargarla.</a:t>
            </a:r>
            <a:r>
              <a:rPr lang="en-GB"/>
              <a:t> </a:t>
            </a:r>
            <a:r>
              <a:rPr lang="es-AR"/>
              <a:t>}</a:t>
            </a:r>
            <a:endParaRPr lang="es-AR"/>
          </a:p>
        </p:txBody>
      </p:sp>
      <p:sp>
        <p:nvSpPr>
          <p:cNvPr id="78940180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457814154" name="Picture 4" descr="gmail-logo-0"/>
          <p:cNvPicPr>
            <a:picLocks noChangeAspect="1"/>
          </p:cNvPicPr>
          <p:nvPr/>
        </p:nvPicPr>
        <p:blipFill rotWithShape="1">
          <a:blip r:embed="rId3"/>
          <a:stretch/>
        </p:blipFill>
        <p:spPr bwMode="auto">
          <a:xfrm>
            <a:off x="7308215" y="1184275"/>
            <a:ext cx="1494790" cy="1494790"/>
          </a:xfrm>
          <a:prstGeom prst="rect">
            <a:avLst/>
          </a:prstGeom>
        </p:spPr>
      </p:pic>
      <p:pic>
        <p:nvPicPr>
          <p:cNvPr id="1711593893" name="Picture 0" descr="Facebook-meta-logo"/>
          <p:cNvPicPr>
            <a:picLocks noChangeAspect="1"/>
          </p:cNvPicPr>
          <p:nvPr/>
        </p:nvPicPr>
        <p:blipFill rotWithShape="1">
          <a:blip r:embed="rId4"/>
          <a:stretch/>
        </p:blipFill>
        <p:spPr bwMode="auto">
          <a:xfrm>
            <a:off x="6876415" y="2860040"/>
            <a:ext cx="2248535" cy="843280"/>
          </a:xfrm>
          <a:prstGeom prst="rect">
            <a:avLst/>
          </a:prstGeom>
        </p:spPr>
      </p:pic>
      <p:sp>
        <p:nvSpPr>
          <p:cNvPr id="1413835152"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87645245"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021183406"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717519022"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601062892"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sz="2000"/>
              <a:t>Ejemplos de aplicaciones muy utilizadas creadas con una base en JavaScript</a:t>
            </a:r>
            <a:r>
              <a:rPr lang="es-AR" sz="2000"/>
              <a:t> </a:t>
            </a:r>
            <a:r>
              <a:rPr lang="en-GB" sz="2000">
                <a:solidFill>
                  <a:schemeClr val="accent6"/>
                </a:solidFill>
              </a:rPr>
              <a:t>{</a:t>
            </a:r>
            <a:r>
              <a:rPr lang="en-GB" sz="2000"/>
              <a:t> </a:t>
            </a:r>
            <a:endParaRPr lang="en-GB" sz="2000"/>
          </a:p>
        </p:txBody>
      </p:sp>
      <p:sp>
        <p:nvSpPr>
          <p:cNvPr id="94714408" name="Google Shape;512;p5"/>
          <p:cNvSpPr txBox="1"/>
          <p:nvPr/>
        </p:nvSpPr>
        <p:spPr bwMode="auto">
          <a:xfrm>
            <a:off x="1412240" y="2715895"/>
            <a:ext cx="5526405"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&lt;Spotify&gt;</a:t>
            </a:r>
            <a:r>
              <a:rPr lang="en-GB"/>
              <a:t> </a:t>
            </a:r>
            <a:r>
              <a:rPr lang="es-AR"/>
              <a:t>{ es un servicio de música en línea muy popular que utiliza una gran cantidad de JavaScript para proporcionar una experiencia de usuario dinámica e interactiva. Spotify utiliza una técnica llamada "carga perezosa" para cargar las canciones y las listas de reproducción solo cuando son necesarias, lo que mejora la velocidad de carga de la aplicación. }</a:t>
            </a:r>
            <a:endParaRPr lang="es-AR"/>
          </a:p>
        </p:txBody>
      </p:sp>
      <p:sp>
        <p:nvSpPr>
          <p:cNvPr id="1498341812" name="Google Shape;512;p5"/>
          <p:cNvSpPr txBox="1"/>
          <p:nvPr/>
        </p:nvSpPr>
        <p:spPr bwMode="auto">
          <a:xfrm>
            <a:off x="1412240" y="1365884"/>
            <a:ext cx="5666740" cy="126936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&lt;Google Maps&gt;</a:t>
            </a:r>
            <a:r>
              <a:rPr lang="en-GB"/>
              <a:t> </a:t>
            </a:r>
            <a:r>
              <a:rPr lang="es-AR"/>
              <a:t>{ </a:t>
            </a:r>
            <a:r>
              <a:rPr/>
              <a:t>es un servicio de mapas en línea muy popular que utiliza una gran cantidad de JavaScript para proporcionar una experiencia de usuario fluida e interactiva. Google Maps utiliza una técnica llamada "carga perezosa" para cargar los mapas y los marcadores solo cuando son necesarios, lo que mejora la velocidad de carga de la aplicación.</a:t>
            </a:r>
            <a:r>
              <a:rPr lang="en-GB"/>
              <a:t> </a:t>
            </a:r>
            <a:r>
              <a:rPr lang="es-AR"/>
              <a:t>}</a:t>
            </a:r>
            <a:endParaRPr lang="es-AR"/>
          </a:p>
        </p:txBody>
      </p:sp>
      <p:sp>
        <p:nvSpPr>
          <p:cNvPr id="83760556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1389608834" name="Picture 5" descr="Google_Maps_Logo_2020.svg"/>
          <p:cNvPicPr>
            <a:picLocks noChangeAspect="1"/>
          </p:cNvPicPr>
          <p:nvPr/>
        </p:nvPicPr>
        <p:blipFill rotWithShape="1">
          <a:blip r:embed="rId3"/>
          <a:stretch/>
        </p:blipFill>
        <p:spPr bwMode="auto">
          <a:xfrm>
            <a:off x="7524115" y="1350010"/>
            <a:ext cx="1262380" cy="1137285"/>
          </a:xfrm>
          <a:prstGeom prst="rect">
            <a:avLst/>
          </a:prstGeom>
        </p:spPr>
      </p:pic>
      <p:pic>
        <p:nvPicPr>
          <p:cNvPr id="1673384699" name="Picture 6" descr="Spotify_logo_with_text.svg"/>
          <p:cNvPicPr>
            <a:picLocks noChangeAspect="1"/>
          </p:cNvPicPr>
          <p:nvPr/>
        </p:nvPicPr>
        <p:blipFill rotWithShape="1">
          <a:blip r:embed="rId4"/>
          <a:stretch/>
        </p:blipFill>
        <p:spPr bwMode="auto">
          <a:xfrm>
            <a:off x="7019925" y="3075940"/>
            <a:ext cx="2042160" cy="613410"/>
          </a:xfrm>
          <a:prstGeom prst="rect">
            <a:avLst/>
          </a:prstGeom>
        </p:spPr>
      </p:pic>
      <p:sp>
        <p:nvSpPr>
          <p:cNvPr id="68789185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04519054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31957407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6049479"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hace especial a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571564187"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780281657"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2023300062"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19931138"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041354802" name="Group 10"/>
          <p:cNvGrpSpPr/>
          <p:nvPr/>
        </p:nvGrpSpPr>
        <p:grpSpPr bwMode="auto">
          <a:xfrm>
            <a:off x="1280160" y="1203325"/>
            <a:ext cx="7170420" cy="614045"/>
            <a:chOff x="2324" y="2192"/>
            <a:chExt cx="11292" cy="1536"/>
          </a:xfrm>
        </p:grpSpPr>
        <p:sp>
          <p:nvSpPr>
            <p:cNvPr id="481" name="Google Shape;481;p3"/>
            <p:cNvSpPr txBox="1"/>
            <p:nvPr/>
          </p:nvSpPr>
          <p:spPr bwMode="auto">
            <a:xfrm>
              <a:off x="3199" y="2192"/>
              <a:ext cx="10417" cy="153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 es el único lenguaje de programación que funciona directamente en el navegador web, lo que permite a los desarrolladores crear aplicaciones web interactivas y dinámicas que responden a la interacción del usuario. Esto ha hecho que JavaScript sea muy popular entre los desarrolladores de aplicaciones web y ha llevado a la creación de muchas bibliotecas y frameworks de JavaScript para facilitar el desarrollo web.</a:t>
              </a:r>
              <a:r>
                <a:rPr lang="en-GB" sz="1000"/>
                <a:t> &gt;</a:t>
              </a:r>
              <a:endParaRPr lang="en-GB" sz="1000"/>
            </a:p>
          </p:txBody>
        </p:sp>
        <p:sp>
          <p:nvSpPr>
            <p:cNvPr id="480"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000"/>
                <a:t>1)</a:t>
              </a:r>
              <a:endParaRPr lang="es-AR" sz="1000"/>
            </a:p>
          </p:txBody>
        </p:sp>
      </p:grpSp>
      <p:sp>
        <p:nvSpPr>
          <p:cNvPr id="929277020"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grpSp>
        <p:nvGrpSpPr>
          <p:cNvPr id="1630328868" name="Group 0"/>
          <p:cNvGrpSpPr/>
          <p:nvPr/>
        </p:nvGrpSpPr>
        <p:grpSpPr bwMode="auto">
          <a:xfrm>
            <a:off x="1280160" y="1933575"/>
            <a:ext cx="7170420" cy="683895"/>
            <a:chOff x="2324" y="2192"/>
            <a:chExt cx="11292" cy="1536"/>
          </a:xfrm>
        </p:grpSpPr>
        <p:sp>
          <p:nvSpPr>
            <p:cNvPr id="5" name="Google Shape;481;p3"/>
            <p:cNvSpPr txBox="1"/>
            <p:nvPr/>
          </p:nvSpPr>
          <p:spPr bwMode="auto">
            <a:xfrm>
              <a:off x="3199" y="2192"/>
              <a:ext cx="10417" cy="153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 es relativamente fácil de aprender, en comparación con otros lenguajes de programación, debido a su sintaxis simple y a que no requiere una configuración complicada para comenzar a trabajar con él. Además, hay una gran cantidad de recursos en línea disponibles para aprender JavaScript, incluidos tutoriales, videos y documentación oficial.</a:t>
              </a:r>
              <a:r>
                <a:rPr lang="en-GB" sz="1000"/>
                <a:t> &gt;</a:t>
              </a:r>
              <a:endParaRPr lang="en-GB" sz="1000"/>
            </a:p>
          </p:txBody>
        </p:sp>
        <p:sp>
          <p:nvSpPr>
            <p:cNvPr id="6"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000"/>
                <a:t>2)</a:t>
              </a:r>
              <a:endParaRPr lang="es-AR" sz="1000"/>
            </a:p>
          </p:txBody>
        </p:sp>
      </p:grpSp>
      <p:grpSp>
        <p:nvGrpSpPr>
          <p:cNvPr id="136095579" name="Group 18"/>
          <p:cNvGrpSpPr/>
          <p:nvPr/>
        </p:nvGrpSpPr>
        <p:grpSpPr bwMode="auto">
          <a:xfrm>
            <a:off x="1280160" y="2653665"/>
            <a:ext cx="7170420" cy="614045"/>
            <a:chOff x="2324" y="2192"/>
            <a:chExt cx="11292" cy="1536"/>
          </a:xfrm>
        </p:grpSpPr>
        <p:sp>
          <p:nvSpPr>
            <p:cNvPr id="23" name="Google Shape;481;p3"/>
            <p:cNvSpPr txBox="1"/>
            <p:nvPr/>
          </p:nvSpPr>
          <p:spPr bwMode="auto">
            <a:xfrm>
              <a:off x="3199" y="2192"/>
              <a:ext cx="10417" cy="153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 es un lenguaje de programación dinámico, lo que significa que puede ejecutarse en tiempo real y reaccionar a eventos del usuario. Esto lo convierte en un lenguaje ideal para aplicaciones web interactivas y dinámicas, como juegos en línea, aplicaciones de chat en vivo y otras aplicaciones que requieren una respuesta en tiempo real.</a:t>
              </a:r>
              <a:r>
                <a:rPr lang="en-GB" sz="1000"/>
                <a:t> &gt;</a:t>
              </a:r>
              <a:endParaRPr lang="en-GB" sz="1000"/>
            </a:p>
          </p:txBody>
        </p:sp>
        <p:sp>
          <p:nvSpPr>
            <p:cNvPr id="24"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000"/>
                <a:t>3)</a:t>
              </a:r>
              <a:endParaRPr lang="es-AR" sz="1000"/>
            </a:p>
          </p:txBody>
        </p:sp>
      </p:grpSp>
      <p:grpSp>
        <p:nvGrpSpPr>
          <p:cNvPr id="155848548" name="Group 24"/>
          <p:cNvGrpSpPr/>
          <p:nvPr/>
        </p:nvGrpSpPr>
        <p:grpSpPr bwMode="auto">
          <a:xfrm>
            <a:off x="1280160" y="3422650"/>
            <a:ext cx="7170420" cy="614045"/>
            <a:chOff x="2324" y="2192"/>
            <a:chExt cx="11292" cy="1536"/>
          </a:xfrm>
        </p:grpSpPr>
        <p:sp>
          <p:nvSpPr>
            <p:cNvPr id="26" name="Google Shape;481;p3"/>
            <p:cNvSpPr txBox="1"/>
            <p:nvPr/>
          </p:nvSpPr>
          <p:spPr bwMode="auto">
            <a:xfrm>
              <a:off x="3199" y="2192"/>
              <a:ext cx="10417" cy="153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 tiene una gran y activa comunidad de desarrolladores que contribuyen a bibliotecas, frameworks y herramientas para el lenguaje. Esto hace que sea fácil encontrar soluciones a problemas específicos y mejorar la calidad de la programación en general.</a:t>
              </a:r>
              <a:r>
                <a:rPr lang="en-GB" sz="1000"/>
                <a:t> &gt;</a:t>
              </a:r>
              <a:endParaRPr lang="en-GB" sz="1000"/>
            </a:p>
          </p:txBody>
        </p:sp>
        <p:sp>
          <p:nvSpPr>
            <p:cNvPr id="27"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000"/>
                <a:t>4)</a:t>
              </a:r>
              <a:endParaRPr lang="es-AR" sz="1000"/>
            </a:p>
          </p:txBody>
        </p:sp>
      </p:grpSp>
      <p:sp>
        <p:nvSpPr>
          <p:cNvPr id="1780316786"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46929167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54293033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7798657" name="Google Shape;458;p1"/>
          <p:cNvSpPr txBox="1"/>
          <p:nvPr>
            <p:ph type="ctrTitle"/>
          </p:nvPr>
        </p:nvSpPr>
        <p:spPr bwMode="auto">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Ventajas y desventajas de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36336764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797028014"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388489322"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414214575"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623480839" name="Google Shape;489;p3"/>
          <p:cNvSpPr txBox="1"/>
          <p:nvPr/>
        </p:nvSpPr>
        <p:spPr bwMode="auto">
          <a:xfrm>
            <a:off x="4427855" y="859790"/>
            <a:ext cx="1606550" cy="431799"/>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AR" sz="1400">
                <a:solidFill>
                  <a:schemeClr val="accent6"/>
                </a:solidFill>
              </a:rPr>
              <a:t>VENTAJAS</a:t>
            </a:r>
            <a:r>
              <a:rPr lang="es-AR" sz="1400">
                <a:solidFill>
                  <a:schemeClr val="accent6"/>
                </a:solidFill>
              </a:rPr>
              <a:t>&gt;</a:t>
            </a:r>
            <a:endParaRPr lang="es-AR" sz="1400">
              <a:solidFill>
                <a:schemeClr val="accent6"/>
              </a:solidFill>
            </a:endParaRPr>
          </a:p>
        </p:txBody>
      </p:sp>
      <p:grpSp>
        <p:nvGrpSpPr>
          <p:cNvPr id="311642225" name="Group 34"/>
          <p:cNvGrpSpPr/>
          <p:nvPr/>
        </p:nvGrpSpPr>
        <p:grpSpPr bwMode="auto">
          <a:xfrm rot="0">
            <a:off x="1764030" y="1203960"/>
            <a:ext cx="7200900" cy="3107690"/>
            <a:chOff x="2778" y="1800"/>
            <a:chExt cx="11340" cy="3551"/>
          </a:xfrm>
        </p:grpSpPr>
        <p:sp>
          <p:nvSpPr>
            <p:cNvPr id="481" name="Google Shape;481;p3"/>
            <p:cNvSpPr txBox="1"/>
            <p:nvPr/>
          </p:nvSpPr>
          <p:spPr bwMode="auto">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solidFill>
                    <a:srgbClr val="FF0000"/>
                  </a:solidFill>
                </a:rPr>
                <a:t> </a:t>
              </a:r>
              <a:r>
                <a:rPr lang="en-GB" sz="1200">
                  <a:solidFill>
                    <a:srgbClr val="00B050"/>
                  </a:solidFill>
                </a:rPr>
                <a:t>Lenguaje de programación de alto nivel:</a:t>
              </a:r>
              <a:r>
                <a:rPr lang="en-GB" sz="1200"/>
                <a:t> es un lenguaje de programación de alto nivel que permite a los desarrolladores escribir código más rápido y de manera más eficiente.</a:t>
              </a:r>
              <a:r>
                <a:rPr lang="es-AR" sz="1200"/>
                <a:t> </a:t>
              </a:r>
              <a:r>
                <a:rPr lang="en-GB" sz="1200"/>
                <a:t>&gt;</a:t>
              </a:r>
              <a:endParaRPr lang="en-GB" sz="1200"/>
            </a:p>
          </p:txBody>
        </p:sp>
        <p:sp>
          <p:nvSpPr>
            <p:cNvPr id="24" name="Google Shape;481;p3"/>
            <p:cNvSpPr txBox="1"/>
            <p:nvPr/>
          </p:nvSpPr>
          <p:spPr bwMode="auto">
            <a:xfrm>
              <a:off x="2810" y="2493"/>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Fácil de aprender:</a:t>
              </a:r>
              <a:r>
                <a:rPr sz="1200"/>
                <a:t> es relativamente fácil de aprender y tiene una curva de aprendizaje suave para aquellos que ya tienen experiencia en programación.</a:t>
              </a:r>
              <a:r>
                <a:rPr lang="en-GB" sz="1200"/>
                <a:t>&gt;</a:t>
              </a:r>
              <a:endParaRPr lang="en-GB" sz="1200"/>
            </a:p>
          </p:txBody>
        </p:sp>
        <p:sp>
          <p:nvSpPr>
            <p:cNvPr id="27" name="Google Shape;481;p3"/>
            <p:cNvSpPr txBox="1"/>
            <p:nvPr/>
          </p:nvSpPr>
          <p:spPr bwMode="auto">
            <a:xfrm>
              <a:off x="2810" y="3188"/>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Interactivo y dinámico:</a:t>
              </a:r>
              <a:r>
                <a:rPr sz="1200"/>
                <a:t> permite crear aplicaciones web interactivas y dinámicas que responden a la entrada del usuario en tiempo real y actualizan dinámicamente el contenido de la página sin tener que volver a cargar la página completa.</a:t>
              </a:r>
              <a:r>
                <a:rPr lang="en-GB" sz="1200"/>
                <a:t>&gt;</a:t>
              </a:r>
              <a:endParaRPr lang="en-GB" sz="1200"/>
            </a:p>
          </p:txBody>
        </p:sp>
        <p:sp>
          <p:nvSpPr>
            <p:cNvPr id="30" name="Google Shape;481;p3"/>
            <p:cNvSpPr txBox="1"/>
            <p:nvPr/>
          </p:nvSpPr>
          <p:spPr bwMode="auto">
            <a:xfrm>
              <a:off x="2810" y="4094"/>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Amplia comunidad de desarrolladores:</a:t>
              </a:r>
              <a:r>
                <a:rPr sz="1200"/>
                <a:t> cuenta con una gran comunidad de desarrolladores que comparten su conocimiento y recursos en línea.</a:t>
              </a:r>
              <a:r>
                <a:rPr lang="en-GB" sz="1200"/>
                <a:t>&gt;</a:t>
              </a:r>
              <a:endParaRPr lang="en-GB" sz="1200"/>
            </a:p>
          </p:txBody>
        </p:sp>
        <p:sp>
          <p:nvSpPr>
            <p:cNvPr id="33" name="Google Shape;481;p3"/>
            <p:cNvSpPr txBox="1"/>
            <p:nvPr/>
          </p:nvSpPr>
          <p:spPr bwMode="auto">
            <a:xfrm>
              <a:off x="2810" y="4768"/>
              <a:ext cx="11308" cy="58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sz="1200">
                  <a:solidFill>
                    <a:srgbClr val="00B050"/>
                  </a:solidFill>
                </a:rPr>
                <a:t>Utilizado en una amplia variedad de aplicaciones:</a:t>
              </a:r>
              <a:r>
                <a:rPr sz="1200"/>
                <a:t> se utiliza en una amplia variedad de aplicaciones web, móviles y de escritorio, lo que lo convierte en un lenguaje de programación muy versátil.</a:t>
              </a:r>
              <a:r>
                <a:rPr lang="en-GB" sz="1200"/>
                <a:t>&gt;</a:t>
              </a:r>
              <a:endParaRPr lang="en-GB" sz="1200"/>
            </a:p>
          </p:txBody>
        </p:sp>
      </p:grpSp>
      <p:sp>
        <p:nvSpPr>
          <p:cNvPr id="163683393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07636724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33566431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45938283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494254" name="Google Shape;458;p1"/>
          <p:cNvSpPr txBox="1"/>
          <p:nvPr>
            <p:ph type="ctrTitle"/>
          </p:nvPr>
        </p:nvSpPr>
        <p:spPr bwMode="auto">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Ventajas y desventajas de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66160588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151710930"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264886461"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863664554"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683794405" name="Google Shape;489;p3"/>
          <p:cNvSpPr txBox="1"/>
          <p:nvPr/>
        </p:nvSpPr>
        <p:spPr bwMode="auto">
          <a:xfrm>
            <a:off x="4427855" y="859790"/>
            <a:ext cx="1791970" cy="431799"/>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&lt;DES</a:t>
            </a:r>
            <a:r>
              <a:rPr lang="es-AR" sz="1400">
                <a:solidFill>
                  <a:schemeClr val="accent6"/>
                </a:solidFill>
              </a:rPr>
              <a:t>VENTAJAS</a:t>
            </a:r>
            <a:r>
              <a:rPr lang="es-AR" sz="1400">
                <a:solidFill>
                  <a:schemeClr val="accent6"/>
                </a:solidFill>
              </a:rPr>
              <a:t>&gt;</a:t>
            </a:r>
            <a:endParaRPr lang="es-AR" sz="1400">
              <a:solidFill>
                <a:schemeClr val="accent6"/>
              </a:solidFill>
            </a:endParaRPr>
          </a:p>
        </p:txBody>
      </p:sp>
      <p:grpSp>
        <p:nvGrpSpPr>
          <p:cNvPr id="422784875" name="Group 34"/>
          <p:cNvGrpSpPr/>
          <p:nvPr/>
        </p:nvGrpSpPr>
        <p:grpSpPr bwMode="auto">
          <a:xfrm rot="0">
            <a:off x="1764030" y="1203960"/>
            <a:ext cx="7200900" cy="3107690"/>
            <a:chOff x="2778" y="1800"/>
            <a:chExt cx="11340" cy="3551"/>
          </a:xfrm>
        </p:grpSpPr>
        <p:sp>
          <p:nvSpPr>
            <p:cNvPr id="481" name="Google Shape;481;p3"/>
            <p:cNvSpPr txBox="1"/>
            <p:nvPr/>
          </p:nvSpPr>
          <p:spPr bwMode="auto">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solidFill>
                    <a:srgbClr val="FF4B4B"/>
                  </a:solidFill>
                </a:rPr>
                <a:t> </a:t>
              </a:r>
              <a:r>
                <a:rPr lang="en-GB" sz="1200">
                  <a:solidFill>
                    <a:srgbClr val="FF4B4B"/>
                  </a:solidFill>
                </a:rPr>
                <a:t>Falta de seguridad:</a:t>
              </a:r>
              <a:r>
                <a:rPr lang="en-GB" sz="1200"/>
                <a:t> JavaScript puede ser vulnerable a ataques de seguridad, como inyección de código malicioso y cross-site scripting (XSS).</a:t>
              </a:r>
              <a:r>
                <a:rPr lang="es-AR" sz="1200"/>
                <a:t> </a:t>
              </a:r>
              <a:r>
                <a:rPr lang="en-GB" sz="1200"/>
                <a:t>&gt;</a:t>
              </a:r>
              <a:endParaRPr lang="en-GB" sz="1200"/>
            </a:p>
          </p:txBody>
        </p:sp>
        <p:sp>
          <p:nvSpPr>
            <p:cNvPr id="24" name="Google Shape;481;p3"/>
            <p:cNvSpPr txBox="1"/>
            <p:nvPr/>
          </p:nvSpPr>
          <p:spPr bwMode="auto">
            <a:xfrm>
              <a:off x="2810" y="2493"/>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FF4B4B"/>
                  </a:solidFill>
                </a:rPr>
                <a:t>Dificultades en la depuración de errores:</a:t>
              </a:r>
              <a:r>
                <a:rPr sz="1200"/>
                <a:t> A menudo, puede ser difícil depurar los errores en JavaScript, especialmente en aplicaciones web complejas.</a:t>
              </a:r>
              <a:r>
                <a:rPr lang="en-GB" sz="1200"/>
                <a:t>&gt;</a:t>
              </a:r>
              <a:endParaRPr lang="en-GB" sz="1200"/>
            </a:p>
          </p:txBody>
        </p:sp>
        <p:sp>
          <p:nvSpPr>
            <p:cNvPr id="27" name="Google Shape;481;p3"/>
            <p:cNvSpPr txBox="1"/>
            <p:nvPr/>
          </p:nvSpPr>
          <p:spPr bwMode="auto">
            <a:xfrm>
              <a:off x="2810" y="3166"/>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FF4B4B"/>
                  </a:solidFill>
                </a:rPr>
                <a:t>Dependencia de los navegadores:</a:t>
              </a:r>
              <a:r>
                <a:rPr sz="1200"/>
                <a:t> JavaScript está estrechamente relacionado con los navegadores web, y algunas funcionalidades pueden no ser compatibles con ciertos navegadores, lo que puede requerir el uso de bibliotecas o herramientas adicionales para garantizar la compatibilidad.</a:t>
              </a:r>
              <a:r>
                <a:rPr lang="en-GB" sz="1200"/>
                <a:t>&gt;</a:t>
              </a:r>
              <a:endParaRPr lang="en-GB" sz="1200"/>
            </a:p>
          </p:txBody>
        </p:sp>
        <p:sp>
          <p:nvSpPr>
            <p:cNvPr id="30" name="Google Shape;481;p3"/>
            <p:cNvSpPr txBox="1"/>
            <p:nvPr/>
          </p:nvSpPr>
          <p:spPr bwMode="auto">
            <a:xfrm>
              <a:off x="2810" y="4048"/>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FF4B4B"/>
                  </a:solidFill>
                </a:rPr>
                <a:t>Rendimiento:</a:t>
              </a:r>
              <a:r>
                <a:rPr sz="1200"/>
                <a:t> Aunque el rendimiento de JavaScript ha mejorado con el tiempo, todavía puede ser un poco más lento que otros lenguajes de programación en algunas aplicaciones.</a:t>
              </a:r>
              <a:r>
                <a:rPr lang="en-GB" sz="1200"/>
                <a:t>&gt;</a:t>
              </a:r>
              <a:endParaRPr lang="en-GB" sz="1200"/>
            </a:p>
          </p:txBody>
        </p:sp>
        <p:sp>
          <p:nvSpPr>
            <p:cNvPr id="33" name="Google Shape;481;p3"/>
            <p:cNvSpPr txBox="1"/>
            <p:nvPr/>
          </p:nvSpPr>
          <p:spPr bwMode="auto">
            <a:xfrm>
              <a:off x="2810" y="4768"/>
              <a:ext cx="11308" cy="58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FF4B4B"/>
                  </a:solidFill>
                </a:rPr>
                <a:t>Limitaciones en la programación de aplicaciones de escritorio:</a:t>
              </a:r>
              <a:r>
                <a:rPr sz="1200"/>
                <a:t> Aunque JavaScript se utiliza para desarrollar aplicaciones de escritorio, todavía tiene algunas limitaciones en términos de acceso a recursos del sistema y funcionalidad avanzada.</a:t>
              </a:r>
              <a:r>
                <a:rPr lang="en-GB" sz="1200"/>
                <a:t>&gt;</a:t>
              </a:r>
              <a:endParaRPr lang="en-GB" sz="1200"/>
            </a:p>
          </p:txBody>
        </p:sp>
      </p:grpSp>
      <p:sp>
        <p:nvSpPr>
          <p:cNvPr id="32894502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482772319"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29289393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69459997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1887034" name="Google Shape;458;p1"/>
          <p:cNvSpPr txBox="1"/>
          <p:nvPr>
            <p:ph type="ctrTitle"/>
          </p:nvPr>
        </p:nvSpPr>
        <p:spPr bwMode="auto">
          <a:xfrm>
            <a:off x="1413510" y="61087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MX" sz="1600"/>
              <a:t>¿Cuales son los usos principales de JavaScript?</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sp>
        <p:nvSpPr>
          <p:cNvPr id="1848919137" name="Google Shape;512;p5"/>
          <p:cNvSpPr txBox="1"/>
          <p:nvPr/>
        </p:nvSpPr>
        <p:spPr bwMode="auto">
          <a:xfrm>
            <a:off x="1907540" y="1617979"/>
            <a:ext cx="5142230" cy="7842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Una de las razones principales por las que se utiliza JavaScript en el desarrollo web es para crear interactividad en una página. Con JavaScript, </a:t>
            </a:r>
            <a:r>
              <a:rPr lang="es-MX" sz="1000"/>
              <a:t>se puede </a:t>
            </a:r>
            <a:r>
              <a:rPr sz="1000"/>
              <a:t>crear botones, animaciones y otros elementos interactivos que hacen que el usuario se involucre más en la experiencia del sitio web.</a:t>
            </a:r>
            <a:r>
              <a:rPr lang="en-GB" sz="1000"/>
              <a:t> &gt;</a:t>
            </a:r>
            <a:endParaRPr lang="en-GB" sz="1000"/>
          </a:p>
        </p:txBody>
      </p:sp>
      <p:sp>
        <p:nvSpPr>
          <p:cNvPr id="1739350297" name="Google Shape;513;p5"/>
          <p:cNvSpPr txBox="1"/>
          <p:nvPr/>
        </p:nvSpPr>
        <p:spPr bwMode="auto">
          <a:xfrm>
            <a:off x="1835020" y="2958542"/>
            <a:ext cx="5137500" cy="7845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 JavaScript se utiliza comúnmente para validar la información que un usuario introduce en un formulario, como asegurarse de que se introduzca un correo electrónico válido o un número de teléfono. Esto ayuda a mejorar la experiencia del usuario y garantiza que los datos se recopilen correctamente. &gt;</a:t>
            </a:r>
            <a:endParaRPr lang="en-GB" sz="1000"/>
          </a:p>
        </p:txBody>
      </p:sp>
      <p:sp>
        <p:nvSpPr>
          <p:cNvPr id="2114093757" name="Google Shape;514;p5"/>
          <p:cNvSpPr txBox="1"/>
          <p:nvPr/>
        </p:nvSpPr>
        <p:spPr bwMode="auto">
          <a:xfrm>
            <a:off x="1475990" y="2585320"/>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2800" b="0" i="0" u="none" strike="noStrike" cap="none">
                <a:solidFill>
                  <a:schemeClr val="dk2"/>
                </a:solidFill>
                <a:latin typeface="Fira Code"/>
                <a:ea typeface="Fira Code"/>
                <a:cs typeface="Fira Code"/>
              </a:defRPr>
            </a:lvl1pPr>
            <a:lvl2pPr marL="914400" marR="0" lvl="1"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n-GB" sz="1000">
                <a:solidFill>
                  <a:schemeClr val="accent6"/>
                </a:solidFill>
              </a:rPr>
              <a:t>Validación de formularios {</a:t>
            </a:r>
            <a:endParaRPr lang="en-GB" sz="1000">
              <a:solidFill>
                <a:schemeClr val="accent6"/>
              </a:solidFill>
            </a:endParaRPr>
          </a:p>
        </p:txBody>
      </p:sp>
      <p:sp>
        <p:nvSpPr>
          <p:cNvPr id="1662011154" name="Google Shape;515;p5"/>
          <p:cNvSpPr txBox="1"/>
          <p:nvPr/>
        </p:nvSpPr>
        <p:spPr bwMode="auto">
          <a:xfrm>
            <a:off x="1476625" y="1251795"/>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n-GB" sz="1000">
                <a:solidFill>
                  <a:schemeClr val="accent6"/>
                </a:solidFill>
              </a:rPr>
              <a:t>Interactivida</a:t>
            </a:r>
            <a:r>
              <a:rPr lang="es-MX" sz="1000">
                <a:solidFill>
                  <a:schemeClr val="accent6"/>
                </a:solidFill>
              </a:rPr>
              <a:t>d </a:t>
            </a:r>
            <a:r>
              <a:rPr lang="en-GB" sz="1000">
                <a:solidFill>
                  <a:schemeClr val="accent6"/>
                </a:solidFill>
              </a:rPr>
              <a:t>{ </a:t>
            </a:r>
            <a:endParaRPr lang="en-GB" sz="1000">
              <a:solidFill>
                <a:schemeClr val="accent6"/>
              </a:solidFill>
            </a:endParaRPr>
          </a:p>
        </p:txBody>
      </p:sp>
      <p:grpSp>
        <p:nvGrpSpPr>
          <p:cNvPr id="1685085949" name="Google Shape;551;p5"/>
          <p:cNvGrpSpPr/>
          <p:nvPr/>
        </p:nvGrpSpPr>
        <p:grpSpPr bwMode="auto">
          <a:xfrm>
            <a:off x="1438520" y="2958688"/>
            <a:ext cx="506100" cy="1086542"/>
            <a:chOff x="1084825" y="3203163"/>
            <a:chExt cx="506100" cy="1086542"/>
          </a:xfrm>
        </p:grpSpPr>
        <p:cxnSp>
          <p:nvCxnSpPr>
            <p:cNvPr id="552"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1252166982" name="Google Shape;551;p5"/>
          <p:cNvGrpSpPr/>
          <p:nvPr/>
        </p:nvGrpSpPr>
        <p:grpSpPr bwMode="auto">
          <a:xfrm>
            <a:off x="1460110" y="1617568"/>
            <a:ext cx="506100" cy="1086542"/>
            <a:chOff x="1084825" y="3203163"/>
            <a:chExt cx="506100" cy="1086542"/>
          </a:xfrm>
        </p:grpSpPr>
        <p:cxnSp>
          <p:nvCxnSpPr>
            <p:cNvPr id="4"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616101699" name="Google Shape;462;p1"/>
          <p:cNvGrpSpPr/>
          <p:nvPr/>
        </p:nvGrpSpPr>
        <p:grpSpPr bwMode="auto">
          <a:xfrm>
            <a:off x="1337310" y="1419860"/>
            <a:ext cx="506095" cy="2905262"/>
            <a:chOff x="1413525" y="1759900"/>
            <a:chExt cx="506100" cy="2107918"/>
          </a:xfrm>
        </p:grpSpPr>
        <p:cxnSp>
          <p:nvCxnSpPr>
            <p:cNvPr id="9" name="Google Shape;463;p1"/>
            <p:cNvCxnSpPr/>
            <p:nvPr/>
          </p:nvCxnSpPr>
          <p:spPr bwMode="auto">
            <a:xfrm>
              <a:off x="1552225" y="1759900"/>
              <a:ext cx="0" cy="1763400"/>
            </a:xfrm>
            <a:prstGeom prst="straightConnector1">
              <a:avLst/>
            </a:prstGeom>
            <a:noFill/>
            <a:ln w="9525" cap="flat" cmpd="sng">
              <a:solidFill>
                <a:schemeClr val="accent4"/>
              </a:solidFill>
              <a:prstDash val="solid"/>
              <a:round/>
              <a:headEnd type="none" w="sm" len="sm"/>
              <a:tailEnd type="none" w="sm" len="sm"/>
            </a:ln>
          </p:spPr>
        </p:cxnSp>
        <p:sp>
          <p:nvSpPr>
            <p:cNvPr id="10" name="Google Shape;464;p1"/>
            <p:cNvSpPr txBox="1"/>
            <p:nvPr/>
          </p:nvSpPr>
          <p:spPr bwMode="auto">
            <a:xfrm>
              <a:off x="1413525" y="3557750"/>
              <a:ext cx="506100" cy="3100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1600" b="0" i="0" u="none" strike="noStrike" cap="none">
                  <a:solidFill>
                    <a:schemeClr val="accent3"/>
                  </a:solidFill>
                  <a:latin typeface="Fira Code"/>
                  <a:ea typeface="Fira Code"/>
                  <a:cs typeface="Fira Code"/>
                </a:rPr>
                <a:t>}</a:t>
              </a:r>
              <a:endParaRPr lang="en-GB" sz="1600" b="0" i="0" u="none" strike="noStrike" cap="none">
                <a:solidFill>
                  <a:schemeClr val="accent3"/>
                </a:solidFill>
                <a:latin typeface="Fira Code"/>
                <a:ea typeface="Fira Code"/>
                <a:cs typeface="Fira Code"/>
              </a:endParaRPr>
            </a:p>
          </p:txBody>
        </p:sp>
      </p:grpSp>
      <p:sp>
        <p:nvSpPr>
          <p:cNvPr id="22402960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772902281"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30299307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07499275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9282268" name="Google Shape;458;p1"/>
          <p:cNvSpPr txBox="1"/>
          <p:nvPr>
            <p:ph type="ctrTitle"/>
          </p:nvPr>
        </p:nvSpPr>
        <p:spPr bwMode="auto">
          <a:xfrm>
            <a:off x="1413510" y="61087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MX" sz="1600"/>
              <a:t>¿Cuales son los usos principales de JavaScript?</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sp>
        <p:nvSpPr>
          <p:cNvPr id="1116234767" name="Google Shape;512;p5"/>
          <p:cNvSpPr txBox="1"/>
          <p:nvPr/>
        </p:nvSpPr>
        <p:spPr bwMode="auto">
          <a:xfrm>
            <a:off x="1907540" y="1617979"/>
            <a:ext cx="5142230" cy="7842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a:t>
            </a:r>
            <a:r>
              <a:rPr sz="1000"/>
              <a:t>El Document Object Model (DOM) es la estructura que se utiliza para representar un documento HTML en un navegador web. JavaScript se puede utilizar para manipular el DOM y actualizar dinámicamente la página web sin tener que recargarla.</a:t>
            </a:r>
            <a:r>
              <a:rPr lang="en-GB" sz="1000"/>
              <a:t> &gt;</a:t>
            </a:r>
            <a:endParaRPr lang="en-GB" sz="1000"/>
          </a:p>
        </p:txBody>
      </p:sp>
      <p:sp>
        <p:nvSpPr>
          <p:cNvPr id="58590858" name="Google Shape;515;p5"/>
          <p:cNvSpPr txBox="1"/>
          <p:nvPr/>
        </p:nvSpPr>
        <p:spPr bwMode="auto">
          <a:xfrm>
            <a:off x="1476625" y="1251795"/>
            <a:ext cx="4057200" cy="530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sz="1000">
                <a:solidFill>
                  <a:schemeClr val="accent6"/>
                </a:solidFill>
              </a:rPr>
              <a:t>Manipulación del DOM</a:t>
            </a:r>
            <a:r>
              <a:rPr lang="es-MX" sz="1000">
                <a:solidFill>
                  <a:schemeClr val="accent6"/>
                </a:solidFill>
              </a:rPr>
              <a:t> </a:t>
            </a:r>
            <a:r>
              <a:rPr lang="en-GB" sz="1000">
                <a:solidFill>
                  <a:schemeClr val="accent6"/>
                </a:solidFill>
              </a:rPr>
              <a:t>{ </a:t>
            </a:r>
            <a:endParaRPr lang="en-GB" sz="1000">
              <a:solidFill>
                <a:schemeClr val="accent6"/>
              </a:solidFill>
            </a:endParaRPr>
          </a:p>
        </p:txBody>
      </p:sp>
      <p:grpSp>
        <p:nvGrpSpPr>
          <p:cNvPr id="1186993310" name="Google Shape;462;p1"/>
          <p:cNvGrpSpPr/>
          <p:nvPr/>
        </p:nvGrpSpPr>
        <p:grpSpPr bwMode="auto">
          <a:xfrm>
            <a:off x="1337310" y="1419860"/>
            <a:ext cx="506095" cy="2905262"/>
            <a:chOff x="1413525" y="1759900"/>
            <a:chExt cx="506100" cy="2107918"/>
          </a:xfrm>
        </p:grpSpPr>
        <p:cxnSp>
          <p:nvCxnSpPr>
            <p:cNvPr id="9" name="Google Shape;463;p1"/>
            <p:cNvCxnSpPr/>
            <p:nvPr/>
          </p:nvCxnSpPr>
          <p:spPr bwMode="auto">
            <a:xfrm>
              <a:off x="1552225" y="1759900"/>
              <a:ext cx="0" cy="1763400"/>
            </a:xfrm>
            <a:prstGeom prst="straightConnector1">
              <a:avLst/>
            </a:prstGeom>
            <a:noFill/>
            <a:ln w="9525" cap="flat" cmpd="sng">
              <a:solidFill>
                <a:schemeClr val="accent4"/>
              </a:solidFill>
              <a:prstDash val="solid"/>
              <a:round/>
              <a:headEnd type="none" w="sm" len="sm"/>
              <a:tailEnd type="none" w="sm" len="sm"/>
            </a:ln>
          </p:spPr>
        </p:cxnSp>
        <p:sp>
          <p:nvSpPr>
            <p:cNvPr id="10" name="Google Shape;464;p1"/>
            <p:cNvSpPr txBox="1"/>
            <p:nvPr/>
          </p:nvSpPr>
          <p:spPr bwMode="auto">
            <a:xfrm>
              <a:off x="1413525" y="3557750"/>
              <a:ext cx="506100" cy="3100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1600" b="0" i="0" u="none" strike="noStrike" cap="none">
                  <a:solidFill>
                    <a:schemeClr val="accent3"/>
                  </a:solidFill>
                  <a:latin typeface="Fira Code"/>
                  <a:ea typeface="Fira Code"/>
                  <a:cs typeface="Fira Code"/>
                </a:rPr>
                <a:t>}</a:t>
              </a:r>
              <a:endParaRPr lang="en-GB" sz="1600" b="0" i="0" u="none" strike="noStrike" cap="none">
                <a:solidFill>
                  <a:schemeClr val="accent3"/>
                </a:solidFill>
                <a:latin typeface="Fira Code"/>
                <a:ea typeface="Fira Code"/>
                <a:cs typeface="Fira Code"/>
              </a:endParaRPr>
            </a:p>
          </p:txBody>
        </p:sp>
      </p:grpSp>
      <p:grpSp>
        <p:nvGrpSpPr>
          <p:cNvPr id="1698435607" name="Group 15"/>
          <p:cNvGrpSpPr/>
          <p:nvPr/>
        </p:nvGrpSpPr>
        <p:grpSpPr bwMode="auto">
          <a:xfrm>
            <a:off x="1438520" y="1617568"/>
            <a:ext cx="5534000" cy="2427662"/>
            <a:chOff x="2265" y="2546"/>
            <a:chExt cx="8715" cy="3823"/>
          </a:xfrm>
        </p:grpSpPr>
        <p:sp>
          <p:nvSpPr>
            <p:cNvPr id="513" name="Google Shape;513;p5"/>
            <p:cNvSpPr txBox="1"/>
            <p:nvPr/>
          </p:nvSpPr>
          <p:spPr bwMode="auto">
            <a:xfrm>
              <a:off x="2890" y="4659"/>
              <a:ext cx="8091" cy="1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000"/>
                <a:t>&lt; Con el auge de las aplicaciones web, JavaScript se ha convertido en una parte integral del desarrollo de aplicaciones. Los frameworks de JavaScript como Angular, React y Vue.js se utilizan comúnmente para construir aplicaciones web que ofrecen una experiencia de usuario similar a la de una aplicación nativa. &gt;</a:t>
              </a:r>
              <a:endParaRPr lang="en-GB" sz="1000"/>
            </a:p>
          </p:txBody>
        </p:sp>
        <p:sp>
          <p:nvSpPr>
            <p:cNvPr id="514" name="Google Shape;514;p5"/>
            <p:cNvSpPr txBox="1"/>
            <p:nvPr/>
          </p:nvSpPr>
          <p:spPr bwMode="auto">
            <a:xfrm>
              <a:off x="2324" y="4071"/>
              <a:ext cx="6389" cy="8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2800" b="0" i="0" u="none" strike="noStrike" cap="none">
                  <a:solidFill>
                    <a:schemeClr val="dk2"/>
                  </a:solidFill>
                  <a:latin typeface="Fira Code"/>
                  <a:ea typeface="Fira Code"/>
                  <a:cs typeface="Fira Code"/>
                </a:defRPr>
              </a:lvl1pPr>
              <a:lvl2pPr marL="914400" marR="0" lvl="1"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l"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n-GB" sz="1000">
                  <a:solidFill>
                    <a:schemeClr val="accent6"/>
                  </a:solidFill>
                </a:rPr>
                <a:t>Aplicaciones web {</a:t>
              </a:r>
              <a:endParaRPr lang="en-GB" sz="1000">
                <a:solidFill>
                  <a:schemeClr val="accent6"/>
                </a:solidFill>
              </a:endParaRPr>
            </a:p>
          </p:txBody>
        </p:sp>
        <p:grpSp>
          <p:nvGrpSpPr>
            <p:cNvPr id="551" name="Google Shape;551;p5"/>
            <p:cNvGrpSpPr/>
            <p:nvPr/>
          </p:nvGrpSpPr>
          <p:grpSpPr bwMode="auto">
            <a:xfrm>
              <a:off x="2265" y="4659"/>
              <a:ext cx="797" cy="1711"/>
              <a:chOff x="1084825" y="3203163"/>
              <a:chExt cx="506100" cy="1086542"/>
            </a:xfrm>
          </p:grpSpPr>
          <p:cxnSp>
            <p:nvCxnSpPr>
              <p:cNvPr id="552"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nvGrpSpPr>
            <p:cNvPr id="3" name="Google Shape;551;p5"/>
            <p:cNvGrpSpPr/>
            <p:nvPr/>
          </p:nvGrpSpPr>
          <p:grpSpPr bwMode="auto">
            <a:xfrm>
              <a:off x="2298" y="2546"/>
              <a:ext cx="797" cy="1711"/>
              <a:chOff x="1084825" y="3203163"/>
              <a:chExt cx="506100" cy="1086542"/>
            </a:xfrm>
          </p:grpSpPr>
          <p:cxnSp>
            <p:nvCxnSpPr>
              <p:cNvPr id="4" name="Google Shape;552;p5"/>
              <p:cNvCxnSpPr/>
              <p:nvPr/>
            </p:nvCxnSpPr>
            <p:spPr bwMode="auto">
              <a:xfrm>
                <a:off x="1337875" y="3203163"/>
                <a:ext cx="0" cy="731700"/>
              </a:xfrm>
              <a:prstGeom prst="straightConnector1">
                <a:avLst/>
              </a:prstGeom>
              <a:noFill/>
              <a:ln w="9525" cap="flat" cmpd="sng">
                <a:solidFill>
                  <a:schemeClr val="accent4"/>
                </a:solidFill>
                <a:prstDash val="solid"/>
                <a:round/>
                <a:headEnd type="none" w="sm" len="sm"/>
                <a:tailEnd type="none" w="sm" len="sm"/>
              </a:ln>
            </p:spPr>
          </p:cxnSp>
          <p:sp>
            <p:nvSpPr>
              <p:cNvPr id="5" name="Google Shape;553;p5"/>
              <p:cNvSpPr txBox="1"/>
              <p:nvPr/>
            </p:nvSpPr>
            <p:spPr bwMode="auto">
              <a:xfrm>
                <a:off x="1084825" y="3954425"/>
                <a:ext cx="506100" cy="335280"/>
              </a:xfrm>
              <a:prstGeom prst="rect">
                <a:avLst/>
              </a:prstGeom>
              <a:noFill/>
              <a:ln>
                <a:noFill/>
              </a:ln>
            </p:spPr>
            <p:txBody>
              <a:bodyPr spcFirstLastPara="1" wrap="square" lIns="91425" tIns="91425" rIns="91425" bIns="91425" anchor="t" anchorCtr="0">
                <a:spAutoFit/>
              </a:bodyPr>
              <a:p>
                <a:pPr marL="0" marR="0" lvl="0" indent="0" algn="ctr" rtl="0">
                  <a:lnSpc>
                    <a:spcPct val="100000"/>
                  </a:lnSpc>
                  <a:spcBef>
                    <a:spcPts val="0"/>
                  </a:spcBef>
                  <a:spcAft>
                    <a:spcPts val="0"/>
                  </a:spcAft>
                  <a:buClr>
                    <a:srgbClr val="000000"/>
                  </a:buClr>
                  <a:buSzPts val="2800"/>
                  <a:buFont typeface="Arial"/>
                  <a:buNone/>
                  <a:defRPr/>
                </a:pPr>
                <a:r>
                  <a:rPr lang="en-GB" sz="1000" b="0" i="0" u="none" strike="noStrike" cap="none">
                    <a:solidFill>
                      <a:schemeClr val="accent6"/>
                    </a:solidFill>
                    <a:latin typeface="Fira Code"/>
                    <a:ea typeface="Fira Code"/>
                    <a:cs typeface="Fira Code"/>
                  </a:rPr>
                  <a:t>}</a:t>
                </a:r>
                <a:endParaRPr lang="en-GB" sz="1000" b="0" i="0" u="none" strike="noStrike" cap="none">
                  <a:solidFill>
                    <a:schemeClr val="accent6"/>
                  </a:solidFill>
                  <a:latin typeface="Fira Code"/>
                  <a:ea typeface="Fira Code"/>
                  <a:cs typeface="Fira Code"/>
                </a:endParaRPr>
              </a:p>
            </p:txBody>
          </p:sp>
        </p:grpSp>
      </p:grpSp>
      <p:sp>
        <p:nvSpPr>
          <p:cNvPr id="101017994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042235070"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277104092"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194533206"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6153493" name="Google Shape;458;p1"/>
          <p:cNvSpPr txBox="1"/>
          <p:nvPr>
            <p:ph type="ctrTitle"/>
          </p:nvPr>
        </p:nvSpPr>
        <p:spPr bwMode="auto">
          <a:xfrm>
            <a:off x="1413510" y="627380"/>
            <a:ext cx="736854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es una documentación en javascript? </a:t>
            </a:r>
            <a:r>
              <a:rPr lang="en-GB" sz="2000">
                <a:solidFill>
                  <a:schemeClr val="accent3"/>
                </a:solidFill>
              </a:rPr>
              <a:t>{</a:t>
            </a:r>
            <a:endParaRPr sz="2000">
              <a:solidFill>
                <a:schemeClr val="accent3"/>
              </a:solidFill>
            </a:endParaRPr>
          </a:p>
        </p:txBody>
      </p:sp>
      <p:sp>
        <p:nvSpPr>
          <p:cNvPr id="857040289" name="Google Shape;459;p1"/>
          <p:cNvSpPr txBox="1"/>
          <p:nvPr>
            <p:ph type="subTitle" idx="1"/>
          </p:nvPr>
        </p:nvSpPr>
        <p:spPr bwMode="auto">
          <a:xfrm>
            <a:off x="2123440" y="1131570"/>
            <a:ext cx="6202679" cy="154305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000"/>
              <a:t>&lt; </a:t>
            </a:r>
            <a:r>
              <a:rPr lang="es-AR" sz="1000"/>
              <a:t>E</a:t>
            </a:r>
            <a:r>
              <a:rPr sz="1000"/>
              <a:t>s un conjunto de información escrita que describe el código y la funcionalidad de un programa, biblioteca o framework de JavaScript. La documentación es esencial para cualquier proyecto de programación, ya que proporciona información sobre cómo utilizar el código, cómo se relacionan las diferentes partes del código, las entradas y salidas esperadas, y cualquier otra información relevante para los usuarios.</a:t>
            </a:r>
            <a:endParaRPr sz="1000"/>
          </a:p>
          <a:p>
            <a:pPr marL="0" lvl="0" indent="0" algn="l" rtl="0">
              <a:lnSpc>
                <a:spcPct val="100000"/>
              </a:lnSpc>
              <a:spcBef>
                <a:spcPts val="0"/>
              </a:spcBef>
              <a:spcAft>
                <a:spcPts val="0"/>
              </a:spcAft>
              <a:buSzPts val="2800"/>
              <a:buNone/>
              <a:defRPr/>
            </a:pPr>
            <a:endParaRPr lang="es-AR" sz="1000"/>
          </a:p>
          <a:p>
            <a:pPr marL="0" lvl="0" indent="0" algn="l" rtl="0">
              <a:lnSpc>
                <a:spcPct val="100000"/>
              </a:lnSpc>
              <a:spcBef>
                <a:spcPts val="0"/>
              </a:spcBef>
              <a:spcAft>
                <a:spcPts val="0"/>
              </a:spcAft>
              <a:buSzPts val="2800"/>
              <a:buNone/>
              <a:defRPr/>
            </a:pPr>
            <a:r>
              <a:rPr lang="es-AR" sz="1000"/>
              <a:t>Los comentarios en el código son la forma más básica de documentación. Se utilizan para describir lo que hace una sección específica del código o para explicar por qué se escribió una línea de código de cierta manera. Los comentarios pueden ayudar a otros desarrolladores a entender el código y hacer modificaciones con mayor facilidad. &gt;</a:t>
            </a:r>
            <a:endParaRPr lang="es-AR" sz="1000"/>
          </a:p>
        </p:txBody>
      </p:sp>
      <p:grpSp>
        <p:nvGrpSpPr>
          <p:cNvPr id="589909925"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201566409"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68014553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66138013" name="Picture 0"/>
          <p:cNvPicPr>
            <a:picLocks noChangeAspect="1"/>
          </p:cNvPicPr>
          <p:nvPr/>
        </p:nvPicPr>
        <p:blipFill rotWithShape="1">
          <a:blip r:embed="rId3"/>
          <a:stretch/>
        </p:blipFill>
        <p:spPr bwMode="auto">
          <a:xfrm>
            <a:off x="3552825" y="2715895"/>
            <a:ext cx="3344545" cy="1809115"/>
          </a:xfrm>
          <a:prstGeom prst="rect">
            <a:avLst/>
          </a:prstGeom>
          <a:noFill/>
        </p:spPr>
      </p:pic>
      <p:sp>
        <p:nvSpPr>
          <p:cNvPr id="17197250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2154568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8087055" name="Google Shape;458;p1"/>
          <p:cNvSpPr txBox="1"/>
          <p:nvPr>
            <p:ph type="ctrTitle"/>
          </p:nvPr>
        </p:nvSpPr>
        <p:spPr bwMode="auto">
          <a:xfrm>
            <a:off x="1413510" y="627380"/>
            <a:ext cx="736854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es una documentación en javascript? </a:t>
            </a:r>
            <a:r>
              <a:rPr lang="en-GB" sz="2000">
                <a:solidFill>
                  <a:schemeClr val="accent3"/>
                </a:solidFill>
              </a:rPr>
              <a:t>{</a:t>
            </a:r>
            <a:endParaRPr sz="2000">
              <a:solidFill>
                <a:schemeClr val="accent3"/>
              </a:solidFill>
            </a:endParaRPr>
          </a:p>
        </p:txBody>
      </p:sp>
      <p:sp>
        <p:nvSpPr>
          <p:cNvPr id="1370287788" name="Google Shape;459;p1"/>
          <p:cNvSpPr txBox="1"/>
          <p:nvPr>
            <p:ph type="subTitle" idx="1"/>
          </p:nvPr>
        </p:nvSpPr>
        <p:spPr bwMode="auto">
          <a:xfrm>
            <a:off x="2123440" y="1131570"/>
            <a:ext cx="6202679" cy="317881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200"/>
              <a:t>&lt; </a:t>
            </a:r>
            <a:r>
              <a:rPr lang="es-AR" sz="1200"/>
              <a:t>La documentación en JavaScript es una colección de información y recursos que explican cómo usar y trabajar con el lenguaje de programación JavaScript. Esta documentación incluye descripciones detalladas de las características y funcionalidades del lenguaje, así como ejemplos y tutoriales para ayudar a los desarrolladores a entender y aplicar el código.</a:t>
            </a:r>
            <a:endParaRPr lang="es-AR" sz="1200"/>
          </a:p>
          <a:p>
            <a:pPr marL="0" lvl="0" indent="0" algn="l" rtl="0">
              <a:lnSpc>
                <a:spcPct val="100000"/>
              </a:lnSpc>
              <a:spcBef>
                <a:spcPts val="0"/>
              </a:spcBef>
              <a:spcAft>
                <a:spcPts val="0"/>
              </a:spcAft>
              <a:buSzPts val="2800"/>
              <a:buNone/>
              <a:defRPr/>
            </a:pPr>
            <a:endParaRPr lang="es-AR" sz="1200"/>
          </a:p>
          <a:p>
            <a:pPr marL="0" lvl="0" indent="0" algn="l" rtl="0">
              <a:lnSpc>
                <a:spcPct val="100000"/>
              </a:lnSpc>
              <a:spcBef>
                <a:spcPts val="0"/>
              </a:spcBef>
              <a:spcAft>
                <a:spcPts val="0"/>
              </a:spcAft>
              <a:buSzPts val="2800"/>
              <a:buNone/>
              <a:defRPr/>
            </a:pPr>
            <a:r>
              <a:rPr lang="es-AR" sz="1200"/>
              <a:t>La documentación puede tomar muchas formas diferentes, desde comentarios en el propio código, hasta guías y tutoriales en línea, documentación de referencia en formato de libro, y otros recursos en línea, como sitios web de programación y foros de discusión.</a:t>
            </a:r>
            <a:endParaRPr lang="es-AR" sz="1200"/>
          </a:p>
          <a:p>
            <a:pPr marL="0" lvl="0" indent="0" algn="l" rtl="0">
              <a:lnSpc>
                <a:spcPct val="100000"/>
              </a:lnSpc>
              <a:spcBef>
                <a:spcPts val="0"/>
              </a:spcBef>
              <a:spcAft>
                <a:spcPts val="0"/>
              </a:spcAft>
              <a:buSzPts val="2800"/>
              <a:buNone/>
              <a:defRPr/>
            </a:pPr>
            <a:endParaRPr lang="es-AR" sz="1200"/>
          </a:p>
          <a:p>
            <a:pPr marL="0" lvl="0" indent="0" algn="l" rtl="0">
              <a:lnSpc>
                <a:spcPct val="100000"/>
              </a:lnSpc>
              <a:spcBef>
                <a:spcPts val="0"/>
              </a:spcBef>
              <a:spcAft>
                <a:spcPts val="0"/>
              </a:spcAft>
              <a:buSzPts val="2800"/>
              <a:buNone/>
              <a:defRPr/>
            </a:pPr>
            <a:r>
              <a:rPr lang="es-AR" sz="1200"/>
              <a:t>La documentación en JavaScript es útil para los desarrolladores que están aprendiendo a utilizar el lenguaje, o para aquellos que necesitan ayuda para implementar una funcionalidad específica en su proyecto. La documentación puede ayudar a los desarrolladores a entender cómo funciona el lenguaje, a utilizarlo de manera efectiva y a resolver problemas que puedan surgir durante el desarrollo de un proyecto. &gt;</a:t>
            </a:r>
            <a:endParaRPr lang="es-AR" sz="1200"/>
          </a:p>
        </p:txBody>
      </p:sp>
      <p:grpSp>
        <p:nvGrpSpPr>
          <p:cNvPr id="2103972708"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234895581" name="Google Shape;465;p1"/>
          <p:cNvSpPr txBox="1"/>
          <p:nvPr>
            <p:ph type="subTitle" idx="1"/>
          </p:nvPr>
        </p:nvSpPr>
        <p:spPr bwMode="auto">
          <a:xfrm>
            <a:off x="-5975" y="91525"/>
            <a:ext cx="4572000" cy="357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88516364"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44365640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26326074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2552126" name="Google Shape;458;p1"/>
          <p:cNvSpPr txBox="1"/>
          <p:nvPr>
            <p:ph type="ctrTitle"/>
          </p:nvPr>
        </p:nvSpPr>
        <p:spPr bwMode="auto">
          <a:xfrm>
            <a:off x="1395730" y="555625"/>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1600"/>
              <a:t>¿Cúales son las cuestiones a tener en cuenta a la hora de leer una documentación en javascript?</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grpSp>
        <p:nvGrpSpPr>
          <p:cNvPr id="28767833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313657338"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803582402"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437344084"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331997772" name="Group 34"/>
          <p:cNvGrpSpPr/>
          <p:nvPr/>
        </p:nvGrpSpPr>
        <p:grpSpPr bwMode="auto">
          <a:xfrm rot="0">
            <a:off x="1753235" y="1256030"/>
            <a:ext cx="7200900" cy="2726055"/>
            <a:chOff x="2778" y="1800"/>
            <a:chExt cx="11340" cy="2764"/>
          </a:xfrm>
        </p:grpSpPr>
        <p:sp>
          <p:nvSpPr>
            <p:cNvPr id="481" name="Google Shape;481;p3"/>
            <p:cNvSpPr txBox="1"/>
            <p:nvPr/>
          </p:nvSpPr>
          <p:spPr bwMode="auto">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solidFill>
                    <a:srgbClr val="FF4B4B"/>
                  </a:solidFill>
                </a:rPr>
                <a:t> </a:t>
              </a:r>
              <a:r>
                <a:rPr lang="en-GB" sz="1200">
                  <a:solidFill>
                    <a:srgbClr val="00B050"/>
                  </a:solidFill>
                </a:rPr>
                <a:t>Versión del lenguaje:</a:t>
              </a:r>
              <a:r>
                <a:rPr lang="en-GB" sz="1200"/>
                <a:t> Asegúra</a:t>
              </a:r>
              <a:r>
                <a:rPr lang="es-AR" sz="1200"/>
                <a:t>rse</a:t>
              </a:r>
              <a:r>
                <a:rPr lang="en-GB" sz="1200"/>
                <a:t> que la documentación</a:t>
              </a:r>
              <a:r>
                <a:rPr lang="es-AR" sz="1200"/>
                <a:t> que se está leyendo</a:t>
              </a:r>
              <a:r>
                <a:rPr lang="en-GB" sz="1200"/>
                <a:t> se corresponde con la versión de JavaScript que </a:t>
              </a:r>
              <a:r>
                <a:rPr lang="es-AR" sz="1200"/>
                <a:t>se está </a:t>
              </a:r>
              <a:r>
                <a:rPr lang="en-GB" sz="1200"/>
                <a:t>utilizando. Cada versión puede tener diferencias significativas en cuanto a la sintaxis y funcionalidades.</a:t>
              </a:r>
              <a:r>
                <a:rPr lang="es-AR" sz="1200"/>
                <a:t> </a:t>
              </a:r>
              <a:r>
                <a:rPr lang="en-GB" sz="1200"/>
                <a:t>&gt;</a:t>
              </a:r>
              <a:endParaRPr lang="en-GB" sz="1200"/>
            </a:p>
          </p:txBody>
        </p:sp>
        <p:sp>
          <p:nvSpPr>
            <p:cNvPr id="24" name="Google Shape;481;p3"/>
            <p:cNvSpPr txBox="1"/>
            <p:nvPr/>
          </p:nvSpPr>
          <p:spPr bwMode="auto">
            <a:xfrm>
              <a:off x="2810" y="2493"/>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Objetivo y contexto:</a:t>
              </a:r>
              <a:r>
                <a:rPr sz="1200"/>
                <a:t> Ent</a:t>
              </a:r>
              <a:r>
                <a:rPr lang="es-AR" sz="1200"/>
                <a:t>ender</a:t>
              </a:r>
              <a:r>
                <a:rPr sz="1200"/>
                <a:t> el objetivo de la documentación y el contexto en el que se utiliza el código. Esto </a:t>
              </a:r>
              <a:r>
                <a:rPr lang="es-AR" sz="1200"/>
                <a:t>ayudará </a:t>
              </a:r>
              <a:r>
                <a:rPr sz="1200"/>
                <a:t>a entender cómo se pueden aplicar las funcionalidades y a qué tipo de proyectos están destinados.</a:t>
              </a:r>
              <a:r>
                <a:rPr lang="es-AR" sz="1200"/>
                <a:t> </a:t>
              </a:r>
              <a:r>
                <a:rPr lang="en-GB" sz="1200"/>
                <a:t>&gt;</a:t>
              </a:r>
              <a:endParaRPr lang="en-GB" sz="1200"/>
            </a:p>
          </p:txBody>
        </p:sp>
        <p:sp>
          <p:nvSpPr>
            <p:cNvPr id="27" name="Google Shape;481;p3"/>
            <p:cNvSpPr txBox="1"/>
            <p:nvPr/>
          </p:nvSpPr>
          <p:spPr bwMode="auto">
            <a:xfrm>
              <a:off x="2810" y="3166"/>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Formato:</a:t>
              </a:r>
              <a:r>
                <a:rPr sz="1200"/>
                <a:t> </a:t>
              </a:r>
              <a:r>
                <a:rPr lang="es-AR" sz="1200"/>
                <a:t>Asegurarse </a:t>
              </a:r>
              <a:r>
                <a:rPr sz="1200"/>
                <a:t>de entender el formato de la documentación. Algunas documentaciones pueden estar en formato de guía, tutorial, referencia o ejemplos, y cada uno tiene su propio enfoque y nivel de detalle.</a:t>
              </a:r>
              <a:r>
                <a:rPr lang="es-AR" sz="1200"/>
                <a:t> </a:t>
              </a:r>
              <a:r>
                <a:rPr lang="en-GB" sz="1200"/>
                <a:t>&gt;</a:t>
              </a:r>
              <a:endParaRPr lang="en-GB" sz="1200"/>
            </a:p>
          </p:txBody>
        </p:sp>
        <p:sp>
          <p:nvSpPr>
            <p:cNvPr id="30" name="Google Shape;481;p3"/>
            <p:cNvSpPr txBox="1"/>
            <p:nvPr/>
          </p:nvSpPr>
          <p:spPr bwMode="auto">
            <a:xfrm>
              <a:off x="2810" y="4048"/>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Vocabulario técnico:</a:t>
              </a:r>
              <a:r>
                <a:rPr sz="1200"/>
                <a:t> Aprende</a:t>
              </a:r>
              <a:r>
                <a:rPr lang="es-AR" sz="1200"/>
                <a:t>r</a:t>
              </a:r>
              <a:r>
                <a:rPr sz="1200"/>
                <a:t> el vocabulario técnico específico del lenguaje. Esto permitirá entender los términos técnicos utilizados en la documentación, lo que a su vez facilitará la comprensión de las funcionalidades y su implementación.</a:t>
              </a:r>
              <a:r>
                <a:rPr lang="es-AR" sz="1200"/>
                <a:t> </a:t>
              </a:r>
              <a:r>
                <a:rPr lang="en-GB" sz="1200"/>
                <a:t>&gt;</a:t>
              </a:r>
              <a:endParaRPr lang="en-GB" sz="1200"/>
            </a:p>
          </p:txBody>
        </p:sp>
      </p:grpSp>
      <p:sp>
        <p:nvSpPr>
          <p:cNvPr id="10373404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713389309"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382312295"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29177197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6636334" name="Google Shape;458;p1"/>
          <p:cNvSpPr txBox="1"/>
          <p:nvPr>
            <p:ph type="ctrTitle"/>
          </p:nvPr>
        </p:nvSpPr>
        <p:spPr bwMode="auto">
          <a:xfrm>
            <a:off x="1395730" y="555625"/>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1600"/>
              <a:t>¿Cúales son las cuestiones a tener en cuenta a la hora de leer una documentación en javascript?</a:t>
            </a:r>
            <a:r>
              <a:rPr lang="en-GB" sz="1600"/>
              <a:t> </a:t>
            </a:r>
            <a:r>
              <a:rPr lang="en-GB" sz="1600">
                <a:solidFill>
                  <a:schemeClr val="accent2"/>
                </a:solidFill>
              </a:rPr>
              <a:t> </a:t>
            </a:r>
            <a:r>
              <a:rPr lang="en-GB" sz="1600">
                <a:solidFill>
                  <a:schemeClr val="accent3"/>
                </a:solidFill>
              </a:rPr>
              <a:t>{</a:t>
            </a:r>
            <a:endParaRPr sz="1600">
              <a:solidFill>
                <a:schemeClr val="accent3"/>
              </a:solidFill>
            </a:endParaRPr>
          </a:p>
        </p:txBody>
      </p:sp>
      <p:grpSp>
        <p:nvGrpSpPr>
          <p:cNvPr id="255008223"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474329714"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251327629"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629909927"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2012465499" name="Group 34"/>
          <p:cNvGrpSpPr/>
          <p:nvPr/>
        </p:nvGrpSpPr>
        <p:grpSpPr bwMode="auto">
          <a:xfrm rot="0">
            <a:off x="1753235" y="1256030"/>
            <a:ext cx="7200900" cy="2264410"/>
            <a:chOff x="2778" y="1800"/>
            <a:chExt cx="11340" cy="2162"/>
          </a:xfrm>
        </p:grpSpPr>
        <p:sp>
          <p:nvSpPr>
            <p:cNvPr id="481" name="Google Shape;481;p3"/>
            <p:cNvSpPr txBox="1"/>
            <p:nvPr/>
          </p:nvSpPr>
          <p:spPr bwMode="auto">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solidFill>
                    <a:srgbClr val="FF4B4B"/>
                  </a:solidFill>
                </a:rPr>
                <a:t> </a:t>
              </a:r>
              <a:r>
                <a:rPr lang="en-GB" sz="1200">
                  <a:solidFill>
                    <a:srgbClr val="00B050"/>
                  </a:solidFill>
                </a:rPr>
                <a:t>Ejemplos:</a:t>
              </a:r>
              <a:r>
                <a:rPr lang="en-GB" sz="1200"/>
                <a:t> Presta</a:t>
              </a:r>
              <a:r>
                <a:rPr lang="es-AR" sz="1200"/>
                <a:t>r</a:t>
              </a:r>
              <a:r>
                <a:rPr lang="en-GB" sz="1200"/>
                <a:t> atención a los ejemplos proporcionados en la documentación. Estos pueden ayudar a entender cómo se utiliza una funcionalidad en particular y a visualizar su implementación en código.</a:t>
              </a:r>
              <a:r>
                <a:rPr lang="es-AR" sz="1200"/>
                <a:t> </a:t>
              </a:r>
              <a:r>
                <a:rPr lang="en-GB" sz="1200"/>
                <a:t>&gt;</a:t>
              </a:r>
              <a:endParaRPr lang="en-GB" sz="1200"/>
            </a:p>
          </p:txBody>
        </p:sp>
        <p:sp>
          <p:nvSpPr>
            <p:cNvPr id="24" name="Google Shape;481;p3"/>
            <p:cNvSpPr txBox="1"/>
            <p:nvPr/>
          </p:nvSpPr>
          <p:spPr bwMode="auto">
            <a:xfrm>
              <a:off x="2810" y="2493"/>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Actualización:</a:t>
              </a:r>
              <a:r>
                <a:rPr sz="1200"/>
                <a:t> Ten</a:t>
              </a:r>
              <a:r>
                <a:rPr lang="es-AR" sz="1200"/>
                <a:t>er</a:t>
              </a:r>
              <a:r>
                <a:rPr sz="1200"/>
                <a:t> en cuenta que la documentación puede actualizarse con el tiempo, y que puede haber cambios en las funcionalidades o nuevas adiciones. </a:t>
              </a:r>
              <a:r>
                <a:rPr lang="es-AR" sz="1200"/>
                <a:t>Asegurarse </a:t>
              </a:r>
              <a:r>
                <a:rPr sz="1200"/>
                <a:t>de estar consultando la documentación más actualizada para evitar posibles errores o confusiones.</a:t>
              </a:r>
              <a:r>
                <a:rPr lang="es-AR" sz="1200"/>
                <a:t> </a:t>
              </a:r>
              <a:r>
                <a:rPr lang="en-GB" sz="1200"/>
                <a:t>&gt;</a:t>
              </a:r>
              <a:endParaRPr lang="en-GB" sz="1200"/>
            </a:p>
          </p:txBody>
        </p:sp>
        <p:sp>
          <p:nvSpPr>
            <p:cNvPr id="27" name="Google Shape;481;p3"/>
            <p:cNvSpPr txBox="1"/>
            <p:nvPr/>
          </p:nvSpPr>
          <p:spPr bwMode="auto">
            <a:xfrm>
              <a:off x="2810" y="3166"/>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solidFill>
                    <a:srgbClr val="00B050"/>
                  </a:solidFill>
                </a:rPr>
                <a:t>Fuentes confiables:</a:t>
              </a:r>
              <a:r>
                <a:rPr sz="1200"/>
                <a:t> </a:t>
              </a:r>
              <a:r>
                <a:rPr lang="es-AR" sz="1200"/>
                <a:t>Asegurarse </a:t>
              </a:r>
              <a:r>
                <a:rPr sz="1200"/>
                <a:t>de que la documentación que </a:t>
              </a:r>
              <a:r>
                <a:rPr lang="es-AR" sz="1200"/>
                <a:t>se está </a:t>
              </a:r>
              <a:r>
                <a:rPr sz="1200"/>
                <a:t>leyendo proviene de una fuente confiable, como la documentación oficial del lenguaje o sitios web reconocidos en la comunidad de desarrollo de JavaScript.</a:t>
              </a:r>
              <a:r>
                <a:rPr lang="es-AR" sz="1200"/>
                <a:t> </a:t>
              </a:r>
              <a:r>
                <a:rPr lang="en-GB" sz="1200"/>
                <a:t>&gt;</a:t>
              </a:r>
              <a:endParaRPr lang="en-GB" sz="1200"/>
            </a:p>
          </p:txBody>
        </p:sp>
      </p:grpSp>
      <p:sp>
        <p:nvSpPr>
          <p:cNvPr id="90744751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903074521"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60817982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6688936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369527405"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436797007"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ES" sz="2000"/>
              <a:t>Documentaciones de</a:t>
            </a:r>
            <a:r>
              <a:rPr sz="2000"/>
              <a:t> JavaScript</a:t>
            </a:r>
            <a:r>
              <a:rPr lang="es-AR" sz="2000"/>
              <a:t> </a:t>
            </a:r>
            <a:r>
              <a:rPr lang="en-GB" sz="2000">
                <a:solidFill>
                  <a:schemeClr val="accent6"/>
                </a:solidFill>
              </a:rPr>
              <a:t>{</a:t>
            </a:r>
            <a:r>
              <a:rPr lang="en-GB" sz="2000"/>
              <a:t> </a:t>
            </a:r>
            <a:endParaRPr lang="en-GB" sz="2000"/>
          </a:p>
        </p:txBody>
      </p:sp>
      <p:sp>
        <p:nvSpPr>
          <p:cNvPr id="1686266536" name="Google Shape;512;p5"/>
          <p:cNvSpPr txBox="1"/>
          <p:nvPr/>
        </p:nvSpPr>
        <p:spPr bwMode="auto">
          <a:xfrm>
            <a:off x="1412240" y="2715895"/>
            <a:ext cx="5526405"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FFC000"/>
                </a:solidFill>
              </a:rPr>
              <a:t>&lt;MDN Web Docs&gt;</a:t>
            </a:r>
            <a:r>
              <a:rPr lang="en-GB"/>
              <a:t> </a:t>
            </a:r>
            <a:r>
              <a:rPr lang="es-AR"/>
              <a:t>{ Mozilla Developer Network (MDN) Web Docs es una excelente fuente de información sobre JavaScript. Ofrece documentación detallada sobre el lenguaje, junto con tutoriales, guías, demos y ejemplos de código. }</a:t>
            </a:r>
            <a:endParaRPr lang="es-AR"/>
          </a:p>
        </p:txBody>
      </p:sp>
      <p:sp>
        <p:nvSpPr>
          <p:cNvPr id="1881723590" name="Google Shape;512;p5"/>
          <p:cNvSpPr txBox="1"/>
          <p:nvPr/>
        </p:nvSpPr>
        <p:spPr bwMode="auto">
          <a:xfrm>
            <a:off x="1412240" y="1304290"/>
            <a:ext cx="5666740" cy="12712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FFC000"/>
                </a:solidFill>
              </a:rPr>
              <a:t>&lt;Documentación oficial de JavaScript&gt;</a:t>
            </a:r>
            <a:r>
              <a:rPr lang="en-GB"/>
              <a:t> </a:t>
            </a:r>
            <a:r>
              <a:rPr lang="es-AR"/>
              <a:t>{ </a:t>
            </a:r>
            <a:r>
              <a:rPr/>
              <a:t>proporciona información completa y detallada sobre el lenguaje. Puedes encontrar información sobre la sintaxis, las funciones, las estructuras de control de flujo, los objetos y mucho más.</a:t>
            </a:r>
            <a:r>
              <a:rPr lang="en-GB"/>
              <a:t> </a:t>
            </a:r>
            <a:r>
              <a:rPr lang="es-AR"/>
              <a:t>}</a:t>
            </a:r>
            <a:endParaRPr lang="es-AR"/>
          </a:p>
        </p:txBody>
      </p:sp>
      <p:sp>
        <p:nvSpPr>
          <p:cNvPr id="28601812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2016443274" name="Picture 6" descr="jsdoc-logo"/>
          <p:cNvPicPr>
            <a:picLocks noChangeAspect="1"/>
          </p:cNvPicPr>
          <p:nvPr/>
        </p:nvPicPr>
        <p:blipFill rotWithShape="1">
          <a:blip r:embed="rId3"/>
          <a:srcRect l="8772" t="17367" r="10299" b="15019"/>
          <a:stretch/>
        </p:blipFill>
        <p:spPr bwMode="auto">
          <a:xfrm>
            <a:off x="7223125" y="1491615"/>
            <a:ext cx="1716405" cy="694690"/>
          </a:xfrm>
          <a:prstGeom prst="rect">
            <a:avLst/>
          </a:prstGeom>
        </p:spPr>
      </p:pic>
      <p:pic>
        <p:nvPicPr>
          <p:cNvPr id="1832915131" name="Picture 7" descr="MDN_Web_Docs_logo.svg"/>
          <p:cNvPicPr>
            <a:picLocks noChangeAspect="1"/>
          </p:cNvPicPr>
          <p:nvPr/>
        </p:nvPicPr>
        <p:blipFill rotWithShape="1">
          <a:blip r:embed="rId4"/>
          <a:stretch/>
        </p:blipFill>
        <p:spPr bwMode="auto">
          <a:xfrm>
            <a:off x="7160895" y="3147695"/>
            <a:ext cx="1840230" cy="530225"/>
          </a:xfrm>
          <a:prstGeom prst="rect">
            <a:avLst/>
          </a:prstGeom>
        </p:spPr>
      </p:pic>
      <p:sp>
        <p:nvSpPr>
          <p:cNvPr id="2087161096"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842460410"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2035294419"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10247459"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178044240"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ES" sz="2000"/>
              <a:t>Documentaciones de</a:t>
            </a:r>
            <a:r>
              <a:rPr sz="2000"/>
              <a:t> JavaScript</a:t>
            </a:r>
            <a:r>
              <a:rPr lang="es-AR" sz="2000"/>
              <a:t> </a:t>
            </a:r>
            <a:r>
              <a:rPr lang="en-GB" sz="2000">
                <a:solidFill>
                  <a:schemeClr val="accent6"/>
                </a:solidFill>
              </a:rPr>
              <a:t>{</a:t>
            </a:r>
            <a:r>
              <a:rPr lang="en-GB" sz="2000"/>
              <a:t> </a:t>
            </a:r>
            <a:endParaRPr lang="en-GB" sz="2000"/>
          </a:p>
        </p:txBody>
      </p:sp>
      <p:sp>
        <p:nvSpPr>
          <p:cNvPr id="2014366275" name="Google Shape;512;p5"/>
          <p:cNvSpPr txBox="1"/>
          <p:nvPr/>
        </p:nvSpPr>
        <p:spPr bwMode="auto">
          <a:xfrm>
            <a:off x="1412240" y="2721610"/>
            <a:ext cx="6021070"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FFC000"/>
                </a:solidFill>
              </a:rPr>
              <a:t>&lt;W3Schools&gt;</a:t>
            </a:r>
            <a:r>
              <a:rPr lang="en-GB"/>
              <a:t> </a:t>
            </a:r>
            <a:r>
              <a:rPr lang="es-AR"/>
              <a:t>{ es un sitio web popular que ofrece tutoriales y recursos para desarrolladores web, incluyendo tutoriales sobre JavaScript. Los tutoriales son concisos y fáciles de seguir, y también hay ejemplos de código para ayudarte a entender los conceptos. }</a:t>
            </a:r>
            <a:endParaRPr lang="es-AR"/>
          </a:p>
        </p:txBody>
      </p:sp>
      <p:sp>
        <p:nvSpPr>
          <p:cNvPr id="108595449" name="Google Shape;512;p5"/>
          <p:cNvSpPr txBox="1"/>
          <p:nvPr/>
        </p:nvSpPr>
        <p:spPr bwMode="auto">
          <a:xfrm>
            <a:off x="1412240" y="1304290"/>
            <a:ext cx="5666740" cy="12712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FFC000"/>
                </a:solidFill>
              </a:rPr>
              <a:t>&lt;Stack Overflow&gt;</a:t>
            </a:r>
            <a:r>
              <a:rPr lang="en-GB"/>
              <a:t> </a:t>
            </a:r>
            <a:r>
              <a:rPr lang="es-AR"/>
              <a:t>{ </a:t>
            </a:r>
            <a:r>
              <a:rPr/>
              <a:t>es una comunidad en línea</a:t>
            </a:r>
            <a:r>
              <a:rPr lang="es-ES"/>
              <a:t> d</a:t>
            </a:r>
            <a:r>
              <a:rPr/>
              <a:t>e desarrolladores que pueden ayudarte a resolver problemas y responder preguntas sobre JavaScript. Puedes buscar preguntas y respuestas sobre temas específicos en JavaScript, o publicar una pregunta tú mismo.</a:t>
            </a:r>
            <a:r>
              <a:rPr lang="es-ES"/>
              <a:t> Con la llegada de la Inteligencia Artificial, se puso en duda su continuidad debido a que los desarrolladores utilizan la IA como primera fuente de confianza o esa es la tendencia. }</a:t>
            </a:r>
            <a:endParaRPr lang="es-AR"/>
          </a:p>
        </p:txBody>
      </p:sp>
      <p:sp>
        <p:nvSpPr>
          <p:cNvPr id="77423827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pic>
        <p:nvPicPr>
          <p:cNvPr id="359397364" name="Picture 5" descr="1280px-Stack_Overflow_logo.svg"/>
          <p:cNvPicPr>
            <a:picLocks noChangeAspect="1"/>
          </p:cNvPicPr>
          <p:nvPr/>
        </p:nvPicPr>
        <p:blipFill rotWithShape="1">
          <a:blip r:embed="rId3"/>
          <a:stretch/>
        </p:blipFill>
        <p:spPr bwMode="auto">
          <a:xfrm>
            <a:off x="6962140" y="1563370"/>
            <a:ext cx="2077085" cy="407670"/>
          </a:xfrm>
          <a:prstGeom prst="rect">
            <a:avLst/>
          </a:prstGeom>
        </p:spPr>
      </p:pic>
      <p:pic>
        <p:nvPicPr>
          <p:cNvPr id="1525280043" name="Picture 6" descr="W3Schools_logo.svg"/>
          <p:cNvPicPr>
            <a:picLocks noChangeAspect="1"/>
          </p:cNvPicPr>
          <p:nvPr/>
        </p:nvPicPr>
        <p:blipFill rotWithShape="1">
          <a:blip r:embed="rId4"/>
          <a:stretch/>
        </p:blipFill>
        <p:spPr bwMode="auto">
          <a:xfrm>
            <a:off x="7668260" y="3003550"/>
            <a:ext cx="909320" cy="859155"/>
          </a:xfrm>
          <a:prstGeom prst="rect">
            <a:avLst/>
          </a:prstGeom>
        </p:spPr>
      </p:pic>
      <p:sp>
        <p:nvSpPr>
          <p:cNvPr id="855896026"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73613246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68028834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2257883" name="Google Shape;551;p5"/>
          <p:cNvGrpSpPr/>
          <p:nvPr/>
        </p:nvGrpSpPr>
        <p:grpSpPr bwMode="auto">
          <a:xfrm>
            <a:off x="828040" y="1347470"/>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grpSp>
        <p:nvGrpSpPr>
          <p:cNvPr id="950345429" name="Group 6"/>
          <p:cNvGrpSpPr/>
          <p:nvPr/>
        </p:nvGrpSpPr>
        <p:grpSpPr bwMode="auto">
          <a:xfrm>
            <a:off x="1215390" y="1513840"/>
            <a:ext cx="1523365" cy="426720"/>
            <a:chOff x="2543" y="2149"/>
            <a:chExt cx="2399" cy="672"/>
          </a:xfrm>
        </p:grpSpPr>
        <p:grpSp>
          <p:nvGrpSpPr>
            <p:cNvPr id="545" name="Google Shape;545;p5"/>
            <p:cNvGrpSpPr/>
            <p:nvPr/>
          </p:nvGrpSpPr>
          <p:grpSpPr bwMode="auto">
            <a:xfrm>
              <a:off x="2543" y="2149"/>
              <a:ext cx="1521" cy="672"/>
              <a:chOff x="1665363" y="1706700"/>
              <a:chExt cx="1103680" cy="487500"/>
            </a:xfrm>
          </p:grpSpPr>
          <p:sp>
            <p:nvSpPr>
              <p:cNvPr id="546" name="Google Shape;546;p5"/>
              <p:cNvSpPr/>
              <p:nvPr/>
            </p:nvSpPr>
            <p:spPr bwMode="auto">
              <a:xfrm flipH="1">
                <a:off x="270034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47" name="Google Shape;547;p5"/>
              <p:cNvSpPr/>
              <p:nvPr/>
            </p:nvSpPr>
            <p:spPr bwMode="auto">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grpSp>
        <p:sp>
          <p:nvSpPr>
            <p:cNvPr id="482" name="Google Shape;482;p3"/>
            <p:cNvSpPr txBox="1"/>
            <p:nvPr/>
          </p:nvSpPr>
          <p:spPr bwMode="auto">
            <a:xfrm>
              <a:off x="2543" y="2212"/>
              <a:ext cx="2399"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MX"/>
                <a:t>&lt;script&gt;</a:t>
              </a:r>
              <a:endParaRPr lang="es-MX"/>
            </a:p>
          </p:txBody>
        </p:sp>
      </p:grpSp>
      <p:grpSp>
        <p:nvGrpSpPr>
          <p:cNvPr id="2015735728" name="Group 7"/>
          <p:cNvGrpSpPr/>
          <p:nvPr/>
        </p:nvGrpSpPr>
        <p:grpSpPr bwMode="auto">
          <a:xfrm>
            <a:off x="1348105" y="3080385"/>
            <a:ext cx="692150" cy="426720"/>
            <a:chOff x="2498" y="5294"/>
            <a:chExt cx="1090" cy="672"/>
          </a:xfrm>
        </p:grpSpPr>
        <p:grpSp>
          <p:nvGrpSpPr>
            <p:cNvPr id="548" name="Google Shape;548;p5"/>
            <p:cNvGrpSpPr/>
            <p:nvPr/>
          </p:nvGrpSpPr>
          <p:grpSpPr bwMode="auto">
            <a:xfrm>
              <a:off x="2543" y="5294"/>
              <a:ext cx="797" cy="672"/>
              <a:chOff x="1665363" y="1706700"/>
              <a:chExt cx="578325" cy="487500"/>
            </a:xfrm>
          </p:grpSpPr>
          <p:sp>
            <p:nvSpPr>
              <p:cNvPr id="549" name="Google Shape;549;p5"/>
              <p:cNvSpPr/>
              <p:nvPr/>
            </p:nvSpPr>
            <p:spPr bwMode="auto">
              <a:xfrm flipH="1">
                <a:off x="2174988"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50" name="Google Shape;550;p5"/>
              <p:cNvSpPr/>
              <p:nvPr/>
            </p:nvSpPr>
            <p:spPr bwMode="auto">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grpSp>
        <p:sp>
          <p:nvSpPr>
            <p:cNvPr id="9" name="Google Shape;482;p3"/>
            <p:cNvSpPr txBox="1"/>
            <p:nvPr/>
          </p:nvSpPr>
          <p:spPr bwMode="auto">
            <a:xfrm>
              <a:off x="2498" y="5363"/>
              <a:ext cx="1091"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MX"/>
                <a:t> .js</a:t>
              </a:r>
              <a:endParaRPr lang="es-MX"/>
            </a:p>
          </p:txBody>
        </p:sp>
      </p:grpSp>
      <p:sp>
        <p:nvSpPr>
          <p:cNvPr id="2081702412" name="Google Shape;515;p5"/>
          <p:cNvSpPr txBox="1"/>
          <p:nvPr>
            <p:ph type="title"/>
          </p:nvPr>
        </p:nvSpPr>
        <p:spPr bwMode="auto">
          <a:xfrm>
            <a:off x="1143000" y="62103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MX" sz="2000"/>
              <a:t>¿Cómo integrar JavaScript en un documento html?</a:t>
            </a:r>
            <a:r>
              <a:rPr lang="en-GB" sz="2000"/>
              <a:t> </a:t>
            </a:r>
            <a:r>
              <a:rPr lang="en-GB" sz="2000">
                <a:solidFill>
                  <a:schemeClr val="accent6"/>
                </a:solidFill>
              </a:rPr>
              <a:t>{</a:t>
            </a:r>
            <a:r>
              <a:rPr lang="en-GB" sz="2000"/>
              <a:t> </a:t>
            </a:r>
            <a:endParaRPr lang="en-GB" sz="2000"/>
          </a:p>
        </p:txBody>
      </p:sp>
      <p:sp>
        <p:nvSpPr>
          <p:cNvPr id="1582671573" name="Google Shape;512;p5"/>
          <p:cNvSpPr txBox="1"/>
          <p:nvPr/>
        </p:nvSpPr>
        <p:spPr bwMode="auto">
          <a:xfrm>
            <a:off x="2240280" y="1204595"/>
            <a:ext cx="6895465" cy="115887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 </a:t>
            </a:r>
            <a:r>
              <a:rPr lang="en-GB"/>
              <a:t>Usando la etiqueta script</a:t>
            </a:r>
            <a:r>
              <a:rPr lang="es-MX"/>
              <a:t>, s</a:t>
            </a:r>
            <a:r>
              <a:rPr lang="en-GB"/>
              <a:t>e tiene que agregar la etiqueta script dentro de la sección head o body del documento HTML y dentro de ella escribir el código JavaScript.</a:t>
            </a:r>
            <a:r>
              <a:rPr lang="en-GB"/>
              <a:t>&gt;</a:t>
            </a:r>
            <a:endParaRPr lang="en-GB"/>
          </a:p>
        </p:txBody>
      </p:sp>
      <p:sp>
        <p:nvSpPr>
          <p:cNvPr id="1943041020" name="Google Shape;513;p5"/>
          <p:cNvSpPr txBox="1"/>
          <p:nvPr/>
        </p:nvSpPr>
        <p:spPr bwMode="auto">
          <a:xfrm>
            <a:off x="2240280" y="2788285"/>
            <a:ext cx="6857365" cy="12680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 </a:t>
            </a:r>
            <a:r>
              <a:rPr lang="es-MX"/>
              <a:t>Usando un a</a:t>
            </a:r>
            <a:r>
              <a:rPr lang="en-GB"/>
              <a:t>rchivo externo</a:t>
            </a:r>
            <a:r>
              <a:rPr lang="es-MX"/>
              <a:t> con extensión .js , t</a:t>
            </a:r>
            <a:r>
              <a:rPr lang="en-GB"/>
              <a:t>ambién es posible incluir JavaScript en un archivo externo y vincularlo al documento HTML. Esto se hace mediante la etiqueta &lt;script&gt; con el atributo "src" que apunta al archivo JavaScript externo.  &gt;</a:t>
            </a:r>
            <a:endParaRPr lang="en-GB"/>
          </a:p>
        </p:txBody>
      </p:sp>
      <p:sp>
        <p:nvSpPr>
          <p:cNvPr id="1424883211"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14887052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206029477"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98717423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2140258"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¿Cómo los navegadores interpretan javascript dentro de un documento html?</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505220530"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794410236"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895357598"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253121538"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481904866" name="Group 34"/>
          <p:cNvGrpSpPr/>
          <p:nvPr/>
        </p:nvGrpSpPr>
        <p:grpSpPr bwMode="auto">
          <a:xfrm>
            <a:off x="1259840" y="1275715"/>
            <a:ext cx="7705090" cy="3247887"/>
            <a:chOff x="1984" y="1782"/>
            <a:chExt cx="12134" cy="5115"/>
          </a:xfrm>
        </p:grpSpPr>
        <p:grpSp>
          <p:nvGrpSpPr>
            <p:cNvPr id="11" name="Group 10"/>
            <p:cNvGrpSpPr/>
            <p:nvPr/>
          </p:nvGrpSpPr>
          <p:grpSpPr bwMode="auto">
            <a:xfrm>
              <a:off x="1984" y="1782"/>
              <a:ext cx="12102" cy="672"/>
              <a:chOff x="2411" y="2263"/>
              <a:chExt cx="12102" cy="1088"/>
            </a:xfrm>
          </p:grpSpPr>
          <p:sp>
            <p:nvSpPr>
              <p:cNvPr id="481" name="Google Shape;481;p3"/>
              <p:cNvSpPr txBox="1"/>
              <p:nvPr/>
            </p:nvSpPr>
            <p:spPr bwMode="auto">
              <a:xfrm>
                <a:off x="3205" y="2263"/>
                <a:ext cx="11308" cy="10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n-GB" sz="1200" b="1">
                    <a:solidFill>
                      <a:schemeClr val="accent1">
                        <a:lumMod val="75000"/>
                      </a:schemeClr>
                    </a:solidFill>
                  </a:rPr>
                  <a:t>Descarga el documento HTML</a:t>
                </a:r>
                <a:r>
                  <a:rPr lang="en-GB" sz="1200">
                    <a:solidFill>
                      <a:schemeClr val="accent1">
                        <a:lumMod val="75000"/>
                      </a:schemeClr>
                    </a:solidFill>
                  </a:rPr>
                  <a:t>:</a:t>
                </a:r>
                <a:r>
                  <a:rPr lang="en-GB" sz="1200"/>
                  <a:t> El navegador descarga el documento HTML desde el servidor web y lo analiza para construir el árbol de nodos del documento.</a:t>
                </a:r>
                <a:r>
                  <a:rPr lang="es-AR" sz="1200"/>
                  <a:t> </a:t>
                </a:r>
                <a:r>
                  <a:rPr lang="en-GB" sz="1200"/>
                  <a:t>&gt;</a:t>
                </a:r>
                <a:endParaRPr lang="en-GB" sz="1200"/>
              </a:p>
            </p:txBody>
          </p:sp>
          <p:sp>
            <p:nvSpPr>
              <p:cNvPr id="480" name="Google Shape;480;p3"/>
              <p:cNvSpPr txBox="1"/>
              <p:nvPr/>
            </p:nvSpPr>
            <p:spPr bwMode="auto">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MX" sz="1400"/>
                  <a:t>1)</a:t>
                </a:r>
                <a:endParaRPr lang="es-MX" sz="1400"/>
              </a:p>
            </p:txBody>
          </p:sp>
        </p:grpSp>
        <p:grpSp>
          <p:nvGrpSpPr>
            <p:cNvPr id="23" name="Group 22"/>
            <p:cNvGrpSpPr/>
            <p:nvPr/>
          </p:nvGrpSpPr>
          <p:grpSpPr bwMode="auto">
            <a:xfrm>
              <a:off x="1984" y="2689"/>
              <a:ext cx="12102" cy="587"/>
              <a:chOff x="2411" y="2263"/>
              <a:chExt cx="12102" cy="1088"/>
            </a:xfrm>
          </p:grpSpPr>
          <p:sp>
            <p:nvSpPr>
              <p:cNvPr id="24" name="Google Shape;481;p3"/>
              <p:cNvSpPr txBox="1"/>
              <p:nvPr/>
            </p:nvSpPr>
            <p:spPr bwMode="auto">
              <a:xfrm>
                <a:off x="3205" y="2263"/>
                <a:ext cx="11308" cy="10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sz="1200">
                    <a:solidFill>
                      <a:schemeClr val="accent1">
                        <a:lumMod val="75000"/>
                      </a:schemeClr>
                    </a:solidFill>
                  </a:rPr>
                  <a:t>Encuentra las etiquetas &lt;script&gt;:</a:t>
                </a:r>
                <a:r>
                  <a:rPr sz="1200"/>
                  <a:t> El navegador busca las etiquetas &lt;script&gt; en el documento HTML y extrae el código JavaScript que se encuentra dentro de ellas.</a:t>
                </a:r>
                <a:r>
                  <a:rPr lang="en-GB" sz="1200"/>
                  <a:t>&gt;</a:t>
                </a:r>
                <a:endParaRPr lang="en-GB" sz="1200"/>
              </a:p>
            </p:txBody>
          </p:sp>
          <p:sp>
            <p:nvSpPr>
              <p:cNvPr id="25" name="Google Shape;480;p3"/>
              <p:cNvSpPr txBox="1"/>
              <p:nvPr/>
            </p:nvSpPr>
            <p:spPr bwMode="auto">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MX" sz="1400"/>
                  <a:t>2)</a:t>
                </a:r>
                <a:endParaRPr lang="es-MX" sz="1400"/>
              </a:p>
            </p:txBody>
          </p:sp>
        </p:grpSp>
        <p:grpSp>
          <p:nvGrpSpPr>
            <p:cNvPr id="26" name="Group 25"/>
            <p:cNvGrpSpPr/>
            <p:nvPr/>
          </p:nvGrpSpPr>
          <p:grpSpPr bwMode="auto">
            <a:xfrm>
              <a:off x="2016" y="3604"/>
              <a:ext cx="12102" cy="587"/>
              <a:chOff x="2411" y="2263"/>
              <a:chExt cx="12102" cy="1088"/>
            </a:xfrm>
          </p:grpSpPr>
          <p:sp>
            <p:nvSpPr>
              <p:cNvPr id="27" name="Google Shape;481;p3"/>
              <p:cNvSpPr txBox="1"/>
              <p:nvPr/>
            </p:nvSpPr>
            <p:spPr bwMode="auto">
              <a:xfrm>
                <a:off x="3205" y="2263"/>
                <a:ext cx="11308" cy="10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sz="1200">
                    <a:solidFill>
                      <a:schemeClr val="accent1">
                        <a:lumMod val="75000"/>
                      </a:schemeClr>
                    </a:solidFill>
                  </a:rPr>
                  <a:t>Analiza el código JavaScript:</a:t>
                </a:r>
                <a:r>
                  <a:rPr sz="1200"/>
                  <a:t> El motor de JavaScript analiza el código JavaScript para detectar cualquier error de sintaxis y compila el código en un formato que pueda ser ejecutado por el navegador.</a:t>
                </a:r>
                <a:r>
                  <a:rPr lang="en-GB" sz="1200"/>
                  <a:t>&gt;</a:t>
                </a:r>
                <a:endParaRPr lang="en-GB" sz="1200"/>
              </a:p>
            </p:txBody>
          </p:sp>
          <p:sp>
            <p:nvSpPr>
              <p:cNvPr id="28" name="Google Shape;480;p3"/>
              <p:cNvSpPr txBox="1"/>
              <p:nvPr/>
            </p:nvSpPr>
            <p:spPr bwMode="auto">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MX" sz="1400"/>
                  <a:t>3)</a:t>
                </a:r>
                <a:endParaRPr lang="es-MX" sz="1400"/>
              </a:p>
            </p:txBody>
          </p:sp>
        </p:grpSp>
        <p:grpSp>
          <p:nvGrpSpPr>
            <p:cNvPr id="29" name="Group 28"/>
            <p:cNvGrpSpPr/>
            <p:nvPr/>
          </p:nvGrpSpPr>
          <p:grpSpPr bwMode="auto">
            <a:xfrm>
              <a:off x="2016" y="4617"/>
              <a:ext cx="12102" cy="1080"/>
              <a:chOff x="2411" y="2263"/>
              <a:chExt cx="12102" cy="1998"/>
            </a:xfrm>
          </p:grpSpPr>
          <p:sp>
            <p:nvSpPr>
              <p:cNvPr id="30" name="Google Shape;481;p3"/>
              <p:cNvSpPr txBox="1"/>
              <p:nvPr/>
            </p:nvSpPr>
            <p:spPr bwMode="auto">
              <a:xfrm>
                <a:off x="3205" y="2263"/>
                <a:ext cx="11308" cy="199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sz="1200">
                    <a:solidFill>
                      <a:schemeClr val="accent1">
                        <a:lumMod val="75000"/>
                      </a:schemeClr>
                    </a:solidFill>
                  </a:rPr>
                  <a:t>Ejecuta el código JavaScript:</a:t>
                </a:r>
                <a:r>
                  <a:rPr sz="1200"/>
                  <a:t> El motor de JavaScript ejecuta el código JavaScript en el orden en que se encuentra en el documento HTML. Si se encuentra algún código que hace referencia a elementos HTML en el documento, el motor de JavaScript espera a que esos elementos sean construidos antes de ejecutar ese código.</a:t>
                </a:r>
                <a:r>
                  <a:rPr lang="en-GB" sz="1200"/>
                  <a:t>&gt;</a:t>
                </a:r>
                <a:endParaRPr lang="en-GB" sz="1200"/>
              </a:p>
            </p:txBody>
          </p:sp>
          <p:sp>
            <p:nvSpPr>
              <p:cNvPr id="31" name="Google Shape;480;p3"/>
              <p:cNvSpPr txBox="1"/>
              <p:nvPr/>
            </p:nvSpPr>
            <p:spPr bwMode="auto">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MX" sz="1400"/>
                  <a:t>4)</a:t>
                </a:r>
                <a:endParaRPr lang="es-MX" sz="1400"/>
              </a:p>
            </p:txBody>
          </p:sp>
        </p:grpSp>
        <p:grpSp>
          <p:nvGrpSpPr>
            <p:cNvPr id="32" name="Group 31"/>
            <p:cNvGrpSpPr/>
            <p:nvPr/>
          </p:nvGrpSpPr>
          <p:grpSpPr bwMode="auto">
            <a:xfrm>
              <a:off x="2016" y="5817"/>
              <a:ext cx="12102" cy="1080"/>
              <a:chOff x="2443" y="2176"/>
              <a:chExt cx="12102" cy="1998"/>
            </a:xfrm>
          </p:grpSpPr>
          <p:sp>
            <p:nvSpPr>
              <p:cNvPr id="33" name="Google Shape;481;p3"/>
              <p:cNvSpPr txBox="1"/>
              <p:nvPr/>
            </p:nvSpPr>
            <p:spPr bwMode="auto">
              <a:xfrm>
                <a:off x="3237" y="2176"/>
                <a:ext cx="11308" cy="199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sz="1200">
                    <a:solidFill>
                      <a:schemeClr val="accent1">
                        <a:lumMod val="75000"/>
                      </a:schemeClr>
                    </a:solidFill>
                  </a:rPr>
                  <a:t>Modifica el contenido de la página:</a:t>
                </a:r>
                <a:r>
                  <a:rPr sz="1200"/>
                  <a:t> Si el código JavaScript modifica el contenido de la página, el motor de JavaScript actualiza el DOM (Document Object Model) del documento HTML para reflejar los cambios.</a:t>
                </a:r>
                <a:r>
                  <a:rPr lang="en-GB" sz="1200"/>
                  <a:t>&gt;</a:t>
                </a:r>
                <a:endParaRPr lang="en-GB" sz="1200"/>
              </a:p>
            </p:txBody>
          </p:sp>
          <p:sp>
            <p:nvSpPr>
              <p:cNvPr id="34" name="Google Shape;480;p3"/>
              <p:cNvSpPr txBox="1"/>
              <p:nvPr/>
            </p:nvSpPr>
            <p:spPr bwMode="auto">
              <a:xfrm flipH="1">
                <a:off x="2443" y="236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MX" sz="1400"/>
                  <a:t>5)</a:t>
                </a:r>
                <a:endParaRPr lang="es-MX" sz="1400"/>
              </a:p>
            </p:txBody>
          </p:sp>
        </p:grpSp>
      </p:grpSp>
      <p:sp>
        <p:nvSpPr>
          <p:cNvPr id="84709643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4811353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Introducción a JavaScript</a:t>
            </a:r>
            <a:endParaRPr lang="es-MX" sz="1400">
              <a:solidFill>
                <a:schemeClr val="accent3"/>
              </a:solidFill>
            </a:endParaRPr>
          </a:p>
        </p:txBody>
      </p:sp>
      <p:sp>
        <p:nvSpPr>
          <p:cNvPr id="144527810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76670526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133380" name="Google Shape;489;p3"/>
          <p:cNvSpPr txBox="1"/>
          <p:nvPr>
            <p:ph type="title" idx="9"/>
          </p:nvPr>
        </p:nvSpPr>
        <p:spPr bwMode="auto">
          <a:xfrm>
            <a:off x="1043305" y="699769"/>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defRPr/>
            </a:pPr>
            <a:r>
              <a:rPr lang="es-AR" sz="2000"/>
              <a:t> </a:t>
            </a:r>
            <a:r>
              <a:rPr lang="en-GB" sz="2000">
                <a:solidFill>
                  <a:schemeClr val="accent6"/>
                </a:solidFill>
              </a:rPr>
              <a:t>{</a:t>
            </a:r>
            <a:endParaRPr sz="2000">
              <a:solidFill>
                <a:schemeClr val="accent6"/>
              </a:solidFill>
            </a:endParaRPr>
          </a:p>
        </p:txBody>
      </p:sp>
      <p:grpSp>
        <p:nvGrpSpPr>
          <p:cNvPr id="2067312012" name="Google Shape;490;p3"/>
          <p:cNvGrpSpPr/>
          <p:nvPr/>
        </p:nvGrpSpPr>
        <p:grpSpPr bwMode="auto">
          <a:xfrm>
            <a:off x="1084825" y="1168950"/>
            <a:ext cx="506100" cy="3336020"/>
            <a:chOff x="1084825" y="1168950"/>
            <a:chExt cx="506100" cy="3336020"/>
          </a:xfrm>
        </p:grpSpPr>
        <p:sp>
          <p:nvSpPr>
            <p:cNvPr id="491" name="Google Shape;491;p3"/>
            <p:cNvSpPr txBox="1"/>
            <p:nvPr/>
          </p:nvSpPr>
          <p:spPr bwMode="auto">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400" b="0" i="0" u="none" strike="noStrike" cap="none">
                  <a:solidFill>
                    <a:schemeClr val="accent6"/>
                  </a:solidFill>
                  <a:latin typeface="Fira Code"/>
                  <a:ea typeface="Fira Code"/>
                  <a:cs typeface="Fira Code"/>
                </a:rPr>
                <a:t>}</a:t>
              </a:r>
              <a:endParaRPr lang="en-GB" sz="2400" b="0" i="0" u="none" strike="noStrike" cap="none">
                <a:solidFill>
                  <a:schemeClr val="accent6"/>
                </a:solidFill>
                <a:latin typeface="Fira Code"/>
                <a:ea typeface="Fira Code"/>
                <a:cs typeface="Fira Code"/>
              </a:endParaRPr>
            </a:p>
          </p:txBody>
        </p:sp>
        <p:cxnSp>
          <p:nvCxnSpPr>
            <p:cNvPr id="492" name="Google Shape;492;p3"/>
            <p:cNvCxnSpPr/>
            <p:nvPr/>
          </p:nvCxnSpPr>
          <p:spPr bwMode="auto">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942466393" name="Google Shape;471;p2"/>
          <p:cNvSpPr txBox="1"/>
          <p:nvPr/>
        </p:nvSpPr>
        <p:spPr bwMode="auto">
          <a:xfrm>
            <a:off x="1907540" y="1896745"/>
            <a:ext cx="6356985" cy="13087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2400"/>
              <a:t>[</a:t>
            </a:r>
            <a:r>
              <a:rPr lang="es-MX" sz="2400"/>
              <a:t> </a:t>
            </a:r>
            <a:r>
              <a:rPr lang="es-AR" sz="2400"/>
              <a:t>Fundamentos de JavaScript</a:t>
            </a:r>
            <a:r>
              <a:rPr lang="es-MX" sz="2400"/>
              <a:t> </a:t>
            </a:r>
            <a:r>
              <a:rPr lang="es-AR" sz="2400"/>
              <a:t>]</a:t>
            </a:r>
            <a:r>
              <a:rPr lang="es-AR" sz="2400"/>
              <a:t> </a:t>
            </a:r>
            <a:r>
              <a:rPr lang="es-AR" sz="2400">
                <a:solidFill>
                  <a:schemeClr val="accent2"/>
                </a:solidFill>
              </a:rPr>
              <a:t> </a:t>
            </a:r>
            <a:endParaRPr lang="es-AR" sz="2400">
              <a:solidFill>
                <a:schemeClr val="accent2"/>
              </a:solidFill>
            </a:endParaRPr>
          </a:p>
        </p:txBody>
      </p:sp>
      <p:sp>
        <p:nvSpPr>
          <p:cNvPr id="134643364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822184617"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770197270"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8076831" name="Google Shape;458;p1"/>
          <p:cNvSpPr txBox="1"/>
          <p:nvPr>
            <p:ph type="ctrTitle"/>
          </p:nvPr>
        </p:nvSpPr>
        <p:spPr bwMode="auto">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¿Cúales son los tipos de datos en JavaScript?</a:t>
            </a:r>
            <a:r>
              <a:rPr lang="es-MX" sz="2000"/>
              <a:t> </a:t>
            </a:r>
            <a:r>
              <a:rPr lang="en-GB" sz="2000">
                <a:solidFill>
                  <a:schemeClr val="accent3"/>
                </a:solidFill>
              </a:rPr>
              <a:t>{</a:t>
            </a:r>
            <a:endParaRPr sz="2000">
              <a:solidFill>
                <a:schemeClr val="accent3"/>
              </a:solidFill>
            </a:endParaRPr>
          </a:p>
        </p:txBody>
      </p:sp>
      <p:grpSp>
        <p:nvGrpSpPr>
          <p:cNvPr id="1152793489"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443916845" name="Google Shape;481;p3"/>
          <p:cNvSpPr txBox="1"/>
          <p:nvPr/>
        </p:nvSpPr>
        <p:spPr bwMode="auto">
          <a:xfrm>
            <a:off x="1551940" y="1275715"/>
            <a:ext cx="7557770" cy="64198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2000"/>
              <a:t>&lt;</a:t>
            </a:r>
            <a:r>
              <a:rPr sz="2000"/>
              <a:t>En JavaScript, los </a:t>
            </a:r>
            <a:r>
              <a:rPr lang="es-MX" sz="2000"/>
              <a:t>tipos </a:t>
            </a:r>
            <a:r>
              <a:rPr sz="2000"/>
              <a:t>de datos se dividen en dos categorías</a:t>
            </a:r>
            <a:r>
              <a:rPr lang="en-GB" sz="2000"/>
              <a:t>&gt;</a:t>
            </a:r>
            <a:endParaRPr lang="en-GB" sz="2000"/>
          </a:p>
        </p:txBody>
      </p:sp>
      <p:cxnSp>
        <p:nvCxnSpPr>
          <p:cNvPr id="1017652874" name="Straight Connector 5"/>
          <p:cNvCxnSpPr>
            <a:stCxn id="1443916845" idx="2"/>
          </p:cNvCxnSpPr>
          <p:nvPr/>
        </p:nvCxnSpPr>
        <p:spPr bwMode="auto">
          <a:xfrm flipH="1">
            <a:off x="5330190" y="1917700"/>
            <a:ext cx="635" cy="4959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15553572" name="Straight Connector 6"/>
          <p:cNvCxnSpPr/>
          <p:nvPr/>
        </p:nvCxnSpPr>
        <p:spPr bwMode="auto">
          <a:xfrm>
            <a:off x="3551555" y="2427605"/>
            <a:ext cx="355790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37511523" name="Google Shape;481;p3"/>
          <p:cNvSpPr txBox="1"/>
          <p:nvPr/>
        </p:nvSpPr>
        <p:spPr bwMode="auto">
          <a:xfrm>
            <a:off x="6232525" y="314769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MX" sz="2000" b="1">
                <a:solidFill>
                  <a:schemeClr val="tx1"/>
                </a:solidFill>
              </a:rPr>
              <a:t>COMPLEJOS</a:t>
            </a:r>
            <a:endParaRPr lang="es-MX" sz="2000" b="1">
              <a:solidFill>
                <a:schemeClr val="tx1"/>
              </a:solidFill>
            </a:endParaRPr>
          </a:p>
        </p:txBody>
      </p:sp>
      <p:sp>
        <p:nvSpPr>
          <p:cNvPr id="2033631761" name="Google Shape;481;p3"/>
          <p:cNvSpPr txBox="1"/>
          <p:nvPr/>
        </p:nvSpPr>
        <p:spPr bwMode="auto">
          <a:xfrm>
            <a:off x="2674620" y="314769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MX" sz="2000" b="1">
                <a:solidFill>
                  <a:schemeClr val="tx1"/>
                </a:solidFill>
              </a:rPr>
              <a:t>PRIMITIVOS</a:t>
            </a:r>
            <a:endParaRPr lang="es-MX" sz="2000" b="1">
              <a:solidFill>
                <a:schemeClr val="tx1"/>
              </a:solidFill>
            </a:endParaRPr>
          </a:p>
        </p:txBody>
      </p:sp>
      <p:cxnSp>
        <p:nvCxnSpPr>
          <p:cNvPr id="294943938" name="Straight Arrow Connector 12"/>
          <p:cNvCxnSpPr/>
          <p:nvPr/>
        </p:nvCxnSpPr>
        <p:spPr bwMode="auto">
          <a:xfrm>
            <a:off x="3551555" y="2413635"/>
            <a:ext cx="0" cy="55753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05861590" name="Straight Arrow Connector 13"/>
          <p:cNvCxnSpPr/>
          <p:nvPr/>
        </p:nvCxnSpPr>
        <p:spPr bwMode="auto">
          <a:xfrm>
            <a:off x="7109460" y="2427605"/>
            <a:ext cx="0" cy="55753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537253798"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818206802"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702659900"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98195136"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6469117" name="Google Shape;458;p1"/>
          <p:cNvSpPr txBox="1"/>
          <p:nvPr>
            <p:ph type="ctrTitle"/>
          </p:nvPr>
        </p:nvSpPr>
        <p:spPr bwMode="auto">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¿Cúales son los tipos de datos en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854211125"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452909238"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450665695"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013768575"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941339555" name="Google Shape;489;p3"/>
          <p:cNvSpPr txBox="1"/>
          <p:nvPr/>
        </p:nvSpPr>
        <p:spPr bwMode="auto">
          <a:xfrm>
            <a:off x="4427855" y="859790"/>
            <a:ext cx="1606550" cy="431799"/>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PRIMITIVOS</a:t>
            </a:r>
            <a:r>
              <a:rPr lang="es-AR" sz="1400">
                <a:solidFill>
                  <a:schemeClr val="accent6"/>
                </a:solidFill>
              </a:rPr>
              <a:t>&gt;</a:t>
            </a:r>
            <a:endParaRPr lang="es-AR" sz="1400">
              <a:solidFill>
                <a:schemeClr val="accent6"/>
              </a:solidFill>
            </a:endParaRPr>
          </a:p>
        </p:txBody>
      </p:sp>
      <p:grpSp>
        <p:nvGrpSpPr>
          <p:cNvPr id="1339603885" name="Group 2"/>
          <p:cNvGrpSpPr/>
          <p:nvPr/>
        </p:nvGrpSpPr>
        <p:grpSpPr bwMode="auto">
          <a:xfrm>
            <a:off x="1764030" y="1203959"/>
            <a:ext cx="7200900" cy="3175261"/>
            <a:chOff x="2778" y="2027"/>
            <a:chExt cx="11340" cy="4366"/>
          </a:xfrm>
        </p:grpSpPr>
        <p:grpSp>
          <p:nvGrpSpPr>
            <p:cNvPr id="35" name="Group 34"/>
            <p:cNvGrpSpPr/>
            <p:nvPr/>
          </p:nvGrpSpPr>
          <p:grpSpPr bwMode="auto">
            <a:xfrm>
              <a:off x="2778" y="2027"/>
              <a:ext cx="11340" cy="3551"/>
              <a:chOff x="2778" y="1800"/>
              <a:chExt cx="11340" cy="3551"/>
            </a:xfrm>
          </p:grpSpPr>
          <p:sp>
            <p:nvSpPr>
              <p:cNvPr id="481" name="Google Shape;481;p3"/>
              <p:cNvSpPr txBox="1"/>
              <p:nvPr/>
            </p:nvSpPr>
            <p:spPr bwMode="auto">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lang="en-GB" b="1">
                    <a:solidFill>
                      <a:srgbClr val="FF4B4B"/>
                    </a:solidFill>
                  </a:rPr>
                  <a:t>number</a:t>
                </a:r>
                <a:r>
                  <a:rPr lang="en-GB">
                    <a:solidFill>
                      <a:srgbClr val="FF4B4B"/>
                    </a:solidFill>
                  </a:rPr>
                  <a:t>:</a:t>
                </a:r>
                <a:r>
                  <a:rPr lang="en-GB"/>
                  <a:t> Representa números, ya sean enteros o decimales. Por ejemplo: 1, 3.14, -8, etc.</a:t>
                </a:r>
                <a:r>
                  <a:rPr lang="es-AR"/>
                  <a:t> </a:t>
                </a:r>
                <a:r>
                  <a:rPr lang="en-GB"/>
                  <a:t>&gt;</a:t>
                </a:r>
                <a:endParaRPr lang="en-GB"/>
              </a:p>
            </p:txBody>
          </p:sp>
          <p:sp>
            <p:nvSpPr>
              <p:cNvPr id="24" name="Google Shape;481;p3"/>
              <p:cNvSpPr txBox="1"/>
              <p:nvPr/>
            </p:nvSpPr>
            <p:spPr bwMode="auto">
              <a:xfrm>
                <a:off x="2810" y="2493"/>
                <a:ext cx="11308" cy="58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a:solidFill>
                      <a:srgbClr val="FF4B4B"/>
                    </a:solidFill>
                  </a:rPr>
                  <a:t>string:</a:t>
                </a:r>
                <a:r>
                  <a:rPr/>
                  <a:t> Representa cadenas de texto. Las cadenas se pueden definir utilizando comillas simples o dobles. Por ejemplo: "Hola", 'Mundo', "123", etc.</a:t>
                </a:r>
                <a:r>
                  <a:rPr lang="en-GB"/>
                  <a:t>&gt;</a:t>
                </a:r>
                <a:endParaRPr lang="en-GB"/>
              </a:p>
            </p:txBody>
          </p:sp>
          <p:sp>
            <p:nvSpPr>
              <p:cNvPr id="27" name="Google Shape;481;p3"/>
              <p:cNvSpPr txBox="1"/>
              <p:nvPr/>
            </p:nvSpPr>
            <p:spPr bwMode="auto">
              <a:xfrm>
                <a:off x="2810" y="3285"/>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a:solidFill>
                      <a:srgbClr val="FF4B4B"/>
                    </a:solidFill>
                  </a:rPr>
                  <a:t>boolean</a:t>
                </a:r>
                <a:r>
                  <a:rPr lang="es-MX">
                    <a:solidFill>
                      <a:srgbClr val="FF4B4B"/>
                    </a:solidFill>
                  </a:rPr>
                  <a:t>:</a:t>
                </a:r>
                <a:r>
                  <a:rPr/>
                  <a:t> Representa dos valores: true (verdadero) y false (falso). Se utiliza para representar el valor de verdad de una expresión, por ejemplo, si una condición es verdadera o falsa.</a:t>
                </a:r>
                <a:r>
                  <a:rPr lang="en-GB"/>
                  <a:t>&gt;</a:t>
                </a:r>
                <a:endParaRPr lang="en-GB"/>
              </a:p>
            </p:txBody>
          </p:sp>
          <p:sp>
            <p:nvSpPr>
              <p:cNvPr id="30" name="Google Shape;481;p3"/>
              <p:cNvSpPr txBox="1"/>
              <p:nvPr/>
            </p:nvSpPr>
            <p:spPr bwMode="auto">
              <a:xfrm>
                <a:off x="2810" y="4277"/>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lang="en-GB">
                    <a:solidFill>
                      <a:srgbClr val="FF4B4B"/>
                    </a:solidFill>
                  </a:rPr>
                  <a:t>null</a:t>
                </a:r>
                <a:r>
                  <a:rPr>
                    <a:solidFill>
                      <a:srgbClr val="FF4B4B"/>
                    </a:solidFill>
                  </a:rPr>
                  <a:t>:</a:t>
                </a:r>
                <a:r>
                  <a:rPr/>
                  <a:t> Representa un valor nulo o vacío. Se utiliza cuando una variable no tiene un valor asignado.</a:t>
                </a:r>
                <a:r>
                  <a:rPr lang="en-GB"/>
                  <a:t>&gt;</a:t>
                </a:r>
                <a:endParaRPr lang="en-GB"/>
              </a:p>
            </p:txBody>
          </p:sp>
          <p:sp>
            <p:nvSpPr>
              <p:cNvPr id="33" name="Google Shape;481;p3"/>
              <p:cNvSpPr txBox="1"/>
              <p:nvPr/>
            </p:nvSpPr>
            <p:spPr bwMode="auto">
              <a:xfrm>
                <a:off x="2810" y="4768"/>
                <a:ext cx="11308" cy="58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a:solidFill>
                      <a:srgbClr val="FF4B4B"/>
                    </a:solidFill>
                  </a:rPr>
                  <a:t>undefined:</a:t>
                </a:r>
                <a:r>
                  <a:rPr/>
                  <a:t> Representa una variable que no ha sido asignada o que no tiene valor.</a:t>
                </a:r>
                <a:r>
                  <a:rPr lang="en-GB"/>
                  <a:t>&gt;</a:t>
                </a:r>
                <a:endParaRPr lang="en-GB"/>
              </a:p>
            </p:txBody>
          </p:sp>
        </p:grpSp>
        <p:sp>
          <p:nvSpPr>
            <p:cNvPr id="1" name="Google Shape;481;p3"/>
            <p:cNvSpPr txBox="1"/>
            <p:nvPr/>
          </p:nvSpPr>
          <p:spPr bwMode="auto">
            <a:xfrm>
              <a:off x="2810" y="5620"/>
              <a:ext cx="11308" cy="77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a:solidFill>
                    <a:srgbClr val="FF4B4B"/>
                  </a:solidFill>
                </a:rPr>
                <a:t>symbol:</a:t>
              </a:r>
              <a:r>
                <a:rPr/>
                <a:t> Representa identificadores únicos para objetos. Cada vez que se crea un nuevo símbolo, se crea un identificador único que no puede ser igual a ningún otro símbolo.</a:t>
              </a:r>
              <a:r>
                <a:rPr lang="en-GB"/>
                <a:t>&gt;</a:t>
              </a:r>
              <a:endParaRPr lang="en-GB"/>
            </a:p>
          </p:txBody>
        </p:sp>
      </p:grpSp>
      <p:sp>
        <p:nvSpPr>
          <p:cNvPr id="906751039"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00547628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290950663"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0664025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7031280" name="Google Shape;458;p1"/>
          <p:cNvSpPr txBox="1"/>
          <p:nvPr>
            <p:ph type="ctrTitle"/>
          </p:nvPr>
        </p:nvSpPr>
        <p:spPr bwMode="auto">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¿Cúales son los tipos de datos en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77647430"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855655840"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78475677"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2104392661"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55433209" name="Group 34"/>
          <p:cNvGrpSpPr/>
          <p:nvPr/>
        </p:nvGrpSpPr>
        <p:grpSpPr bwMode="auto">
          <a:xfrm>
            <a:off x="1764030" y="1507381"/>
            <a:ext cx="7180580" cy="2008425"/>
            <a:chOff x="2778" y="1934"/>
            <a:chExt cx="11308" cy="1222"/>
          </a:xfrm>
        </p:grpSpPr>
        <p:sp>
          <p:nvSpPr>
            <p:cNvPr id="481" name="Google Shape;481;p3"/>
            <p:cNvSpPr txBox="1"/>
            <p:nvPr/>
          </p:nvSpPr>
          <p:spPr bwMode="auto">
            <a:xfrm>
              <a:off x="2778" y="1934"/>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lang="es-MX" b="1">
                  <a:solidFill>
                    <a:srgbClr val="FF4B4B"/>
                  </a:solidFill>
                </a:rPr>
                <a:t>object</a:t>
              </a:r>
              <a:r>
                <a:rPr lang="en-GB">
                  <a:solidFill>
                    <a:srgbClr val="FF4B4B"/>
                  </a:solidFill>
                </a:rPr>
                <a:t>:</a:t>
              </a:r>
              <a:r>
                <a:rPr lang="en-GB"/>
                <a:t> </a:t>
              </a:r>
              <a:r>
                <a:rPr/>
                <a:t>Representa un objeto que puede tener propiedades y métodos</a:t>
              </a:r>
              <a:r>
                <a:rPr lang="es-MX"/>
                <a:t>, </a:t>
              </a:r>
              <a:r>
                <a:rPr/>
                <a:t>un arreglo o una función. Los objetos son colecciones de propiedades que se utilizan para representar entidades del mundo real, como una persona, una empresa o un coche. Los arreglos son listas de elementos</a:t>
              </a:r>
              <a:r>
                <a:rPr lang="es-MX"/>
                <a:t>. Se define utilizando llaves { }</a:t>
              </a:r>
              <a:r>
                <a:rPr lang="en-GB"/>
                <a:t>&gt;</a:t>
              </a:r>
              <a:endParaRPr lang="en-GB"/>
            </a:p>
          </p:txBody>
        </p:sp>
        <p:sp>
          <p:nvSpPr>
            <p:cNvPr id="24" name="Google Shape;481;p3"/>
            <p:cNvSpPr txBox="1"/>
            <p:nvPr/>
          </p:nvSpPr>
          <p:spPr bwMode="auto">
            <a:xfrm>
              <a:off x="2778" y="2537"/>
              <a:ext cx="11308" cy="61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lang="es-MX">
                  <a:solidFill>
                    <a:srgbClr val="FF4B4B"/>
                  </a:solidFill>
                </a:rPr>
                <a:t>function</a:t>
              </a:r>
              <a:r>
                <a:rPr>
                  <a:solidFill>
                    <a:srgbClr val="FF4B4B"/>
                  </a:solidFill>
                </a:rPr>
                <a:t>:</a:t>
              </a:r>
              <a:r>
                <a:rPr/>
                <a:t>  </a:t>
              </a:r>
              <a:r>
                <a:rPr lang="es-MX"/>
                <a:t>Representa </a:t>
              </a:r>
              <a:r>
                <a:rPr/>
                <a:t>bloques de código que se utilizan para realizar una tarea específica y pueden ser reutilizadas en diferentes partes de un programa. Las funciones también pueden tomar argumentos y devolver valores.</a:t>
              </a:r>
              <a:r>
                <a:rPr lang="es-MX"/>
                <a:t> Se define utilizando llaves [ ]</a:t>
              </a:r>
              <a:r>
                <a:rPr lang="en-GB"/>
                <a:t>&gt;</a:t>
              </a:r>
              <a:endParaRPr lang="en-GB"/>
            </a:p>
          </p:txBody>
        </p:sp>
      </p:grpSp>
      <p:sp>
        <p:nvSpPr>
          <p:cNvPr id="1886699654" name="Google Shape;489;p3"/>
          <p:cNvSpPr txBox="1"/>
          <p:nvPr/>
        </p:nvSpPr>
        <p:spPr bwMode="auto">
          <a:xfrm>
            <a:off x="4427855" y="859790"/>
            <a:ext cx="1606550" cy="431799"/>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COMPLEJOS</a:t>
            </a:r>
            <a:r>
              <a:rPr lang="es-AR" sz="1400">
                <a:solidFill>
                  <a:schemeClr val="accent6"/>
                </a:solidFill>
              </a:rPr>
              <a:t>&gt;</a:t>
            </a:r>
            <a:endParaRPr lang="es-AR" sz="1400">
              <a:solidFill>
                <a:schemeClr val="accent6"/>
              </a:solidFill>
            </a:endParaRPr>
          </a:p>
        </p:txBody>
      </p:sp>
      <p:sp>
        <p:nvSpPr>
          <p:cNvPr id="151988861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69085260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21278793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88235728"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49600633" name="Picture 3" descr="variables1"/>
          <p:cNvPicPr>
            <a:picLocks noChangeAspect="1"/>
          </p:cNvPicPr>
          <p:nvPr/>
        </p:nvPicPr>
        <p:blipFill rotWithShape="1">
          <a:blip r:embed="rId3"/>
          <a:stretch/>
        </p:blipFill>
        <p:spPr bwMode="auto">
          <a:xfrm>
            <a:off x="1835785" y="1462405"/>
            <a:ext cx="6370320" cy="2598420"/>
          </a:xfrm>
          <a:prstGeom prst="rect">
            <a:avLst/>
          </a:prstGeom>
          <a:ln>
            <a:noFill/>
          </a:ln>
        </p:spPr>
      </p:pic>
      <p:sp>
        <p:nvSpPr>
          <p:cNvPr id="1888987318" name="Google Shape;458;p1"/>
          <p:cNvSpPr txBox="1"/>
          <p:nvPr>
            <p:ph type="ctrTitle"/>
          </p:nvPr>
        </p:nvSpPr>
        <p:spPr bwMode="auto">
          <a:xfrm>
            <a:off x="1413510" y="627380"/>
            <a:ext cx="772604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son las variables en JavaScript? </a:t>
            </a:r>
            <a:r>
              <a:rPr lang="en-GB" sz="2000">
                <a:solidFill>
                  <a:schemeClr val="accent3"/>
                </a:solidFill>
              </a:rPr>
              <a:t>{</a:t>
            </a:r>
            <a:endParaRPr sz="2000">
              <a:solidFill>
                <a:schemeClr val="accent3"/>
              </a:solidFill>
            </a:endParaRPr>
          </a:p>
        </p:txBody>
      </p:sp>
      <p:sp>
        <p:nvSpPr>
          <p:cNvPr id="608323185" name="Google Shape;459;p1"/>
          <p:cNvSpPr txBox="1"/>
          <p:nvPr>
            <p:ph type="subTitle" idx="1"/>
          </p:nvPr>
        </p:nvSpPr>
        <p:spPr bwMode="auto">
          <a:xfrm>
            <a:off x="1909445" y="2643505"/>
            <a:ext cx="3868420" cy="132334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defRPr/>
            </a:pPr>
            <a:r>
              <a:rPr lang="en-GB" sz="1300" b="1">
                <a:solidFill>
                  <a:schemeClr val="accent5"/>
                </a:solidFill>
                <a:latin typeface="Arial"/>
                <a:cs typeface="Arial"/>
              </a:rPr>
              <a:t>son contenedores que almacenan valores que pueden ser utilizados en un programa. Estos valores pueden ser números, cadenas de texto, booleanos, objetos, funciones, entre otros.</a:t>
            </a:r>
            <a:endParaRPr lang="en-GB" sz="1300" b="1">
              <a:solidFill>
                <a:schemeClr val="accent5"/>
              </a:solidFill>
              <a:latin typeface="Arial"/>
              <a:cs typeface="Arial"/>
            </a:endParaRPr>
          </a:p>
          <a:p>
            <a:pPr marL="0" lvl="0" indent="0" algn="l" rtl="0">
              <a:lnSpc>
                <a:spcPct val="100000"/>
              </a:lnSpc>
              <a:spcBef>
                <a:spcPts val="0"/>
              </a:spcBef>
              <a:spcAft>
                <a:spcPts val="0"/>
              </a:spcAft>
              <a:buSzPts val="2800"/>
              <a:buNone/>
              <a:defRPr/>
            </a:pPr>
            <a:endParaRPr lang="en-GB" sz="1300" b="1">
              <a:solidFill>
                <a:schemeClr val="accent5"/>
              </a:solidFill>
              <a:latin typeface="Arial"/>
              <a:cs typeface="Arial"/>
            </a:endParaRPr>
          </a:p>
          <a:p>
            <a:pPr marL="0" lvl="0" indent="0" algn="l" rtl="0">
              <a:lnSpc>
                <a:spcPct val="100000"/>
              </a:lnSpc>
              <a:spcBef>
                <a:spcPts val="0"/>
              </a:spcBef>
              <a:spcAft>
                <a:spcPts val="0"/>
              </a:spcAft>
              <a:buSzPts val="2800"/>
              <a:buNone/>
              <a:defRPr/>
            </a:pPr>
            <a:r>
              <a:rPr lang="en-GB" sz="1300" b="1">
                <a:solidFill>
                  <a:schemeClr val="accent5"/>
                </a:solidFill>
                <a:latin typeface="Arial"/>
                <a:cs typeface="Arial"/>
              </a:rPr>
              <a:t>se pueden declarar variables usando tres</a:t>
            </a:r>
            <a:r>
              <a:rPr lang="es-AR" sz="1300" b="1">
                <a:solidFill>
                  <a:schemeClr val="accent5"/>
                </a:solidFill>
                <a:latin typeface="Arial"/>
                <a:cs typeface="Arial"/>
              </a:rPr>
              <a:t> </a:t>
            </a:r>
            <a:r>
              <a:rPr lang="en-GB" sz="1300" b="1">
                <a:solidFill>
                  <a:schemeClr val="accent5"/>
                </a:solidFill>
                <a:latin typeface="Arial"/>
                <a:cs typeface="Arial"/>
              </a:rPr>
              <a:t>palabras clave: "var", "let" y "const"</a:t>
            </a:r>
            <a:endParaRPr lang="en-GB" sz="1300" b="1">
              <a:solidFill>
                <a:schemeClr val="accent5"/>
              </a:solidFill>
              <a:latin typeface="Arial"/>
              <a:cs typeface="Arial"/>
            </a:endParaRPr>
          </a:p>
        </p:txBody>
      </p:sp>
      <p:grpSp>
        <p:nvGrpSpPr>
          <p:cNvPr id="906105012"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46930706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30279338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75886629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904692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5996182"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son las variables en JavaScript?</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506975615"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242708704"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803876971"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505726729"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485093850" name="Group 10"/>
          <p:cNvGrpSpPr/>
          <p:nvPr/>
        </p:nvGrpSpPr>
        <p:grpSpPr bwMode="auto">
          <a:xfrm>
            <a:off x="1403985" y="1069340"/>
            <a:ext cx="7471410" cy="926465"/>
            <a:chOff x="2324" y="2288"/>
            <a:chExt cx="11766" cy="1459"/>
          </a:xfrm>
        </p:grpSpPr>
        <p:sp>
          <p:nvSpPr>
            <p:cNvPr id="481" name="Google Shape;481;p3"/>
            <p:cNvSpPr txBox="1"/>
            <p:nvPr/>
          </p:nvSpPr>
          <p:spPr bwMode="auto">
            <a:xfrm>
              <a:off x="3673" y="2794"/>
              <a:ext cx="10417" cy="95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lang="en-GB" sz="1200"/>
                <a:t>se utiliza para definir variables globales o locales en una función</a:t>
              </a:r>
              <a:r>
                <a:rPr lang="es-AR" sz="1200"/>
                <a:t>, lo que significa que pueden ser accedidas desde cualquier parte del programa</a:t>
              </a:r>
              <a:r>
                <a:rPr lang="en-GB" sz="1200"/>
                <a:t> &gt;</a:t>
              </a:r>
              <a:endParaRPr lang="en-GB" sz="1200"/>
            </a:p>
          </p:txBody>
        </p:sp>
        <p:grpSp>
          <p:nvGrpSpPr>
            <p:cNvPr id="5" name="Group 4"/>
            <p:cNvGrpSpPr/>
            <p:nvPr/>
          </p:nvGrpSpPr>
          <p:grpSpPr bwMode="auto">
            <a:xfrm>
              <a:off x="2324" y="2288"/>
              <a:ext cx="5701" cy="631"/>
              <a:chOff x="2324" y="2288"/>
              <a:chExt cx="5701" cy="631"/>
            </a:xfrm>
          </p:grpSpPr>
          <p:sp>
            <p:nvSpPr>
              <p:cNvPr id="480"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a:t>*</a:t>
                </a:r>
                <a:endParaRPr lang="es-AR"/>
              </a:p>
            </p:txBody>
          </p:sp>
          <p:sp>
            <p:nvSpPr>
              <p:cNvPr id="482" name="Google Shape;482;p3"/>
              <p:cNvSpPr txBox="1"/>
              <p:nvPr/>
            </p:nvSpPr>
            <p:spPr bwMode="auto">
              <a:xfrm>
                <a:off x="3097" y="2288"/>
                <a:ext cx="4928"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AR" sz="1400"/>
                  <a:t>&lt;Var&gt;</a:t>
                </a:r>
                <a:endParaRPr lang="es-AR" sz="1400"/>
              </a:p>
            </p:txBody>
          </p:sp>
        </p:grpSp>
      </p:grpSp>
      <p:grpSp>
        <p:nvGrpSpPr>
          <p:cNvPr id="1891304910" name="Group 11"/>
          <p:cNvGrpSpPr/>
          <p:nvPr/>
        </p:nvGrpSpPr>
        <p:grpSpPr bwMode="auto">
          <a:xfrm>
            <a:off x="1754042" y="1995805"/>
            <a:ext cx="7220413" cy="1064260"/>
            <a:chOff x="3007" y="3690"/>
            <a:chExt cx="11371" cy="1676"/>
          </a:xfrm>
        </p:grpSpPr>
        <p:sp>
          <p:nvSpPr>
            <p:cNvPr id="484" name="Google Shape;484;p3"/>
            <p:cNvSpPr txBox="1"/>
            <p:nvPr/>
          </p:nvSpPr>
          <p:spPr bwMode="auto">
            <a:xfrm>
              <a:off x="4138" y="4223"/>
              <a:ext cx="10240" cy="114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 se utiliza para definir variables con alcance de bloque</a:t>
              </a:r>
              <a:r>
                <a:rPr lang="es-AR" sz="1200"/>
                <a:t>, lo que significa que solo pueden ser accedidas dentro del bloque en el que fueron declaradas.</a:t>
              </a:r>
              <a:r>
                <a:rPr lang="en-GB" sz="1200"/>
                <a:t> &gt;</a:t>
              </a:r>
              <a:endParaRPr lang="en-GB" sz="1200"/>
            </a:p>
          </p:txBody>
        </p:sp>
        <p:grpSp>
          <p:nvGrpSpPr>
            <p:cNvPr id="1" name="Group 0"/>
            <p:cNvGrpSpPr/>
            <p:nvPr/>
          </p:nvGrpSpPr>
          <p:grpSpPr bwMode="auto">
            <a:xfrm>
              <a:off x="3007" y="3690"/>
              <a:ext cx="4839" cy="646"/>
              <a:chOff x="4469" y="3811"/>
              <a:chExt cx="5845" cy="646"/>
            </a:xfrm>
          </p:grpSpPr>
          <p:sp>
            <p:nvSpPr>
              <p:cNvPr id="483" name="Google Shape;483;p3"/>
              <p:cNvSpPr txBox="1"/>
              <p:nvPr/>
            </p:nvSpPr>
            <p:spPr bwMode="auto">
              <a:xfrm flipH="1">
                <a:off x="4469" y="3924"/>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a:t>*</a:t>
                </a:r>
                <a:endParaRPr lang="es-AR"/>
              </a:p>
            </p:txBody>
          </p:sp>
          <p:sp>
            <p:nvSpPr>
              <p:cNvPr id="485" name="Google Shape;485;p3"/>
              <p:cNvSpPr txBox="1"/>
              <p:nvPr/>
            </p:nvSpPr>
            <p:spPr bwMode="auto">
              <a:xfrm>
                <a:off x="5386" y="3811"/>
                <a:ext cx="4928"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lt2"/>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AR" sz="1400"/>
                  <a:t>&lt;Let&gt;</a:t>
                </a:r>
                <a:endParaRPr lang="es-AR" sz="1400"/>
              </a:p>
            </p:txBody>
          </p:sp>
        </p:grpSp>
      </p:grpSp>
      <p:grpSp>
        <p:nvGrpSpPr>
          <p:cNvPr id="680308199" name="Group 12"/>
          <p:cNvGrpSpPr/>
          <p:nvPr/>
        </p:nvGrpSpPr>
        <p:grpSpPr bwMode="auto">
          <a:xfrm>
            <a:off x="2472055" y="3147695"/>
            <a:ext cx="6548755" cy="1087120"/>
            <a:chOff x="4025" y="5512"/>
            <a:chExt cx="10313" cy="1711"/>
          </a:xfrm>
        </p:grpSpPr>
        <p:sp>
          <p:nvSpPr>
            <p:cNvPr id="487" name="Google Shape;487;p3"/>
            <p:cNvSpPr txBox="1"/>
            <p:nvPr/>
          </p:nvSpPr>
          <p:spPr bwMode="auto">
            <a:xfrm>
              <a:off x="4418" y="6025"/>
              <a:ext cx="9920" cy="1199"/>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lang="en-GB" sz="1200"/>
                <a:t>se utiliza para declarar variables que no pueden ser reasignadas. Las variables declaradas con "const" tienen un ámbito de bloque y deben ser inicializadas en el momento de la declaración. &gt;</a:t>
              </a:r>
              <a:endParaRPr lang="en-GB" sz="1200"/>
            </a:p>
          </p:txBody>
        </p:sp>
        <p:grpSp>
          <p:nvGrpSpPr>
            <p:cNvPr id="3" name="Group 2"/>
            <p:cNvGrpSpPr/>
            <p:nvPr/>
          </p:nvGrpSpPr>
          <p:grpSpPr bwMode="auto">
            <a:xfrm>
              <a:off x="4025" y="5512"/>
              <a:ext cx="5981" cy="647"/>
              <a:chOff x="6682" y="5356"/>
              <a:chExt cx="20923" cy="647"/>
            </a:xfrm>
          </p:grpSpPr>
          <p:sp>
            <p:nvSpPr>
              <p:cNvPr id="486" name="Google Shape;486;p3"/>
              <p:cNvSpPr txBox="1"/>
              <p:nvPr/>
            </p:nvSpPr>
            <p:spPr bwMode="auto">
              <a:xfrm flipH="1">
                <a:off x="6682" y="5470"/>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a:t>*</a:t>
                </a:r>
                <a:endParaRPr lang="es-AR"/>
              </a:p>
            </p:txBody>
          </p:sp>
          <p:sp>
            <p:nvSpPr>
              <p:cNvPr id="488" name="Google Shape;488;p3"/>
              <p:cNvSpPr txBox="1"/>
              <p:nvPr/>
            </p:nvSpPr>
            <p:spPr bwMode="auto">
              <a:xfrm>
                <a:off x="7539" y="5356"/>
                <a:ext cx="20066"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dk2"/>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000"/>
                  <a:buNone/>
                  <a:defRPr/>
                </a:pPr>
                <a:r>
                  <a:rPr lang="es-AR" sz="1400"/>
                  <a:t>&lt;Const&gt;</a:t>
                </a:r>
                <a:endParaRPr lang="es-AR" sz="1400"/>
              </a:p>
            </p:txBody>
          </p:sp>
        </p:grpSp>
      </p:grpSp>
      <p:sp>
        <p:nvSpPr>
          <p:cNvPr id="1375256259"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849030290"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203457863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96030901"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2705323"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¿Cómo deben ser los nombres de las variables?</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69528902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329157669"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120373619"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392838079"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36575299" name="Group 2"/>
          <p:cNvGrpSpPr/>
          <p:nvPr/>
        </p:nvGrpSpPr>
        <p:grpSpPr bwMode="auto">
          <a:xfrm>
            <a:off x="1280160" y="1424305"/>
            <a:ext cx="7170420" cy="1685289"/>
            <a:chOff x="2016" y="1981"/>
            <a:chExt cx="11292" cy="2654"/>
          </a:xfrm>
        </p:grpSpPr>
        <p:grpSp>
          <p:nvGrpSpPr>
            <p:cNvPr id="11" name="Group 10"/>
            <p:cNvGrpSpPr/>
            <p:nvPr/>
          </p:nvGrpSpPr>
          <p:grpSpPr bwMode="auto">
            <a:xfrm>
              <a:off x="2016" y="1981"/>
              <a:ext cx="11292" cy="747"/>
              <a:chOff x="2324" y="2358"/>
              <a:chExt cx="11292" cy="747"/>
            </a:xfrm>
          </p:grpSpPr>
          <p:sp>
            <p:nvSpPr>
              <p:cNvPr id="481" name="Google Shape;481;p3"/>
              <p:cNvSpPr txBox="1"/>
              <p:nvPr/>
            </p:nvSpPr>
            <p:spPr bwMode="auto">
              <a:xfrm>
                <a:off x="3199" y="2358"/>
                <a:ext cx="10417" cy="74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Los nombres de variables deben comenzar con </a:t>
                </a:r>
                <a:r>
                  <a:rPr sz="1200">
                    <a:solidFill>
                      <a:srgbClr val="FFC000"/>
                    </a:solidFill>
                  </a:rPr>
                  <a:t>una letra</a:t>
                </a:r>
                <a:r>
                  <a:rPr sz="1200"/>
                  <a:t>, un guión bajo (</a:t>
                </a:r>
                <a:r>
                  <a:rPr sz="1200">
                    <a:solidFill>
                      <a:srgbClr val="FFC000"/>
                    </a:solidFill>
                  </a:rPr>
                  <a:t>_</a:t>
                </a:r>
                <a:r>
                  <a:rPr sz="1200"/>
                  <a:t>) o un signo de dólar (</a:t>
                </a:r>
                <a:r>
                  <a:rPr sz="1200">
                    <a:solidFill>
                      <a:srgbClr val="FFC000"/>
                    </a:solidFill>
                  </a:rPr>
                  <a:t>$</a:t>
                </a:r>
                <a:r>
                  <a:rPr sz="1200"/>
                  <a:t>).</a:t>
                </a:r>
                <a:r>
                  <a:rPr lang="en-GB" sz="1200"/>
                  <a:t> &gt;</a:t>
                </a:r>
                <a:endParaRPr lang="en-GB" sz="1200"/>
              </a:p>
            </p:txBody>
          </p:sp>
          <p:sp>
            <p:nvSpPr>
              <p:cNvPr id="480"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1)</a:t>
                </a:r>
                <a:endParaRPr lang="es-AR" sz="1800"/>
              </a:p>
            </p:txBody>
          </p:sp>
        </p:grpSp>
        <p:grpSp>
          <p:nvGrpSpPr>
            <p:cNvPr id="4" name="Group 3"/>
            <p:cNvGrpSpPr/>
            <p:nvPr/>
          </p:nvGrpSpPr>
          <p:grpSpPr bwMode="auto">
            <a:xfrm>
              <a:off x="2016" y="2689"/>
              <a:ext cx="11292" cy="961"/>
              <a:chOff x="2324" y="2358"/>
              <a:chExt cx="11292" cy="961"/>
            </a:xfrm>
          </p:grpSpPr>
          <p:sp>
            <p:nvSpPr>
              <p:cNvPr id="7"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Los nombres de variables pueden contener </a:t>
                </a:r>
                <a:r>
                  <a:rPr sz="1200">
                    <a:solidFill>
                      <a:srgbClr val="FFC000"/>
                    </a:solidFill>
                  </a:rPr>
                  <a:t>letras</a:t>
                </a:r>
                <a:r>
                  <a:rPr sz="1200"/>
                  <a:t>, </a:t>
                </a:r>
                <a:r>
                  <a:rPr sz="1200">
                    <a:solidFill>
                      <a:srgbClr val="FFC000"/>
                    </a:solidFill>
                  </a:rPr>
                  <a:t>números</a:t>
                </a:r>
                <a:r>
                  <a:rPr sz="1200"/>
                  <a:t>, guiones bajos (</a:t>
                </a:r>
                <a:r>
                  <a:rPr sz="1200">
                    <a:solidFill>
                      <a:srgbClr val="FFC000"/>
                    </a:solidFill>
                  </a:rPr>
                  <a:t>_</a:t>
                </a:r>
                <a:r>
                  <a:rPr sz="1200"/>
                  <a:t>) y signos de dólar (</a:t>
                </a:r>
                <a:r>
                  <a:rPr sz="1200">
                    <a:solidFill>
                      <a:srgbClr val="FFC000"/>
                    </a:solidFill>
                  </a:rPr>
                  <a:t>$</a:t>
                </a:r>
                <a:r>
                  <a:rPr sz="1200"/>
                  <a:t>).</a:t>
                </a:r>
                <a:r>
                  <a:rPr lang="en-GB" sz="1200"/>
                  <a:t> &gt;</a:t>
                </a:r>
                <a:endParaRPr lang="en-GB" sz="1200"/>
              </a:p>
            </p:txBody>
          </p:sp>
          <p:sp>
            <p:nvSpPr>
              <p:cNvPr id="8"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2)</a:t>
                </a:r>
                <a:endParaRPr lang="es-AR" sz="1800"/>
              </a:p>
            </p:txBody>
          </p:sp>
        </p:grpSp>
        <p:grpSp>
          <p:nvGrpSpPr>
            <p:cNvPr id="9" name="Group 8"/>
            <p:cNvGrpSpPr/>
            <p:nvPr/>
          </p:nvGrpSpPr>
          <p:grpSpPr bwMode="auto">
            <a:xfrm>
              <a:off x="2016" y="3675"/>
              <a:ext cx="11292" cy="961"/>
              <a:chOff x="2324" y="2358"/>
              <a:chExt cx="11292" cy="961"/>
            </a:xfrm>
          </p:grpSpPr>
          <p:sp>
            <p:nvSpPr>
              <p:cNvPr id="10"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Los nombres de variables distinguen entre mayúsculas y minúsculas. Es decir, nombre y Nombre son dos variables diferentes.</a:t>
                </a:r>
                <a:r>
                  <a:rPr lang="en-GB" sz="1200"/>
                  <a:t> &gt;</a:t>
                </a:r>
                <a:endParaRPr lang="en-GB" sz="1200"/>
              </a:p>
            </p:txBody>
          </p:sp>
          <p:sp>
            <p:nvSpPr>
              <p:cNvPr id="14"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3)</a:t>
                </a:r>
                <a:endParaRPr lang="es-AR" sz="1800"/>
              </a:p>
            </p:txBody>
          </p:sp>
        </p:grpSp>
      </p:grpSp>
      <p:sp>
        <p:nvSpPr>
          <p:cNvPr id="199875929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820306883"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7931976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74781318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1506260"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¿Que convenciones deben seguir?</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189363048"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620312325"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69238675"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441086208"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542877307" name="Group 10"/>
          <p:cNvGrpSpPr/>
          <p:nvPr/>
        </p:nvGrpSpPr>
        <p:grpSpPr bwMode="auto">
          <a:xfrm>
            <a:off x="1280160" y="1257935"/>
            <a:ext cx="7170420" cy="396875"/>
            <a:chOff x="2324" y="2358"/>
            <a:chExt cx="11292" cy="625"/>
          </a:xfrm>
        </p:grpSpPr>
        <p:sp>
          <p:nvSpPr>
            <p:cNvPr id="481" name="Google Shape;481;p3"/>
            <p:cNvSpPr txBox="1"/>
            <p:nvPr/>
          </p:nvSpPr>
          <p:spPr bwMode="auto">
            <a:xfrm>
              <a:off x="3199" y="2358"/>
              <a:ext cx="10417" cy="6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Utilizar nombres de variables en minúsculas con palabras separadas por guiones bajos (</a:t>
              </a:r>
              <a:r>
                <a:rPr sz="1200">
                  <a:solidFill>
                    <a:srgbClr val="FFC000"/>
                  </a:solidFill>
                </a:rPr>
                <a:t>_</a:t>
              </a:r>
              <a:r>
                <a:rPr sz="1200"/>
                <a:t>).</a:t>
              </a:r>
              <a:r>
                <a:rPr lang="en-GB" sz="1200"/>
                <a:t> &gt;</a:t>
              </a:r>
              <a:endParaRPr lang="en-GB" sz="1200"/>
            </a:p>
          </p:txBody>
        </p:sp>
        <p:sp>
          <p:nvSpPr>
            <p:cNvPr id="480"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1)</a:t>
              </a:r>
              <a:endParaRPr lang="es-AR" sz="1800"/>
            </a:p>
          </p:txBody>
        </p:sp>
      </p:grpSp>
      <p:grpSp>
        <p:nvGrpSpPr>
          <p:cNvPr id="1590524389" name="Group 3"/>
          <p:cNvGrpSpPr/>
          <p:nvPr/>
        </p:nvGrpSpPr>
        <p:grpSpPr bwMode="auto">
          <a:xfrm>
            <a:off x="1280160" y="1707515"/>
            <a:ext cx="7170420" cy="610235"/>
            <a:chOff x="2324" y="2358"/>
            <a:chExt cx="11292" cy="961"/>
          </a:xfrm>
        </p:grpSpPr>
        <p:sp>
          <p:nvSpPr>
            <p:cNvPr id="7"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No utilizar palabras reservadas de JavaScript como nombres de variables. Las palabras reservadas son palabras clave que tienen un significado especial en el lenguaje, como </a:t>
              </a:r>
              <a:r>
                <a:rPr sz="1200" b="1">
                  <a:solidFill>
                    <a:srgbClr val="FFC000"/>
                  </a:solidFill>
                </a:rPr>
                <a:t>if</a:t>
              </a:r>
              <a:r>
                <a:rPr sz="1200"/>
                <a:t>, </a:t>
              </a:r>
              <a:r>
                <a:rPr sz="1200">
                  <a:solidFill>
                    <a:srgbClr val="FFC000"/>
                  </a:solidFill>
                </a:rPr>
                <a:t>for</a:t>
              </a:r>
              <a:r>
                <a:rPr sz="1200"/>
                <a:t>, </a:t>
              </a:r>
              <a:r>
                <a:rPr sz="1200">
                  <a:solidFill>
                    <a:srgbClr val="FFC000"/>
                  </a:solidFill>
                </a:rPr>
                <a:t>while</a:t>
              </a:r>
              <a:r>
                <a:rPr sz="1200"/>
                <a:t>, </a:t>
              </a:r>
              <a:r>
                <a:rPr sz="1200">
                  <a:solidFill>
                    <a:srgbClr val="FFC000"/>
                  </a:solidFill>
                </a:rPr>
                <a:t>true</a:t>
              </a:r>
              <a:r>
                <a:rPr sz="1200"/>
                <a:t>, </a:t>
              </a:r>
              <a:r>
                <a:rPr sz="1200">
                  <a:solidFill>
                    <a:srgbClr val="FFC000"/>
                  </a:solidFill>
                </a:rPr>
                <a:t>false</a:t>
              </a:r>
              <a:r>
                <a:rPr sz="1200"/>
                <a:t>, entre otros.</a:t>
              </a:r>
              <a:r>
                <a:rPr lang="en-GB" sz="1200"/>
                <a:t> &gt;</a:t>
              </a:r>
              <a:endParaRPr lang="en-GB" sz="1200"/>
            </a:p>
          </p:txBody>
        </p:sp>
        <p:sp>
          <p:nvSpPr>
            <p:cNvPr id="8"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2)</a:t>
              </a:r>
              <a:endParaRPr lang="es-AR" sz="1800"/>
            </a:p>
          </p:txBody>
        </p:sp>
      </p:grpSp>
      <p:grpSp>
        <p:nvGrpSpPr>
          <p:cNvPr id="933887836" name="Group 8"/>
          <p:cNvGrpSpPr/>
          <p:nvPr/>
        </p:nvGrpSpPr>
        <p:grpSpPr bwMode="auto">
          <a:xfrm>
            <a:off x="1280160" y="2333625"/>
            <a:ext cx="7170420" cy="610235"/>
            <a:chOff x="2324" y="2358"/>
            <a:chExt cx="11292" cy="961"/>
          </a:xfrm>
        </p:grpSpPr>
        <p:sp>
          <p:nvSpPr>
            <p:cNvPr id="10"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Utilizar nombres de variables que sean descriptivos y reflejen su función en el programa. Por ejemplo, </a:t>
              </a:r>
              <a:r>
                <a:rPr sz="1200">
                  <a:solidFill>
                    <a:srgbClr val="FFC000"/>
                  </a:solidFill>
                </a:rPr>
                <a:t>nombreCompleto </a:t>
              </a:r>
              <a:r>
                <a:rPr sz="1200"/>
                <a:t>es un nombre de variable más descriptivo que </a:t>
              </a:r>
              <a:r>
                <a:rPr sz="1200">
                  <a:solidFill>
                    <a:srgbClr val="FFC000"/>
                  </a:solidFill>
                </a:rPr>
                <a:t>n </a:t>
              </a:r>
              <a:r>
                <a:rPr sz="1200"/>
                <a:t>o </a:t>
              </a:r>
              <a:r>
                <a:rPr sz="1200">
                  <a:solidFill>
                    <a:srgbClr val="FFC000"/>
                  </a:solidFill>
                </a:rPr>
                <a:t>nc</a:t>
              </a:r>
              <a:r>
                <a:rPr sz="1200"/>
                <a:t>.</a:t>
              </a:r>
              <a:r>
                <a:rPr lang="en-GB" sz="1200"/>
                <a:t> &gt;</a:t>
              </a:r>
              <a:endParaRPr lang="en-GB" sz="1200"/>
            </a:p>
          </p:txBody>
        </p:sp>
        <p:sp>
          <p:nvSpPr>
            <p:cNvPr id="14"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3)</a:t>
              </a:r>
              <a:endParaRPr lang="es-AR" sz="1800"/>
            </a:p>
          </p:txBody>
        </p:sp>
      </p:grpSp>
      <p:grpSp>
        <p:nvGrpSpPr>
          <p:cNvPr id="585645388" name="Group 15"/>
          <p:cNvGrpSpPr/>
          <p:nvPr/>
        </p:nvGrpSpPr>
        <p:grpSpPr bwMode="auto">
          <a:xfrm>
            <a:off x="1280160" y="2977515"/>
            <a:ext cx="7170420" cy="610235"/>
            <a:chOff x="2324" y="2358"/>
            <a:chExt cx="11292" cy="961"/>
          </a:xfrm>
        </p:grpSpPr>
        <p:sp>
          <p:nvSpPr>
            <p:cNvPr id="17"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lang="es-AR" sz="1200"/>
                <a:t>Evitar </a:t>
              </a:r>
              <a:r>
                <a:rPr sz="1200"/>
                <a:t>nombres de variables demasiado largos o complicados. Los nombres de variables deben ser fáciles de </a:t>
              </a:r>
              <a:r>
                <a:rPr sz="1200">
                  <a:solidFill>
                    <a:srgbClr val="FFC000"/>
                  </a:solidFill>
                </a:rPr>
                <a:t>leer </a:t>
              </a:r>
              <a:r>
                <a:rPr sz="1200"/>
                <a:t>y </a:t>
              </a:r>
              <a:r>
                <a:rPr sz="1200">
                  <a:solidFill>
                    <a:srgbClr val="FFC000"/>
                  </a:solidFill>
                </a:rPr>
                <a:t>comprender</a:t>
              </a:r>
              <a:r>
                <a:rPr sz="1200"/>
                <a:t>.</a:t>
              </a:r>
              <a:r>
                <a:rPr lang="en-GB" sz="1200"/>
                <a:t> &gt;</a:t>
              </a:r>
              <a:endParaRPr lang="en-GB" sz="1200"/>
            </a:p>
          </p:txBody>
        </p:sp>
        <p:sp>
          <p:nvSpPr>
            <p:cNvPr id="18"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4)</a:t>
              </a:r>
              <a:endParaRPr lang="es-AR" sz="1800"/>
            </a:p>
          </p:txBody>
        </p:sp>
      </p:grpSp>
      <p:grpSp>
        <p:nvGrpSpPr>
          <p:cNvPr id="132206738" name="Group 19"/>
          <p:cNvGrpSpPr/>
          <p:nvPr/>
        </p:nvGrpSpPr>
        <p:grpSpPr bwMode="auto">
          <a:xfrm>
            <a:off x="1280160" y="3514090"/>
            <a:ext cx="7170420" cy="610235"/>
            <a:chOff x="2324" y="2358"/>
            <a:chExt cx="11292" cy="961"/>
          </a:xfrm>
        </p:grpSpPr>
        <p:sp>
          <p:nvSpPr>
            <p:cNvPr id="21"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lang="es-AR" sz="1200"/>
                <a:t>Evitar </a:t>
              </a:r>
              <a:r>
                <a:rPr sz="1200"/>
                <a:t>nombres de variables confusos o engañosos. Los nombres de variables deben representar con precisión su contenido para evitar confusiones.</a:t>
              </a:r>
              <a:r>
                <a:rPr lang="en-GB" sz="1200"/>
                <a:t> &gt;</a:t>
              </a:r>
              <a:endParaRPr lang="en-GB" sz="1200"/>
            </a:p>
          </p:txBody>
        </p:sp>
        <p:sp>
          <p:nvSpPr>
            <p:cNvPr id="22"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5)</a:t>
              </a:r>
              <a:endParaRPr lang="es-AR" sz="1800"/>
            </a:p>
          </p:txBody>
        </p:sp>
      </p:grpSp>
      <p:sp>
        <p:nvSpPr>
          <p:cNvPr id="116944629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25659501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486681715"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14996646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730987373" name="Google Shape;551;p5"/>
          <p:cNvGrpSpPr/>
          <p:nvPr/>
        </p:nvGrpSpPr>
        <p:grpSpPr bwMode="auto">
          <a:xfrm>
            <a:off x="1080135" y="134810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393918288"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MX" sz="2000"/>
              <a:t>¿Cúales son las formas de inicializar las variables?</a:t>
            </a:r>
            <a:r>
              <a:rPr lang="es-AR" sz="2000"/>
              <a:t> </a:t>
            </a:r>
            <a:r>
              <a:rPr lang="en-GB" sz="2000">
                <a:solidFill>
                  <a:schemeClr val="accent6"/>
                </a:solidFill>
              </a:rPr>
              <a:t>{</a:t>
            </a:r>
            <a:r>
              <a:rPr lang="en-GB" sz="2000"/>
              <a:t> </a:t>
            </a:r>
            <a:endParaRPr lang="en-GB" sz="2000"/>
          </a:p>
        </p:txBody>
      </p:sp>
      <p:sp>
        <p:nvSpPr>
          <p:cNvPr id="1993703530" name="Google Shape;512;p5"/>
          <p:cNvSpPr txBox="1"/>
          <p:nvPr/>
        </p:nvSpPr>
        <p:spPr bwMode="auto">
          <a:xfrm>
            <a:off x="1395095" y="1203960"/>
            <a:ext cx="7707630" cy="101981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 </a:t>
            </a:r>
            <a:r>
              <a:rPr lang="en-GB">
                <a:solidFill>
                  <a:srgbClr val="00B050"/>
                </a:solidFill>
              </a:rPr>
              <a:t>Declaración y asignación en dos pasos:</a:t>
            </a:r>
            <a:r>
              <a:rPr lang="en-GB"/>
              <a:t> Primero se declara la variable utilizando la palabra clave </a:t>
            </a:r>
            <a:r>
              <a:rPr lang="en-GB">
                <a:solidFill>
                  <a:schemeClr val="accent6"/>
                </a:solidFill>
              </a:rPr>
              <a:t>var</a:t>
            </a:r>
            <a:r>
              <a:rPr lang="en-GB"/>
              <a:t>, </a:t>
            </a:r>
            <a:r>
              <a:rPr lang="en-GB">
                <a:solidFill>
                  <a:schemeClr val="accent6"/>
                </a:solidFill>
              </a:rPr>
              <a:t>let </a:t>
            </a:r>
            <a:r>
              <a:rPr lang="en-GB"/>
              <a:t>o </a:t>
            </a:r>
            <a:r>
              <a:rPr lang="en-GB">
                <a:solidFill>
                  <a:schemeClr val="accent6"/>
                </a:solidFill>
              </a:rPr>
              <a:t>const</a:t>
            </a:r>
            <a:r>
              <a:rPr lang="en-GB"/>
              <a:t>, y luego se asigna un valor a la variable. </a:t>
            </a:r>
            <a:r>
              <a:rPr lang="en-GB"/>
              <a:t>&gt;</a:t>
            </a:r>
            <a:endParaRPr lang="en-GB"/>
          </a:p>
        </p:txBody>
      </p:sp>
      <p:sp>
        <p:nvSpPr>
          <p:cNvPr id="1888362948" name="Google Shape;513;p5"/>
          <p:cNvSpPr txBox="1"/>
          <p:nvPr/>
        </p:nvSpPr>
        <p:spPr bwMode="auto">
          <a:xfrm>
            <a:off x="1342390" y="2715895"/>
            <a:ext cx="7760970" cy="100647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 </a:t>
            </a:r>
            <a:r>
              <a:rPr lang="en-GB">
                <a:solidFill>
                  <a:srgbClr val="00B050"/>
                </a:solidFill>
              </a:rPr>
              <a:t>Declaración y asignación en un solo paso:</a:t>
            </a:r>
            <a:r>
              <a:rPr lang="en-GB"/>
              <a:t> se puede inicializar una variable directamente al declararla. &gt;</a:t>
            </a:r>
            <a:endParaRPr lang="en-GB"/>
          </a:p>
        </p:txBody>
      </p:sp>
      <p:pic>
        <p:nvPicPr>
          <p:cNvPr id="1349773850" name="Picture 3"/>
          <p:cNvPicPr>
            <a:picLocks noChangeAspect="1"/>
          </p:cNvPicPr>
          <p:nvPr/>
        </p:nvPicPr>
        <p:blipFill rotWithShape="1">
          <a:blip r:embed="rId3"/>
          <a:stretch/>
        </p:blipFill>
        <p:spPr bwMode="auto">
          <a:xfrm>
            <a:off x="4196080" y="2269490"/>
            <a:ext cx="2053590" cy="483235"/>
          </a:xfrm>
          <a:prstGeom prst="rect">
            <a:avLst/>
          </a:prstGeom>
        </p:spPr>
      </p:pic>
      <p:pic>
        <p:nvPicPr>
          <p:cNvPr id="1634272819" name="Picture 5"/>
          <p:cNvPicPr>
            <a:picLocks noChangeAspect="1"/>
          </p:cNvPicPr>
          <p:nvPr/>
        </p:nvPicPr>
        <p:blipFill rotWithShape="1">
          <a:blip r:embed="rId4"/>
          <a:stretch/>
        </p:blipFill>
        <p:spPr bwMode="auto">
          <a:xfrm>
            <a:off x="3812540" y="3651885"/>
            <a:ext cx="2872740" cy="350520"/>
          </a:xfrm>
          <a:prstGeom prst="rect">
            <a:avLst/>
          </a:prstGeom>
        </p:spPr>
      </p:pic>
      <p:sp>
        <p:nvSpPr>
          <p:cNvPr id="106372737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223623105"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75071638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023907175"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718100161" name="Google Shape;551;p5"/>
          <p:cNvGrpSpPr/>
          <p:nvPr/>
        </p:nvGrpSpPr>
        <p:grpSpPr bwMode="auto">
          <a:xfrm>
            <a:off x="1080135" y="134810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280016947"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MX" sz="2000"/>
              <a:t>¿Cúales son las formas de inicializar las variables?</a:t>
            </a:r>
            <a:r>
              <a:rPr lang="es-AR" sz="2000"/>
              <a:t> </a:t>
            </a:r>
            <a:r>
              <a:rPr lang="en-GB" sz="2000">
                <a:solidFill>
                  <a:schemeClr val="accent6"/>
                </a:solidFill>
              </a:rPr>
              <a:t>{</a:t>
            </a:r>
            <a:r>
              <a:rPr lang="en-GB" sz="2000"/>
              <a:t> </a:t>
            </a:r>
            <a:endParaRPr lang="en-GB" sz="2000"/>
          </a:p>
        </p:txBody>
      </p:sp>
      <p:sp>
        <p:nvSpPr>
          <p:cNvPr id="1969068651" name="Google Shape;512;p5"/>
          <p:cNvSpPr txBox="1"/>
          <p:nvPr/>
        </p:nvSpPr>
        <p:spPr bwMode="auto">
          <a:xfrm>
            <a:off x="1395095" y="1203960"/>
            <a:ext cx="7707630" cy="101981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 </a:t>
            </a:r>
            <a:r>
              <a:rPr lang="en-GB">
                <a:solidFill>
                  <a:srgbClr val="00B050"/>
                </a:solidFill>
              </a:rPr>
              <a:t>Declaración múltiple:</a:t>
            </a:r>
            <a:r>
              <a:rPr lang="en-GB"/>
              <a:t> </a:t>
            </a:r>
            <a:r>
              <a:rPr lang="en-GB"/>
              <a:t>permite declarar varias variables en una sola línea, separándolas con comas</a:t>
            </a:r>
            <a:r>
              <a:rPr lang="es-AR"/>
              <a:t> y luego asignarles un valor opcional a cada variable.</a:t>
            </a:r>
            <a:r>
              <a:rPr lang="en-GB"/>
              <a:t> &gt;</a:t>
            </a:r>
            <a:endParaRPr lang="en-GB"/>
          </a:p>
        </p:txBody>
      </p:sp>
      <p:sp>
        <p:nvSpPr>
          <p:cNvPr id="851964171" name="Google Shape;513;p5"/>
          <p:cNvSpPr txBox="1"/>
          <p:nvPr/>
        </p:nvSpPr>
        <p:spPr bwMode="auto">
          <a:xfrm>
            <a:off x="1368425" y="2787650"/>
            <a:ext cx="7760970" cy="100647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 </a:t>
            </a:r>
            <a:r>
              <a:rPr lang="en-GB">
                <a:solidFill>
                  <a:srgbClr val="00B050"/>
                </a:solidFill>
              </a:rPr>
              <a:t>Asignación múltiple:</a:t>
            </a:r>
            <a:r>
              <a:rPr lang="es-AR">
                <a:solidFill>
                  <a:srgbClr val="00B050"/>
                </a:solidFill>
              </a:rPr>
              <a:t> </a:t>
            </a:r>
            <a:r>
              <a:rPr lang="es-AR"/>
              <a:t>permite i</a:t>
            </a:r>
            <a:r>
              <a:rPr/>
              <a:t>nicializar varias variables y asignarles valores al mismo tiempo en una sola línea, separándolas con comas.</a:t>
            </a:r>
            <a:r>
              <a:rPr lang="en-GB"/>
              <a:t> &gt;</a:t>
            </a:r>
            <a:endParaRPr lang="en-GB"/>
          </a:p>
        </p:txBody>
      </p:sp>
      <p:pic>
        <p:nvPicPr>
          <p:cNvPr id="1841024660" name="Picture 3"/>
          <p:cNvPicPr>
            <a:picLocks noChangeAspect="1"/>
          </p:cNvPicPr>
          <p:nvPr/>
        </p:nvPicPr>
        <p:blipFill rotWithShape="1">
          <a:blip r:embed="rId3"/>
          <a:stretch/>
        </p:blipFill>
        <p:spPr bwMode="auto">
          <a:xfrm>
            <a:off x="4215130" y="2067560"/>
            <a:ext cx="2068195" cy="782320"/>
          </a:xfrm>
          <a:prstGeom prst="rect">
            <a:avLst/>
          </a:prstGeom>
        </p:spPr>
      </p:pic>
      <p:pic>
        <p:nvPicPr>
          <p:cNvPr id="1974174987" name="Picture 6"/>
          <p:cNvPicPr>
            <a:picLocks noChangeAspect="1"/>
          </p:cNvPicPr>
          <p:nvPr/>
        </p:nvPicPr>
        <p:blipFill rotWithShape="1">
          <a:blip r:embed="rId4"/>
          <a:stretch/>
        </p:blipFill>
        <p:spPr bwMode="auto">
          <a:xfrm>
            <a:off x="3540125" y="3651885"/>
            <a:ext cx="3418840" cy="315595"/>
          </a:xfrm>
          <a:prstGeom prst="rect">
            <a:avLst/>
          </a:prstGeom>
        </p:spPr>
      </p:pic>
      <p:sp>
        <p:nvSpPr>
          <p:cNvPr id="36487778"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10468447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214697408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6781497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4691217" name="Google Shape;458;p1"/>
          <p:cNvSpPr txBox="1"/>
          <p:nvPr>
            <p:ph type="ctrTitle"/>
          </p:nvPr>
        </p:nvSpPr>
        <p:spPr bwMode="auto">
          <a:xfrm>
            <a:off x="1413510" y="627380"/>
            <a:ext cx="777176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¿Qué es el ambito de las variables en JavaScript?</a:t>
            </a:r>
            <a:r>
              <a:rPr lang="es-MX" sz="2000"/>
              <a:t> </a:t>
            </a:r>
            <a:r>
              <a:rPr lang="en-GB" sz="2000">
                <a:solidFill>
                  <a:schemeClr val="accent3"/>
                </a:solidFill>
              </a:rPr>
              <a:t>{</a:t>
            </a:r>
            <a:endParaRPr sz="2000">
              <a:solidFill>
                <a:schemeClr val="accent3"/>
              </a:solidFill>
            </a:endParaRPr>
          </a:p>
        </p:txBody>
      </p:sp>
      <p:grpSp>
        <p:nvGrpSpPr>
          <p:cNvPr id="1349965569"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487045188" name="Google Shape;481;p3"/>
          <p:cNvSpPr txBox="1"/>
          <p:nvPr/>
        </p:nvSpPr>
        <p:spPr bwMode="auto">
          <a:xfrm>
            <a:off x="1586230" y="1131570"/>
            <a:ext cx="7557770" cy="12306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lang="es-AR" sz="1600"/>
              <a:t>S</a:t>
            </a:r>
            <a:r>
              <a:rPr sz="1600"/>
              <a:t>e refiere al alcance de la variable, es decir, la parte del programa en la que la variable es visible y accesible. El ámbito de una variable se define por el lugar donde se declara la variable. En JavaScript, hay tres tipos de ámbitos de variables:</a:t>
            </a:r>
            <a:r>
              <a:rPr lang="es-AR" sz="1600"/>
              <a:t> </a:t>
            </a:r>
            <a:r>
              <a:rPr lang="en-GB" sz="1600"/>
              <a:t>&gt;</a:t>
            </a:r>
            <a:endParaRPr lang="en-GB" sz="1600"/>
          </a:p>
        </p:txBody>
      </p:sp>
      <p:cxnSp>
        <p:nvCxnSpPr>
          <p:cNvPr id="2071319176" name="Straight Connector 5"/>
          <p:cNvCxnSpPr/>
          <p:nvPr/>
        </p:nvCxnSpPr>
        <p:spPr bwMode="auto">
          <a:xfrm flipH="1">
            <a:off x="5299075" y="2355850"/>
            <a:ext cx="635" cy="285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82890114" name="Google Shape;481;p3"/>
          <p:cNvSpPr txBox="1"/>
          <p:nvPr/>
        </p:nvSpPr>
        <p:spPr bwMode="auto">
          <a:xfrm>
            <a:off x="7020560" y="322643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sz="2000" b="1">
                <a:solidFill>
                  <a:schemeClr val="tx1"/>
                </a:solidFill>
              </a:rPr>
              <a:t>EN BLOQUE</a:t>
            </a:r>
            <a:endParaRPr lang="es-AR" sz="2000" b="1">
              <a:solidFill>
                <a:schemeClr val="tx1"/>
              </a:solidFill>
            </a:endParaRPr>
          </a:p>
        </p:txBody>
      </p:sp>
      <p:sp>
        <p:nvSpPr>
          <p:cNvPr id="666520415" name="Google Shape;481;p3"/>
          <p:cNvSpPr txBox="1"/>
          <p:nvPr/>
        </p:nvSpPr>
        <p:spPr bwMode="auto">
          <a:xfrm>
            <a:off x="1586230" y="322008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sz="2000" b="1">
                <a:solidFill>
                  <a:schemeClr val="tx1"/>
                </a:solidFill>
              </a:rPr>
              <a:t>GLOBAL</a:t>
            </a:r>
            <a:endParaRPr lang="es-AR" sz="2000" b="1">
              <a:solidFill>
                <a:schemeClr val="tx1"/>
              </a:solidFill>
            </a:endParaRPr>
          </a:p>
        </p:txBody>
      </p:sp>
      <p:grpSp>
        <p:nvGrpSpPr>
          <p:cNvPr id="1060467444" name="Group 7"/>
          <p:cNvGrpSpPr/>
          <p:nvPr/>
        </p:nvGrpSpPr>
        <p:grpSpPr bwMode="auto">
          <a:xfrm>
            <a:off x="2414270" y="2633980"/>
            <a:ext cx="5570220" cy="571500"/>
            <a:chOff x="5593" y="3801"/>
            <a:chExt cx="5603" cy="900"/>
          </a:xfrm>
        </p:grpSpPr>
        <p:cxnSp>
          <p:nvCxnSpPr>
            <p:cNvPr id="7" name="Straight Connector 6"/>
            <p:cNvCxnSpPr/>
            <p:nvPr/>
          </p:nvCxnSpPr>
          <p:spPr bwMode="auto">
            <a:xfrm>
              <a:off x="5593" y="3823"/>
              <a:ext cx="560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bwMode="auto">
            <a:xfrm>
              <a:off x="5593" y="3801"/>
              <a:ext cx="0" cy="87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bwMode="auto">
            <a:xfrm>
              <a:off x="11196" y="3823"/>
              <a:ext cx="0" cy="87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grpSp>
      <p:cxnSp>
        <p:nvCxnSpPr>
          <p:cNvPr id="175624048" name="Straight Arrow Connector 3"/>
          <p:cNvCxnSpPr/>
          <p:nvPr/>
        </p:nvCxnSpPr>
        <p:spPr bwMode="auto">
          <a:xfrm>
            <a:off x="5299710" y="2640965"/>
            <a:ext cx="0" cy="55753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97227645" name="Google Shape;481;p3"/>
          <p:cNvSpPr txBox="1"/>
          <p:nvPr/>
        </p:nvSpPr>
        <p:spPr bwMode="auto">
          <a:xfrm>
            <a:off x="4422775" y="322643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sz="2000" b="1">
                <a:solidFill>
                  <a:schemeClr val="tx1"/>
                </a:solidFill>
              </a:rPr>
              <a:t>LOCAL</a:t>
            </a:r>
            <a:endParaRPr lang="es-AR" sz="2000" b="1">
              <a:solidFill>
                <a:schemeClr val="tx1"/>
              </a:solidFill>
            </a:endParaRPr>
          </a:p>
        </p:txBody>
      </p:sp>
      <p:sp>
        <p:nvSpPr>
          <p:cNvPr id="124940117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45833388"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68741940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37164331"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783560183" name="Google Shape;551;p5"/>
          <p:cNvGrpSpPr/>
          <p:nvPr/>
        </p:nvGrpSpPr>
        <p:grpSpPr bwMode="auto">
          <a:xfrm>
            <a:off x="934720" y="133667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36082819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1800"/>
              <a:t>Tipos de ambitos de variables </a:t>
            </a:r>
            <a:r>
              <a:rPr lang="en-GB" sz="1800">
                <a:solidFill>
                  <a:schemeClr val="accent6"/>
                </a:solidFill>
              </a:rPr>
              <a:t>{</a:t>
            </a:r>
            <a:r>
              <a:rPr lang="en-GB" sz="1800"/>
              <a:t> </a:t>
            </a:r>
            <a:endParaRPr lang="en-GB" sz="1800"/>
          </a:p>
        </p:txBody>
      </p:sp>
      <p:sp>
        <p:nvSpPr>
          <p:cNvPr id="1039004909" name="Google Shape;512;p5"/>
          <p:cNvSpPr txBox="1"/>
          <p:nvPr/>
        </p:nvSpPr>
        <p:spPr bwMode="auto">
          <a:xfrm>
            <a:off x="2788285" y="1304290"/>
            <a:ext cx="6472555" cy="7251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L</a:t>
            </a:r>
            <a:r>
              <a:rPr sz="1200"/>
              <a:t>as variables</a:t>
            </a:r>
            <a:r>
              <a:rPr lang="es-AR" sz="1200"/>
              <a:t> de ámbito </a:t>
            </a:r>
            <a:r>
              <a:rPr sz="1200"/>
              <a:t>globales se definen fuera de cualquier función o bloque de código y se pueden acceder desde cualquier lugar del programa.</a:t>
            </a:r>
            <a:r>
              <a:rPr lang="es-MX" sz="1200"/>
              <a:t> </a:t>
            </a:r>
            <a:r>
              <a:rPr lang="en-GB" sz="1200"/>
              <a:t>&gt;</a:t>
            </a:r>
            <a:endParaRPr lang="en-GB" sz="1200"/>
          </a:p>
        </p:txBody>
      </p:sp>
      <p:grpSp>
        <p:nvGrpSpPr>
          <p:cNvPr id="1371837334" name="Group 7"/>
          <p:cNvGrpSpPr/>
          <p:nvPr/>
        </p:nvGrpSpPr>
        <p:grpSpPr bwMode="auto">
          <a:xfrm>
            <a:off x="1475740" y="1491615"/>
            <a:ext cx="1033780" cy="430530"/>
            <a:chOff x="2543" y="2149"/>
            <a:chExt cx="1628" cy="678"/>
          </a:xfrm>
        </p:grpSpPr>
        <p:grpSp>
          <p:nvGrpSpPr>
            <p:cNvPr id="9" name="Google Shape;545;p5"/>
            <p:cNvGrpSpPr/>
            <p:nvPr/>
          </p:nvGrpSpPr>
          <p:grpSpPr bwMode="auto">
            <a:xfrm>
              <a:off x="2543" y="2149"/>
              <a:ext cx="1628" cy="678"/>
              <a:chOff x="1665363" y="1706700"/>
              <a:chExt cx="1181320" cy="491851"/>
            </a:xfrm>
          </p:grpSpPr>
          <p:sp>
            <p:nvSpPr>
              <p:cNvPr id="14" name="Google Shape;546;p5"/>
              <p:cNvSpPr/>
              <p:nvPr/>
            </p:nvSpPr>
            <p:spPr bwMode="auto">
              <a:xfrm flipH="1">
                <a:off x="2777983" y="1711052"/>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 name="Google Shape;547;p5"/>
              <p:cNvSpPr/>
              <p:nvPr/>
            </p:nvSpPr>
            <p:spPr bwMode="auto">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grpSp>
        <p:sp>
          <p:nvSpPr>
            <p:cNvPr id="16" name="Google Shape;482;p3"/>
            <p:cNvSpPr txBox="1"/>
            <p:nvPr/>
          </p:nvSpPr>
          <p:spPr bwMode="auto">
            <a:xfrm>
              <a:off x="2710" y="2218"/>
              <a:ext cx="129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000"/>
                <a:buNone/>
                <a:defRPr/>
              </a:pPr>
              <a:r>
                <a:rPr lang="es-AR" sz="1200">
                  <a:solidFill>
                    <a:srgbClr val="00B050"/>
                  </a:solidFill>
                </a:rPr>
                <a:t>GLOBAL</a:t>
              </a:r>
              <a:endParaRPr lang="es-AR" sz="1200">
                <a:solidFill>
                  <a:srgbClr val="00B050"/>
                </a:solidFill>
              </a:endParaRPr>
            </a:p>
          </p:txBody>
        </p:sp>
      </p:grpSp>
      <p:pic>
        <p:nvPicPr>
          <p:cNvPr id="1928478846" name="Picture 5"/>
          <p:cNvPicPr>
            <a:picLocks noChangeAspect="1"/>
          </p:cNvPicPr>
          <p:nvPr/>
        </p:nvPicPr>
        <p:blipFill rotWithShape="1">
          <a:blip r:embed="rId3"/>
          <a:stretch/>
        </p:blipFill>
        <p:spPr bwMode="auto">
          <a:xfrm>
            <a:off x="3404235" y="2283460"/>
            <a:ext cx="3488055" cy="1637665"/>
          </a:xfrm>
          <a:prstGeom prst="rect">
            <a:avLst/>
          </a:prstGeom>
        </p:spPr>
      </p:pic>
      <p:sp>
        <p:nvSpPr>
          <p:cNvPr id="164720697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72267163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24742395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51726227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12863890" name="Google Shape;551;p5"/>
          <p:cNvGrpSpPr/>
          <p:nvPr/>
        </p:nvGrpSpPr>
        <p:grpSpPr bwMode="auto">
          <a:xfrm>
            <a:off x="934720" y="133667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203646517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1800"/>
              <a:t>Tipos de ambitos de variables </a:t>
            </a:r>
            <a:r>
              <a:rPr lang="en-GB" sz="1800">
                <a:solidFill>
                  <a:schemeClr val="accent6"/>
                </a:solidFill>
              </a:rPr>
              <a:t>{</a:t>
            </a:r>
            <a:r>
              <a:rPr lang="en-GB" sz="1800"/>
              <a:t> </a:t>
            </a:r>
            <a:endParaRPr lang="en-GB" sz="1800"/>
          </a:p>
        </p:txBody>
      </p:sp>
      <p:sp>
        <p:nvSpPr>
          <p:cNvPr id="1883939865" name="Google Shape;512;p5"/>
          <p:cNvSpPr txBox="1"/>
          <p:nvPr/>
        </p:nvSpPr>
        <p:spPr bwMode="auto">
          <a:xfrm>
            <a:off x="2788285" y="1304290"/>
            <a:ext cx="6472555" cy="7251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L</a:t>
            </a:r>
            <a:r>
              <a:rPr sz="1200"/>
              <a:t>as variables locales se definen dentro de una función y solo son accesibles desde esa función.</a:t>
            </a:r>
            <a:r>
              <a:rPr lang="es-MX" sz="1200"/>
              <a:t> </a:t>
            </a:r>
            <a:r>
              <a:rPr lang="en-GB" sz="1200"/>
              <a:t>&gt;</a:t>
            </a:r>
            <a:endParaRPr lang="en-GB" sz="1200"/>
          </a:p>
        </p:txBody>
      </p:sp>
      <p:grpSp>
        <p:nvGrpSpPr>
          <p:cNvPr id="44410643" name="Group 7"/>
          <p:cNvGrpSpPr/>
          <p:nvPr/>
        </p:nvGrpSpPr>
        <p:grpSpPr bwMode="auto">
          <a:xfrm>
            <a:off x="1475740" y="1491615"/>
            <a:ext cx="1033780" cy="430530"/>
            <a:chOff x="2543" y="2149"/>
            <a:chExt cx="1628" cy="678"/>
          </a:xfrm>
        </p:grpSpPr>
        <p:grpSp>
          <p:nvGrpSpPr>
            <p:cNvPr id="9" name="Google Shape;545;p5"/>
            <p:cNvGrpSpPr/>
            <p:nvPr/>
          </p:nvGrpSpPr>
          <p:grpSpPr bwMode="auto">
            <a:xfrm>
              <a:off x="2543" y="2149"/>
              <a:ext cx="1628" cy="678"/>
              <a:chOff x="1665363" y="1706700"/>
              <a:chExt cx="1181320" cy="491851"/>
            </a:xfrm>
          </p:grpSpPr>
          <p:sp>
            <p:nvSpPr>
              <p:cNvPr id="14" name="Google Shape;546;p5"/>
              <p:cNvSpPr/>
              <p:nvPr/>
            </p:nvSpPr>
            <p:spPr bwMode="auto">
              <a:xfrm flipH="1">
                <a:off x="2777983" y="1711052"/>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 name="Google Shape;547;p5"/>
              <p:cNvSpPr/>
              <p:nvPr/>
            </p:nvSpPr>
            <p:spPr bwMode="auto">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grpSp>
        <p:sp>
          <p:nvSpPr>
            <p:cNvPr id="16" name="Google Shape;482;p3"/>
            <p:cNvSpPr txBox="1"/>
            <p:nvPr/>
          </p:nvSpPr>
          <p:spPr bwMode="auto">
            <a:xfrm>
              <a:off x="2710" y="2218"/>
              <a:ext cx="129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000"/>
                <a:buNone/>
                <a:defRPr/>
              </a:pPr>
              <a:r>
                <a:rPr lang="es-AR" sz="1200">
                  <a:solidFill>
                    <a:srgbClr val="00B050"/>
                  </a:solidFill>
                </a:rPr>
                <a:t>LOCAL</a:t>
              </a:r>
              <a:endParaRPr lang="es-AR" sz="1200">
                <a:solidFill>
                  <a:srgbClr val="00B050"/>
                </a:solidFill>
              </a:endParaRPr>
            </a:p>
          </p:txBody>
        </p:sp>
      </p:grpSp>
      <p:pic>
        <p:nvPicPr>
          <p:cNvPr id="1198214561" name="Picture 4"/>
          <p:cNvPicPr>
            <a:picLocks noChangeAspect="1"/>
          </p:cNvPicPr>
          <p:nvPr/>
        </p:nvPicPr>
        <p:blipFill rotWithShape="1">
          <a:blip r:embed="rId3"/>
          <a:stretch/>
        </p:blipFill>
        <p:spPr bwMode="auto">
          <a:xfrm>
            <a:off x="3026410" y="2211705"/>
            <a:ext cx="4243705" cy="1705610"/>
          </a:xfrm>
          <a:prstGeom prst="rect">
            <a:avLst/>
          </a:prstGeom>
        </p:spPr>
      </p:pic>
      <p:sp>
        <p:nvSpPr>
          <p:cNvPr id="248595411"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418087719"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47591230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63605006"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803290525" name="Google Shape;551;p5"/>
          <p:cNvGrpSpPr/>
          <p:nvPr/>
        </p:nvGrpSpPr>
        <p:grpSpPr bwMode="auto">
          <a:xfrm>
            <a:off x="934720" y="133667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489940198"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1800"/>
              <a:t>Tipos de ambitos de variables </a:t>
            </a:r>
            <a:r>
              <a:rPr lang="en-GB" sz="1800">
                <a:solidFill>
                  <a:schemeClr val="accent6"/>
                </a:solidFill>
              </a:rPr>
              <a:t>{</a:t>
            </a:r>
            <a:r>
              <a:rPr lang="en-GB" sz="1800"/>
              <a:t> </a:t>
            </a:r>
            <a:endParaRPr lang="en-GB" sz="1800"/>
          </a:p>
        </p:txBody>
      </p:sp>
      <p:sp>
        <p:nvSpPr>
          <p:cNvPr id="556866832" name="Google Shape;512;p5"/>
          <p:cNvSpPr txBox="1"/>
          <p:nvPr/>
        </p:nvSpPr>
        <p:spPr bwMode="auto">
          <a:xfrm>
            <a:off x="2788285" y="1304290"/>
            <a:ext cx="6472555" cy="72517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L</a:t>
            </a:r>
            <a:r>
              <a:rPr sz="1200"/>
              <a:t>as variables de bloque se definen dentro de un bloque de código (como un if, for o while) y solo son accesibles dentro de ese bloque.</a:t>
            </a:r>
            <a:r>
              <a:rPr lang="es-MX" sz="1200"/>
              <a:t> </a:t>
            </a:r>
            <a:r>
              <a:rPr lang="en-GB" sz="1200"/>
              <a:t>&gt;</a:t>
            </a:r>
            <a:endParaRPr lang="en-GB" sz="1200"/>
          </a:p>
        </p:txBody>
      </p:sp>
      <p:grpSp>
        <p:nvGrpSpPr>
          <p:cNvPr id="41387737" name="Group 7"/>
          <p:cNvGrpSpPr/>
          <p:nvPr/>
        </p:nvGrpSpPr>
        <p:grpSpPr bwMode="auto">
          <a:xfrm>
            <a:off x="1475740" y="1491615"/>
            <a:ext cx="1033780" cy="430530"/>
            <a:chOff x="2543" y="2149"/>
            <a:chExt cx="1628" cy="678"/>
          </a:xfrm>
        </p:grpSpPr>
        <p:grpSp>
          <p:nvGrpSpPr>
            <p:cNvPr id="9" name="Google Shape;545;p5"/>
            <p:cNvGrpSpPr/>
            <p:nvPr/>
          </p:nvGrpSpPr>
          <p:grpSpPr bwMode="auto">
            <a:xfrm>
              <a:off x="2543" y="2149"/>
              <a:ext cx="1628" cy="678"/>
              <a:chOff x="1665363" y="1706700"/>
              <a:chExt cx="1181320" cy="491851"/>
            </a:xfrm>
          </p:grpSpPr>
          <p:sp>
            <p:nvSpPr>
              <p:cNvPr id="14" name="Google Shape;546;p5"/>
              <p:cNvSpPr/>
              <p:nvPr/>
            </p:nvSpPr>
            <p:spPr bwMode="auto">
              <a:xfrm flipH="1">
                <a:off x="2777983" y="1711052"/>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5" name="Google Shape;547;p5"/>
              <p:cNvSpPr/>
              <p:nvPr/>
            </p:nvSpPr>
            <p:spPr bwMode="auto">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grpSp>
        <p:sp>
          <p:nvSpPr>
            <p:cNvPr id="16" name="Google Shape;482;p3"/>
            <p:cNvSpPr txBox="1"/>
            <p:nvPr/>
          </p:nvSpPr>
          <p:spPr bwMode="auto">
            <a:xfrm>
              <a:off x="2710" y="2218"/>
              <a:ext cx="129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a:buNone/>
                <a:defRPr sz="1800" b="0" i="0" u="none" strike="noStrike" cap="none">
                  <a:solidFill>
                    <a:schemeClr val="accent1"/>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2000"/>
                <a:buFont typeface="Fira Code"/>
                <a:buNone/>
                <a:defRPr sz="20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000"/>
                <a:buNone/>
                <a:defRPr/>
              </a:pPr>
              <a:r>
                <a:rPr lang="es-AR" sz="1200">
                  <a:solidFill>
                    <a:srgbClr val="00B050"/>
                  </a:solidFill>
                </a:rPr>
                <a:t>DE BLOQUE</a:t>
              </a:r>
              <a:endParaRPr lang="es-AR" sz="1200">
                <a:solidFill>
                  <a:srgbClr val="00B050"/>
                </a:solidFill>
              </a:endParaRPr>
            </a:p>
          </p:txBody>
        </p:sp>
      </p:grpSp>
      <p:pic>
        <p:nvPicPr>
          <p:cNvPr id="1281035050" name="Picture 4"/>
          <p:cNvPicPr>
            <a:picLocks noChangeAspect="1"/>
          </p:cNvPicPr>
          <p:nvPr/>
        </p:nvPicPr>
        <p:blipFill rotWithShape="1">
          <a:blip r:embed="rId3"/>
          <a:stretch/>
        </p:blipFill>
        <p:spPr bwMode="auto">
          <a:xfrm>
            <a:off x="2670810" y="2211705"/>
            <a:ext cx="4955540" cy="1532255"/>
          </a:xfrm>
          <a:prstGeom prst="rect">
            <a:avLst/>
          </a:prstGeom>
        </p:spPr>
      </p:pic>
      <p:sp>
        <p:nvSpPr>
          <p:cNvPr id="1066515190"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61522814"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150614218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30916028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8832230" name="Google Shape;458;p1"/>
          <p:cNvSpPr txBox="1"/>
          <p:nvPr>
            <p:ph type="ctrTitle"/>
          </p:nvPr>
        </p:nvSpPr>
        <p:spPr bwMode="auto">
          <a:xfrm>
            <a:off x="1413510" y="627380"/>
            <a:ext cx="777176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Estructuras de control de flujo</a:t>
            </a:r>
            <a:r>
              <a:rPr lang="en-GB" sz="2000">
                <a:solidFill>
                  <a:schemeClr val="accent3"/>
                </a:solidFill>
              </a:rPr>
              <a:t>{</a:t>
            </a:r>
            <a:endParaRPr sz="2000">
              <a:solidFill>
                <a:schemeClr val="accent3"/>
              </a:solidFill>
            </a:endParaRPr>
          </a:p>
        </p:txBody>
      </p:sp>
      <p:grpSp>
        <p:nvGrpSpPr>
          <p:cNvPr id="245280831"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012440095" name="Google Shape;481;p3"/>
          <p:cNvSpPr txBox="1"/>
          <p:nvPr/>
        </p:nvSpPr>
        <p:spPr bwMode="auto">
          <a:xfrm>
            <a:off x="1586230" y="1131570"/>
            <a:ext cx="7557770" cy="12306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sz="1600"/>
              <a:t>Las estructuras de control de flujo son herramientas que permiten al programador controlar el flujo de ejecución de un programa, es decir, la manera en que se ejecutan las instrucciones. En JavaScript, existen tres estructuras de control de flujo principales:</a:t>
            </a:r>
            <a:r>
              <a:rPr lang="es-AR" sz="1600"/>
              <a:t> </a:t>
            </a:r>
            <a:r>
              <a:rPr lang="en-GB" sz="1600"/>
              <a:t>&gt;</a:t>
            </a:r>
            <a:endParaRPr lang="en-GB" sz="1600"/>
          </a:p>
        </p:txBody>
      </p:sp>
      <p:cxnSp>
        <p:nvCxnSpPr>
          <p:cNvPr id="203627471" name="Straight Connector 5"/>
          <p:cNvCxnSpPr/>
          <p:nvPr/>
        </p:nvCxnSpPr>
        <p:spPr bwMode="auto">
          <a:xfrm flipH="1">
            <a:off x="5299075" y="2355850"/>
            <a:ext cx="635" cy="2857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8462634" name="Google Shape;481;p3"/>
          <p:cNvSpPr txBox="1"/>
          <p:nvPr/>
        </p:nvSpPr>
        <p:spPr bwMode="auto">
          <a:xfrm>
            <a:off x="7020560" y="322643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b="1">
                <a:solidFill>
                  <a:schemeClr val="tx1"/>
                </a:solidFill>
              </a:rPr>
              <a:t>SALTOS</a:t>
            </a:r>
            <a:endParaRPr lang="es-AR" b="1">
              <a:solidFill>
                <a:schemeClr val="tx1"/>
              </a:solidFill>
            </a:endParaRPr>
          </a:p>
        </p:txBody>
      </p:sp>
      <p:sp>
        <p:nvSpPr>
          <p:cNvPr id="104808634" name="Google Shape;481;p3"/>
          <p:cNvSpPr txBox="1"/>
          <p:nvPr/>
        </p:nvSpPr>
        <p:spPr bwMode="auto">
          <a:xfrm>
            <a:off x="1586230" y="322008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b="1">
                <a:solidFill>
                  <a:schemeClr val="tx1"/>
                </a:solidFill>
              </a:rPr>
              <a:t>CONDICIONALES</a:t>
            </a:r>
            <a:endParaRPr lang="es-AR" b="1">
              <a:solidFill>
                <a:schemeClr val="tx1"/>
              </a:solidFill>
            </a:endParaRPr>
          </a:p>
        </p:txBody>
      </p:sp>
      <p:grpSp>
        <p:nvGrpSpPr>
          <p:cNvPr id="729453199" name="Group 7"/>
          <p:cNvGrpSpPr/>
          <p:nvPr/>
        </p:nvGrpSpPr>
        <p:grpSpPr bwMode="auto">
          <a:xfrm>
            <a:off x="2414270" y="2633980"/>
            <a:ext cx="5570220" cy="571500"/>
            <a:chOff x="5593" y="3801"/>
            <a:chExt cx="5603" cy="900"/>
          </a:xfrm>
        </p:grpSpPr>
        <p:cxnSp>
          <p:nvCxnSpPr>
            <p:cNvPr id="7" name="Straight Connector 6"/>
            <p:cNvCxnSpPr/>
            <p:nvPr/>
          </p:nvCxnSpPr>
          <p:spPr bwMode="auto">
            <a:xfrm>
              <a:off x="5593" y="3823"/>
              <a:ext cx="560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bwMode="auto">
            <a:xfrm>
              <a:off x="5593" y="3801"/>
              <a:ext cx="0" cy="87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bwMode="auto">
            <a:xfrm>
              <a:off x="11196" y="3823"/>
              <a:ext cx="0" cy="87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grpSp>
      <p:cxnSp>
        <p:nvCxnSpPr>
          <p:cNvPr id="1017469204" name="Straight Arrow Connector 3"/>
          <p:cNvCxnSpPr/>
          <p:nvPr/>
        </p:nvCxnSpPr>
        <p:spPr bwMode="auto">
          <a:xfrm>
            <a:off x="5299710" y="2640965"/>
            <a:ext cx="0" cy="557530"/>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77849032" name="Google Shape;481;p3"/>
          <p:cNvSpPr txBox="1"/>
          <p:nvPr/>
        </p:nvSpPr>
        <p:spPr bwMode="auto">
          <a:xfrm>
            <a:off x="4422775" y="3226435"/>
            <a:ext cx="1754505" cy="641985"/>
          </a:xfrm>
          <a:prstGeom prst="rect">
            <a:avLst/>
          </a:prstGeom>
          <a:solidFill>
            <a:schemeClr val="bg1"/>
          </a:solidFill>
          <a:ln w="28575" cmpd="sng">
            <a:solidFill>
              <a:schemeClr val="tx1">
                <a:lumMod val="50000"/>
              </a:schemeClr>
            </a:solidFill>
            <a:prstDash val="solid"/>
          </a:ln>
        </p:spPr>
        <p:style>
          <a:lnRef idx="2">
            <a:schemeClr val="dk1"/>
          </a:lnRef>
          <a:fillRef idx="1">
            <a:schemeClr val="lt1"/>
          </a:fillRef>
          <a:effectRef idx="0">
            <a:schemeClr val="dk1"/>
          </a:effectRef>
          <a:fontRef idx="minor">
            <a:schemeClr val="dk1"/>
          </a:fontRef>
        </p:style>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s-AR" b="1">
                <a:solidFill>
                  <a:schemeClr val="tx1"/>
                </a:solidFill>
              </a:rPr>
              <a:t>DE BUCLES</a:t>
            </a:r>
            <a:endParaRPr lang="es-AR" b="1">
              <a:solidFill>
                <a:schemeClr val="tx1"/>
              </a:solidFill>
            </a:endParaRPr>
          </a:p>
        </p:txBody>
      </p:sp>
      <p:sp>
        <p:nvSpPr>
          <p:cNvPr id="1017405630"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37064256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371882407"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2002165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213458882"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435909088"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2000"/>
              <a:t>Estructuras de control de flujo condicionales</a:t>
            </a:r>
            <a:r>
              <a:rPr lang="es-AR" sz="2000"/>
              <a:t> </a:t>
            </a:r>
            <a:r>
              <a:rPr lang="en-GB" sz="2000">
                <a:solidFill>
                  <a:schemeClr val="accent6"/>
                </a:solidFill>
              </a:rPr>
              <a:t>{</a:t>
            </a:r>
            <a:r>
              <a:rPr lang="en-GB" sz="2000"/>
              <a:t> </a:t>
            </a:r>
            <a:endParaRPr lang="en-GB" sz="2000"/>
          </a:p>
        </p:txBody>
      </p:sp>
      <p:grpSp>
        <p:nvGrpSpPr>
          <p:cNvPr id="1276649876" name="Group 9"/>
          <p:cNvGrpSpPr/>
          <p:nvPr/>
        </p:nvGrpSpPr>
        <p:grpSpPr bwMode="auto">
          <a:xfrm>
            <a:off x="1403985" y="1336675"/>
            <a:ext cx="7561580" cy="899160"/>
            <a:chOff x="2196" y="1896"/>
            <a:chExt cx="11908" cy="1416"/>
          </a:xfrm>
        </p:grpSpPr>
        <p:sp>
          <p:nvSpPr>
            <p:cNvPr id="512" name="Google Shape;512;p5"/>
            <p:cNvSpPr txBox="1"/>
            <p:nvPr/>
          </p:nvSpPr>
          <p:spPr bwMode="auto">
            <a:xfrm>
              <a:off x="2196" y="1908"/>
              <a:ext cx="8086" cy="135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a:t>
              </a:r>
              <a:r>
                <a:rPr lang="en-GB" b="1">
                  <a:solidFill>
                    <a:srgbClr val="00B050"/>
                  </a:solidFill>
                </a:rPr>
                <a:t>if/else</a:t>
              </a:r>
              <a:r>
                <a:rPr lang="es-AR" b="1">
                  <a:solidFill>
                    <a:srgbClr val="00B050"/>
                  </a:solidFill>
                </a:rPr>
                <a:t>&gt;</a:t>
              </a:r>
              <a:r>
                <a:rPr lang="en-GB"/>
                <a:t> </a:t>
              </a:r>
              <a:r>
                <a:rPr lang="es-AR"/>
                <a:t>{ </a:t>
              </a:r>
              <a:r>
                <a:rPr lang="en-GB"/>
                <a:t>esta estructura permite ejecutar un bloque de código si se cumple una condición y otro bloque de código si no se cumple la condición. </a:t>
              </a:r>
              <a:r>
                <a:rPr lang="es-AR"/>
                <a:t> }</a:t>
              </a:r>
              <a:endParaRPr lang="es-AR"/>
            </a:p>
          </p:txBody>
        </p:sp>
        <p:pic>
          <p:nvPicPr>
            <p:cNvPr id="1" name="Picture 0"/>
            <p:cNvPicPr>
              <a:picLocks noChangeAspect="1"/>
            </p:cNvPicPr>
            <p:nvPr/>
          </p:nvPicPr>
          <p:blipFill rotWithShape="1">
            <a:blip r:embed="rId3"/>
            <a:stretch/>
          </p:blipFill>
          <p:spPr bwMode="auto">
            <a:xfrm>
              <a:off x="10360" y="1896"/>
              <a:ext cx="3744" cy="1416"/>
            </a:xfrm>
            <a:prstGeom prst="rect">
              <a:avLst/>
            </a:prstGeom>
          </p:spPr>
        </p:pic>
      </p:grpSp>
      <p:grpSp>
        <p:nvGrpSpPr>
          <p:cNvPr id="45904907" name="Group 16"/>
          <p:cNvGrpSpPr/>
          <p:nvPr/>
        </p:nvGrpSpPr>
        <p:grpSpPr bwMode="auto">
          <a:xfrm>
            <a:off x="1403985" y="2715895"/>
            <a:ext cx="7561580" cy="1256030"/>
            <a:chOff x="2196" y="3370"/>
            <a:chExt cx="11908" cy="1978"/>
          </a:xfrm>
        </p:grpSpPr>
        <p:sp>
          <p:nvSpPr>
            <p:cNvPr id="12" name="Google Shape;512;p5"/>
            <p:cNvSpPr txBox="1"/>
            <p:nvPr/>
          </p:nvSpPr>
          <p:spPr bwMode="auto">
            <a:xfrm>
              <a:off x="2196" y="3596"/>
              <a:ext cx="6583" cy="135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&lt;switch&gt;</a:t>
              </a:r>
              <a:r>
                <a:rPr lang="en-GB"/>
                <a:t> </a:t>
              </a:r>
              <a:r>
                <a:rPr lang="es-AR"/>
                <a:t>{ </a:t>
              </a:r>
              <a:r>
                <a:rPr lang="en-GB"/>
                <a:t>esta estructura permite ejecutar diferentes bloques de código según el valor de una variable. </a:t>
              </a:r>
              <a:r>
                <a:rPr lang="es-AR"/>
                <a:t>}</a:t>
              </a:r>
              <a:endParaRPr lang="es-AR"/>
            </a:p>
          </p:txBody>
        </p:sp>
        <p:pic>
          <p:nvPicPr>
            <p:cNvPr id="14" name="Picture 13"/>
            <p:cNvPicPr>
              <a:picLocks noChangeAspect="1"/>
            </p:cNvPicPr>
            <p:nvPr/>
          </p:nvPicPr>
          <p:blipFill rotWithShape="1">
            <a:blip r:embed="rId4"/>
            <a:stretch/>
          </p:blipFill>
          <p:spPr bwMode="auto">
            <a:xfrm>
              <a:off x="9179" y="3370"/>
              <a:ext cx="4925" cy="1978"/>
            </a:xfrm>
            <a:prstGeom prst="rect">
              <a:avLst/>
            </a:prstGeom>
          </p:spPr>
        </p:pic>
      </p:grpSp>
      <p:sp>
        <p:nvSpPr>
          <p:cNvPr id="124561760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620429168"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47335883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072255"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61618393"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869489825"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2000"/>
              <a:t>Estructuras de control de flujo de bucles</a:t>
            </a:r>
            <a:r>
              <a:rPr lang="es-AR" sz="2000"/>
              <a:t> </a:t>
            </a:r>
            <a:r>
              <a:rPr lang="en-GB" sz="2000">
                <a:solidFill>
                  <a:schemeClr val="accent6"/>
                </a:solidFill>
              </a:rPr>
              <a:t>{</a:t>
            </a:r>
            <a:r>
              <a:rPr lang="en-GB" sz="2000"/>
              <a:t> </a:t>
            </a:r>
            <a:endParaRPr lang="en-GB" sz="2000"/>
          </a:p>
        </p:txBody>
      </p:sp>
      <p:sp>
        <p:nvSpPr>
          <p:cNvPr id="799785825" name="Google Shape;512;p5"/>
          <p:cNvSpPr txBox="1"/>
          <p:nvPr/>
        </p:nvSpPr>
        <p:spPr bwMode="auto">
          <a:xfrm>
            <a:off x="1408430" y="3328670"/>
            <a:ext cx="5134610"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a:t>
            </a:r>
            <a:r>
              <a:rPr lang="en-GB" b="1">
                <a:solidFill>
                  <a:srgbClr val="00B050"/>
                </a:solidFill>
              </a:rPr>
              <a:t>do/while</a:t>
            </a:r>
            <a:r>
              <a:rPr lang="es-AR" b="1">
                <a:solidFill>
                  <a:srgbClr val="00B050"/>
                </a:solidFill>
              </a:rPr>
              <a:t>&gt;</a:t>
            </a:r>
            <a:r>
              <a:rPr lang="en-GB"/>
              <a:t> </a:t>
            </a:r>
            <a:r>
              <a:rPr lang="es-AR"/>
              <a:t>{ </a:t>
            </a:r>
            <a:r>
              <a:rPr lang="en-GB"/>
              <a:t>este bucle es similar al bucle while, pero se ejecuta al menos una vez antes de comprobar la condición.</a:t>
            </a:r>
            <a:r>
              <a:rPr lang="en-GB"/>
              <a:t> </a:t>
            </a:r>
            <a:r>
              <a:rPr lang="es-AR"/>
              <a:t> }</a:t>
            </a:r>
            <a:endParaRPr lang="es-AR"/>
          </a:p>
        </p:txBody>
      </p:sp>
      <p:sp>
        <p:nvSpPr>
          <p:cNvPr id="663941963" name="Google Shape;512;p5"/>
          <p:cNvSpPr txBox="1"/>
          <p:nvPr/>
        </p:nvSpPr>
        <p:spPr bwMode="auto">
          <a:xfrm>
            <a:off x="1408430" y="2211070"/>
            <a:ext cx="552640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&lt;while&gt;</a:t>
            </a:r>
            <a:r>
              <a:rPr lang="en-GB"/>
              <a:t> </a:t>
            </a:r>
            <a:r>
              <a:rPr lang="es-AR"/>
              <a:t>{ </a:t>
            </a:r>
            <a:r>
              <a:rPr lang="en-GB"/>
              <a:t>est</a:t>
            </a:r>
            <a:r>
              <a:rPr lang="es-AR"/>
              <a:t>e bucle </a:t>
            </a:r>
            <a:r>
              <a:rPr lang="en-GB"/>
              <a:t>se utiliza cuando se desconoce el número de iteraciones que se desean realizar. Se ejecuta siempre que se cumpla una determinada condición, que se comprueba al principio de cada iteración. </a:t>
            </a:r>
            <a:r>
              <a:rPr lang="es-AR"/>
              <a:t>}</a:t>
            </a:r>
            <a:endParaRPr lang="es-AR"/>
          </a:p>
        </p:txBody>
      </p:sp>
      <p:grpSp>
        <p:nvGrpSpPr>
          <p:cNvPr id="1682130686" name="Group 6"/>
          <p:cNvGrpSpPr/>
          <p:nvPr/>
        </p:nvGrpSpPr>
        <p:grpSpPr bwMode="auto">
          <a:xfrm>
            <a:off x="1403985" y="1101090"/>
            <a:ext cx="7539355" cy="859790"/>
            <a:chOff x="2211" y="5524"/>
            <a:chExt cx="11873" cy="1354"/>
          </a:xfrm>
        </p:grpSpPr>
        <p:sp>
          <p:nvSpPr>
            <p:cNvPr id="4" name="Google Shape;512;p5"/>
            <p:cNvSpPr txBox="1"/>
            <p:nvPr/>
          </p:nvSpPr>
          <p:spPr bwMode="auto">
            <a:xfrm>
              <a:off x="2211" y="5524"/>
              <a:ext cx="6583" cy="135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&lt;for&gt;</a:t>
              </a:r>
              <a:r>
                <a:rPr lang="en-GB"/>
                <a:t> </a:t>
              </a:r>
              <a:r>
                <a:rPr lang="es-AR"/>
                <a:t>{ este bucle </a:t>
              </a:r>
              <a:r>
                <a:rPr lang="en-GB"/>
                <a:t>permite repetir un bloque de código un número determinado de veces. </a:t>
              </a:r>
              <a:r>
                <a:rPr lang="es-AR"/>
                <a:t>}</a:t>
              </a:r>
              <a:endParaRPr lang="es-AR"/>
            </a:p>
          </p:txBody>
        </p:sp>
        <p:pic>
          <p:nvPicPr>
            <p:cNvPr id="6" name="Picture 5"/>
            <p:cNvPicPr>
              <a:picLocks noChangeAspect="1"/>
            </p:cNvPicPr>
            <p:nvPr/>
          </p:nvPicPr>
          <p:blipFill rotWithShape="1">
            <a:blip r:embed="rId3"/>
            <a:stretch/>
          </p:blipFill>
          <p:spPr bwMode="auto">
            <a:xfrm>
              <a:off x="9008" y="5733"/>
              <a:ext cx="5075" cy="936"/>
            </a:xfrm>
            <a:prstGeom prst="rect">
              <a:avLst/>
            </a:prstGeom>
          </p:spPr>
        </p:pic>
      </p:grpSp>
      <p:pic>
        <p:nvPicPr>
          <p:cNvPr id="2023970671" name="Picture 8"/>
          <p:cNvPicPr>
            <a:picLocks noChangeAspect="1"/>
          </p:cNvPicPr>
          <p:nvPr/>
        </p:nvPicPr>
        <p:blipFill rotWithShape="1">
          <a:blip r:embed="rId4"/>
          <a:stretch/>
        </p:blipFill>
        <p:spPr bwMode="auto">
          <a:xfrm>
            <a:off x="7075170" y="2248535"/>
            <a:ext cx="1840230" cy="784860"/>
          </a:xfrm>
          <a:prstGeom prst="rect">
            <a:avLst/>
          </a:prstGeom>
        </p:spPr>
      </p:pic>
      <p:pic>
        <p:nvPicPr>
          <p:cNvPr id="1080239523" name="Picture 10"/>
          <p:cNvPicPr>
            <a:picLocks noChangeAspect="1"/>
          </p:cNvPicPr>
          <p:nvPr/>
        </p:nvPicPr>
        <p:blipFill rotWithShape="1">
          <a:blip r:embed="rId5"/>
          <a:stretch/>
        </p:blipFill>
        <p:spPr bwMode="auto">
          <a:xfrm>
            <a:off x="7082790" y="3382645"/>
            <a:ext cx="1832610" cy="751840"/>
          </a:xfrm>
          <a:prstGeom prst="rect">
            <a:avLst/>
          </a:prstGeom>
        </p:spPr>
      </p:pic>
      <p:sp>
        <p:nvSpPr>
          <p:cNvPr id="67518146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68176815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203883091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695883125"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836458224"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730131690"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2000"/>
              <a:t>Estructuras de control de flujo de saltos</a:t>
            </a:r>
            <a:r>
              <a:rPr lang="es-AR" sz="2000"/>
              <a:t> </a:t>
            </a:r>
            <a:r>
              <a:rPr lang="en-GB" sz="2000">
                <a:solidFill>
                  <a:schemeClr val="accent6"/>
                </a:solidFill>
              </a:rPr>
              <a:t>{</a:t>
            </a:r>
            <a:r>
              <a:rPr lang="en-GB" sz="2000"/>
              <a:t> </a:t>
            </a:r>
            <a:endParaRPr lang="en-GB" sz="2000"/>
          </a:p>
        </p:txBody>
      </p:sp>
      <p:sp>
        <p:nvSpPr>
          <p:cNvPr id="294219788" name="Google Shape;512;p5"/>
          <p:cNvSpPr txBox="1"/>
          <p:nvPr/>
        </p:nvSpPr>
        <p:spPr bwMode="auto">
          <a:xfrm>
            <a:off x="1408430" y="3328670"/>
            <a:ext cx="453326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&lt;return</a:t>
            </a:r>
            <a:r>
              <a:rPr lang="es-AR" b="1">
                <a:solidFill>
                  <a:srgbClr val="00B050"/>
                </a:solidFill>
              </a:rPr>
              <a:t>&gt;</a:t>
            </a:r>
            <a:r>
              <a:rPr lang="en-GB"/>
              <a:t> </a:t>
            </a:r>
            <a:r>
              <a:rPr lang="es-AR"/>
              <a:t>{ </a:t>
            </a:r>
            <a:r>
              <a:rPr lang="en-GB"/>
              <a:t>esta sentencia se utiliza para salir de una función en el momento en que se cumple una determinada condición.</a:t>
            </a:r>
            <a:r>
              <a:rPr lang="en-GB"/>
              <a:t> </a:t>
            </a:r>
            <a:r>
              <a:rPr lang="es-AR"/>
              <a:t> }</a:t>
            </a:r>
            <a:endParaRPr lang="es-AR"/>
          </a:p>
        </p:txBody>
      </p:sp>
      <p:sp>
        <p:nvSpPr>
          <p:cNvPr id="1598477372" name="Google Shape;512;p5"/>
          <p:cNvSpPr txBox="1"/>
          <p:nvPr/>
        </p:nvSpPr>
        <p:spPr bwMode="auto">
          <a:xfrm>
            <a:off x="1408430" y="2211070"/>
            <a:ext cx="3973830" cy="92964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&lt;continue&gt;</a:t>
            </a:r>
            <a:r>
              <a:rPr lang="en-GB"/>
              <a:t> </a:t>
            </a:r>
            <a:r>
              <a:rPr lang="es-AR"/>
              <a:t>{ </a:t>
            </a:r>
            <a:r>
              <a:rPr/>
              <a:t>esta sentencia se utiliza para saltar a la siguiente iteración de un bucle en el momento en que se cumple una determinada condición.</a:t>
            </a:r>
            <a:r>
              <a:rPr lang="en-GB"/>
              <a:t> </a:t>
            </a:r>
            <a:r>
              <a:rPr lang="es-AR"/>
              <a:t>}</a:t>
            </a:r>
            <a:endParaRPr lang="es-AR"/>
          </a:p>
        </p:txBody>
      </p:sp>
      <p:sp>
        <p:nvSpPr>
          <p:cNvPr id="824559716" name="Google Shape;512;p5"/>
          <p:cNvSpPr txBox="1"/>
          <p:nvPr/>
        </p:nvSpPr>
        <p:spPr bwMode="auto">
          <a:xfrm>
            <a:off x="1403985" y="1101090"/>
            <a:ext cx="514540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b="1">
                <a:solidFill>
                  <a:srgbClr val="00B050"/>
                </a:solidFill>
              </a:rPr>
              <a:t>&lt;break&gt;</a:t>
            </a:r>
            <a:r>
              <a:rPr lang="en-GB"/>
              <a:t> </a:t>
            </a:r>
            <a:r>
              <a:rPr lang="es-AR"/>
              <a:t>{ </a:t>
            </a:r>
            <a:r>
              <a:rPr/>
              <a:t>esta sentencia se utiliza para salir de un bucle o de un switch en el momento en que se cumple una determinada condición.</a:t>
            </a:r>
            <a:r>
              <a:rPr lang="en-GB"/>
              <a:t> </a:t>
            </a:r>
            <a:r>
              <a:rPr lang="es-AR"/>
              <a:t>}</a:t>
            </a:r>
            <a:endParaRPr lang="es-AR"/>
          </a:p>
        </p:txBody>
      </p:sp>
      <p:pic>
        <p:nvPicPr>
          <p:cNvPr id="329776601" name="Picture 12"/>
          <p:cNvPicPr>
            <a:picLocks noChangeAspect="1"/>
          </p:cNvPicPr>
          <p:nvPr/>
        </p:nvPicPr>
        <p:blipFill rotWithShape="1">
          <a:blip r:embed="rId3"/>
          <a:stretch/>
        </p:blipFill>
        <p:spPr bwMode="auto">
          <a:xfrm>
            <a:off x="6156325" y="3362960"/>
            <a:ext cx="2741930" cy="776605"/>
          </a:xfrm>
          <a:prstGeom prst="rect">
            <a:avLst/>
          </a:prstGeom>
        </p:spPr>
      </p:pic>
      <p:pic>
        <p:nvPicPr>
          <p:cNvPr id="319688607" name="Picture 13"/>
          <p:cNvPicPr>
            <a:picLocks noChangeAspect="1"/>
          </p:cNvPicPr>
          <p:nvPr/>
        </p:nvPicPr>
        <p:blipFill rotWithShape="1">
          <a:blip r:embed="rId4"/>
          <a:stretch/>
        </p:blipFill>
        <p:spPr bwMode="auto">
          <a:xfrm>
            <a:off x="5382895" y="2261870"/>
            <a:ext cx="3532505" cy="651510"/>
          </a:xfrm>
          <a:prstGeom prst="rect">
            <a:avLst/>
          </a:prstGeom>
        </p:spPr>
      </p:pic>
      <p:pic>
        <p:nvPicPr>
          <p:cNvPr id="1170917937" name="Picture 14"/>
          <p:cNvPicPr>
            <a:picLocks noChangeAspect="1"/>
          </p:cNvPicPr>
          <p:nvPr/>
        </p:nvPicPr>
        <p:blipFill rotWithShape="1">
          <a:blip r:embed="rId5"/>
          <a:stretch/>
        </p:blipFill>
        <p:spPr bwMode="auto">
          <a:xfrm>
            <a:off x="6591300" y="915670"/>
            <a:ext cx="2324100" cy="1120140"/>
          </a:xfrm>
          <a:prstGeom prst="rect">
            <a:avLst/>
          </a:prstGeom>
        </p:spPr>
      </p:pic>
      <p:sp>
        <p:nvSpPr>
          <p:cNvPr id="699263061"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455627503"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786606339"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9898665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7683200" name="Google Shape;458;p1"/>
          <p:cNvSpPr txBox="1"/>
          <p:nvPr>
            <p:ph type="ctrTitle"/>
          </p:nvPr>
        </p:nvSpPr>
        <p:spPr bwMode="auto">
          <a:xfrm>
            <a:off x="1413510" y="627380"/>
            <a:ext cx="777176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MX" sz="2000"/>
              <a:t>¿Qué es el operador ternario? </a:t>
            </a:r>
            <a:r>
              <a:rPr lang="en-GB" sz="2000">
                <a:solidFill>
                  <a:schemeClr val="accent3"/>
                </a:solidFill>
              </a:rPr>
              <a:t>{</a:t>
            </a:r>
            <a:endParaRPr sz="2000">
              <a:solidFill>
                <a:schemeClr val="accent3"/>
              </a:solidFill>
            </a:endParaRPr>
          </a:p>
        </p:txBody>
      </p:sp>
      <p:grpSp>
        <p:nvGrpSpPr>
          <p:cNvPr id="2133961073"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1578214368" name="Google Shape;481;p3"/>
          <p:cNvSpPr txBox="1"/>
          <p:nvPr/>
        </p:nvSpPr>
        <p:spPr bwMode="auto">
          <a:xfrm>
            <a:off x="1586230" y="1131570"/>
            <a:ext cx="7557770" cy="12306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600"/>
              <a:t>&lt;</a:t>
            </a:r>
            <a:r>
              <a:rPr sz="1600"/>
              <a:t>El operador ternario en JavaScript es un operador condicional que permite simplificar la sintaxis de una estructura de control de flujo </a:t>
            </a:r>
            <a:r>
              <a:rPr sz="1600">
                <a:solidFill>
                  <a:srgbClr val="00B050"/>
                </a:solidFill>
              </a:rPr>
              <a:t>if-else</a:t>
            </a:r>
            <a:r>
              <a:rPr sz="1600"/>
              <a:t> en una única línea de código.</a:t>
            </a:r>
            <a:r>
              <a:rPr lang="en-GB" sz="1600"/>
              <a:t>&gt;</a:t>
            </a:r>
            <a:endParaRPr lang="en-GB" sz="1600"/>
          </a:p>
        </p:txBody>
      </p:sp>
      <p:sp>
        <p:nvSpPr>
          <p:cNvPr id="211605759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123192327"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pic>
        <p:nvPicPr>
          <p:cNvPr id="897281388" name="Picture 9"/>
          <p:cNvPicPr>
            <a:picLocks noChangeAspect="1"/>
          </p:cNvPicPr>
          <p:nvPr/>
        </p:nvPicPr>
        <p:blipFill rotWithShape="1">
          <a:blip r:embed="rId3"/>
          <a:stretch/>
        </p:blipFill>
        <p:spPr bwMode="auto">
          <a:xfrm>
            <a:off x="3491865" y="2378075"/>
            <a:ext cx="3429000" cy="419100"/>
          </a:xfrm>
          <a:prstGeom prst="rect">
            <a:avLst/>
          </a:prstGeom>
        </p:spPr>
      </p:pic>
      <p:pic>
        <p:nvPicPr>
          <p:cNvPr id="534318621" name="Picture 10"/>
          <p:cNvPicPr>
            <a:picLocks noChangeAspect="1"/>
          </p:cNvPicPr>
          <p:nvPr/>
        </p:nvPicPr>
        <p:blipFill rotWithShape="1">
          <a:blip r:embed="rId4"/>
          <a:stretch/>
        </p:blipFill>
        <p:spPr bwMode="auto">
          <a:xfrm>
            <a:off x="2425065" y="3012440"/>
            <a:ext cx="5562600" cy="777240"/>
          </a:xfrm>
          <a:prstGeom prst="rect">
            <a:avLst/>
          </a:prstGeom>
        </p:spPr>
      </p:pic>
      <p:sp>
        <p:nvSpPr>
          <p:cNvPr id="164691048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56392750"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7058777" name="Google Shape;458;p1"/>
          <p:cNvSpPr txBox="1"/>
          <p:nvPr>
            <p:ph type="ctrTitle"/>
          </p:nvPr>
        </p:nvSpPr>
        <p:spPr bwMode="auto">
          <a:xfrm>
            <a:off x="1413510" y="627380"/>
            <a:ext cx="777176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MX" sz="2000"/>
              <a:t>¿Qué es la interpolacion de string? </a:t>
            </a:r>
            <a:r>
              <a:rPr lang="en-GB" sz="2000">
                <a:solidFill>
                  <a:schemeClr val="accent3"/>
                </a:solidFill>
              </a:rPr>
              <a:t>{</a:t>
            </a:r>
            <a:endParaRPr sz="2000">
              <a:solidFill>
                <a:schemeClr val="accent3"/>
              </a:solidFill>
            </a:endParaRPr>
          </a:p>
        </p:txBody>
      </p:sp>
      <p:grpSp>
        <p:nvGrpSpPr>
          <p:cNvPr id="2018479691" name="Google Shape;462;p1"/>
          <p:cNvGrpSpPr/>
          <p:nvPr/>
        </p:nvGrpSpPr>
        <p:grpSpPr bwMode="auto">
          <a:xfrm>
            <a:off x="1403350" y="1215390"/>
            <a:ext cx="506095" cy="3429588"/>
            <a:chOff x="1403365" y="1759900"/>
            <a:chExt cx="506100" cy="2873303"/>
          </a:xfrm>
        </p:grpSpPr>
        <p:cxnSp>
          <p:nvCxnSpPr>
            <p:cNvPr id="463" name="Google Shape;463;p1"/>
            <p:cNvCxnSpPr/>
            <p:nvPr/>
          </p:nvCxnSpPr>
          <p:spPr bwMode="auto">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657882180" name="Google Shape;481;p3"/>
          <p:cNvSpPr txBox="1"/>
          <p:nvPr/>
        </p:nvSpPr>
        <p:spPr bwMode="auto">
          <a:xfrm>
            <a:off x="1586230" y="1131570"/>
            <a:ext cx="7557770" cy="12306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a:t>&lt;</a:t>
            </a:r>
            <a:r>
              <a:rPr/>
              <a:t>La interpolación de string en JavaScript es una forma de concatenar valores en una cadena de texto de una manera más legible y fácil de usar. En lugar de utilizar el operador de concatenación </a:t>
            </a:r>
            <a:r>
              <a:rPr>
                <a:solidFill>
                  <a:srgbClr val="00B050"/>
                </a:solidFill>
              </a:rPr>
              <a:t>+</a:t>
            </a:r>
            <a:r>
              <a:rPr/>
              <a:t> para unir cadenas y variables, se utiliza una sintaxis especial con los caracteres de acento grave</a:t>
            </a:r>
            <a:r>
              <a:rPr lang="es-AR"/>
              <a:t> (backtick)</a:t>
            </a:r>
            <a:r>
              <a:rPr/>
              <a:t> </a:t>
            </a:r>
            <a:r>
              <a:rPr>
                <a:solidFill>
                  <a:srgbClr val="00B050"/>
                </a:solidFill>
              </a:rPr>
              <a:t>( </a:t>
            </a:r>
            <a:r>
              <a:rPr lang="es-AR">
                <a:solidFill>
                  <a:srgbClr val="00B050"/>
                </a:solidFill>
              </a:rPr>
              <a:t>` </a:t>
            </a:r>
            <a:r>
              <a:rPr>
                <a:solidFill>
                  <a:srgbClr val="00B050"/>
                </a:solidFill>
              </a:rPr>
              <a:t>)</a:t>
            </a:r>
            <a:r>
              <a:rPr/>
              <a:t> y llaves </a:t>
            </a:r>
            <a:r>
              <a:rPr>
                <a:solidFill>
                  <a:srgbClr val="00B050"/>
                </a:solidFill>
              </a:rPr>
              <a:t>{</a:t>
            </a:r>
            <a:r>
              <a:rPr lang="es-AR">
                <a:solidFill>
                  <a:srgbClr val="00B050"/>
                </a:solidFill>
              </a:rPr>
              <a:t> </a:t>
            </a:r>
            <a:r>
              <a:rPr>
                <a:solidFill>
                  <a:srgbClr val="00B050"/>
                </a:solidFill>
              </a:rPr>
              <a:t>}</a:t>
            </a:r>
            <a:r>
              <a:rPr/>
              <a:t> para insertar valores de variables en una cadena.</a:t>
            </a:r>
            <a:r>
              <a:rPr lang="en-GB"/>
              <a:t>&gt;</a:t>
            </a:r>
            <a:endParaRPr lang="en-GB"/>
          </a:p>
        </p:txBody>
      </p:sp>
      <p:sp>
        <p:nvSpPr>
          <p:cNvPr id="1916652158"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438342390"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pic>
        <p:nvPicPr>
          <p:cNvPr id="2037175510" name="Picture 3"/>
          <p:cNvPicPr>
            <a:picLocks noChangeAspect="1"/>
          </p:cNvPicPr>
          <p:nvPr/>
        </p:nvPicPr>
        <p:blipFill rotWithShape="1">
          <a:blip r:embed="rId3"/>
          <a:stretch/>
        </p:blipFill>
        <p:spPr bwMode="auto">
          <a:xfrm>
            <a:off x="3853815" y="2367915"/>
            <a:ext cx="2705100" cy="472440"/>
          </a:xfrm>
          <a:prstGeom prst="rect">
            <a:avLst/>
          </a:prstGeom>
        </p:spPr>
      </p:pic>
      <p:pic>
        <p:nvPicPr>
          <p:cNvPr id="1758486751" name="Picture 4"/>
          <p:cNvPicPr>
            <a:picLocks noChangeAspect="1"/>
          </p:cNvPicPr>
          <p:nvPr/>
        </p:nvPicPr>
        <p:blipFill rotWithShape="1">
          <a:blip r:embed="rId4"/>
          <a:stretch/>
        </p:blipFill>
        <p:spPr bwMode="auto">
          <a:xfrm>
            <a:off x="2634615" y="3003550"/>
            <a:ext cx="5143500" cy="1082040"/>
          </a:xfrm>
          <a:prstGeom prst="rect">
            <a:avLst/>
          </a:prstGeom>
        </p:spPr>
      </p:pic>
      <p:sp>
        <p:nvSpPr>
          <p:cNvPr id="178038059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87175447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6398649" name="Google Shape;458;p1"/>
          <p:cNvSpPr txBox="1"/>
          <p:nvPr>
            <p:ph type="ctrTitle"/>
          </p:nvPr>
        </p:nvSpPr>
        <p:spPr bwMode="auto">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defRPr/>
            </a:pPr>
            <a:r>
              <a:rPr lang="es-AR" sz="2000"/>
              <a:t>¿Para qué sirve el uso de la consola?</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1750056796" name="Google Shape;462;p1"/>
          <p:cNvGrpSpPr/>
          <p:nvPr/>
        </p:nvGrpSpPr>
        <p:grpSpPr bwMode="auto">
          <a:xfrm>
            <a:off x="1388745" y="1059816"/>
            <a:ext cx="506095" cy="3451172"/>
            <a:chOff x="1388760" y="1449985"/>
            <a:chExt cx="506100" cy="2575481"/>
          </a:xfrm>
        </p:grpSpPr>
        <p:cxnSp>
          <p:nvCxnSpPr>
            <p:cNvPr id="463" name="Google Shape;463;p1"/>
            <p:cNvCxnSpPr/>
            <p:nvPr/>
          </p:nvCxnSpPr>
          <p:spPr bwMode="auto">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bwMode="auto">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defRPr/>
              </a:pPr>
              <a:r>
                <a:rPr lang="en-GB" sz="2000" b="0" i="0" u="none" strike="noStrike" cap="none">
                  <a:solidFill>
                    <a:schemeClr val="accent3"/>
                  </a:solidFill>
                  <a:latin typeface="Fira Code"/>
                  <a:ea typeface="Fira Code"/>
                  <a:cs typeface="Fira Code"/>
                </a:rPr>
                <a:t>}</a:t>
              </a:r>
              <a:endParaRPr sz="2000" b="0" i="0" u="none" strike="noStrike" cap="none">
                <a:solidFill>
                  <a:schemeClr val="accent3"/>
                </a:solidFill>
                <a:latin typeface="Fira Code"/>
                <a:ea typeface="Fira Code"/>
                <a:cs typeface="Fira Code"/>
              </a:endParaRPr>
            </a:p>
          </p:txBody>
        </p:sp>
      </p:grpSp>
      <p:sp>
        <p:nvSpPr>
          <p:cNvPr id="750279611" name="Google Shape;650;p8"/>
          <p:cNvSpPr/>
          <p:nvPr/>
        </p:nvSpPr>
        <p:spPr bwMode="auto">
          <a:xfrm>
            <a:off x="1280125" y="2218446"/>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845363625" name="Google Shape;652;p8"/>
          <p:cNvSpPr/>
          <p:nvPr/>
        </p:nvSpPr>
        <p:spPr bwMode="auto">
          <a:xfrm>
            <a:off x="1280125" y="2941004"/>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sp>
        <p:nvSpPr>
          <p:cNvPr id="1912942906" name="Google Shape;654;p8"/>
          <p:cNvSpPr/>
          <p:nvPr/>
        </p:nvSpPr>
        <p:spPr bwMode="auto">
          <a:xfrm>
            <a:off x="1280125" y="3663563"/>
            <a:ext cx="115500" cy="115500"/>
          </a:xfrm>
          <a:prstGeom prst="ellipse">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rgbClr val="000000"/>
              </a:buClr>
              <a:buSzPts val="1400"/>
              <a:buFont typeface="Arial"/>
              <a:buNone/>
              <a:defRPr/>
            </a:pPr>
            <a:endParaRPr sz="1200" b="0" i="0" u="none" strike="noStrike" cap="none">
              <a:solidFill>
                <a:srgbClr val="000000"/>
              </a:solidFill>
              <a:latin typeface="Arial"/>
              <a:ea typeface="Arial"/>
              <a:cs typeface="Arial"/>
            </a:endParaRPr>
          </a:p>
        </p:txBody>
      </p:sp>
      <p:grpSp>
        <p:nvGrpSpPr>
          <p:cNvPr id="1687483952" name="Group 10"/>
          <p:cNvGrpSpPr/>
          <p:nvPr/>
        </p:nvGrpSpPr>
        <p:grpSpPr bwMode="auto">
          <a:xfrm>
            <a:off x="1331595" y="1578610"/>
            <a:ext cx="7170420" cy="396875"/>
            <a:chOff x="2324" y="2358"/>
            <a:chExt cx="11292" cy="625"/>
          </a:xfrm>
        </p:grpSpPr>
        <p:sp>
          <p:nvSpPr>
            <p:cNvPr id="481" name="Google Shape;481;p3"/>
            <p:cNvSpPr txBox="1"/>
            <p:nvPr/>
          </p:nvSpPr>
          <p:spPr bwMode="auto">
            <a:xfrm>
              <a:off x="3199" y="2358"/>
              <a:ext cx="10417" cy="6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Depurar errores en el código: </a:t>
              </a:r>
              <a:r>
                <a:rPr lang="es-AR" sz="1200"/>
                <a:t>Se puede </a:t>
              </a:r>
              <a:r>
                <a:rPr sz="1200"/>
                <a:t>usar la consola para ver los errores que se producen en nuestro código y encontrar su origen.</a:t>
              </a:r>
              <a:r>
                <a:rPr lang="en-GB" sz="1200"/>
                <a:t> &gt;</a:t>
              </a:r>
              <a:endParaRPr lang="en-GB" sz="1200"/>
            </a:p>
          </p:txBody>
        </p:sp>
        <p:sp>
          <p:nvSpPr>
            <p:cNvPr id="480"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1)</a:t>
              </a:r>
              <a:endParaRPr lang="es-AR" sz="1800"/>
            </a:p>
          </p:txBody>
        </p:sp>
      </p:grpSp>
      <p:grpSp>
        <p:nvGrpSpPr>
          <p:cNvPr id="1424885318" name="Group 3"/>
          <p:cNvGrpSpPr/>
          <p:nvPr/>
        </p:nvGrpSpPr>
        <p:grpSpPr bwMode="auto">
          <a:xfrm>
            <a:off x="1331595" y="2188845"/>
            <a:ext cx="7170420" cy="610235"/>
            <a:chOff x="2324" y="2358"/>
            <a:chExt cx="11292" cy="961"/>
          </a:xfrm>
        </p:grpSpPr>
        <p:sp>
          <p:nvSpPr>
            <p:cNvPr id="7"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Probar código en tiempo real: </a:t>
              </a:r>
              <a:r>
                <a:rPr lang="es-AR" sz="1200"/>
                <a:t>Se puede </a:t>
              </a:r>
              <a:r>
                <a:rPr sz="1200"/>
                <a:t>u</a:t>
              </a:r>
              <a:r>
                <a:rPr lang="es-AR" sz="1200"/>
                <a:t>sar</a:t>
              </a:r>
              <a:r>
                <a:rPr sz="1200"/>
                <a:t> la consola para probar pequeños fragmentos de código y ver los resultados de inmediato.</a:t>
              </a:r>
              <a:r>
                <a:rPr lang="en-GB" sz="1200"/>
                <a:t> &gt;</a:t>
              </a:r>
              <a:endParaRPr lang="en-GB" sz="1200"/>
            </a:p>
          </p:txBody>
        </p:sp>
        <p:sp>
          <p:nvSpPr>
            <p:cNvPr id="8"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2)</a:t>
              </a:r>
              <a:endParaRPr lang="es-AR" sz="1800"/>
            </a:p>
          </p:txBody>
        </p:sp>
      </p:grpSp>
      <p:grpSp>
        <p:nvGrpSpPr>
          <p:cNvPr id="1309685418" name="Group 8"/>
          <p:cNvGrpSpPr/>
          <p:nvPr/>
        </p:nvGrpSpPr>
        <p:grpSpPr bwMode="auto">
          <a:xfrm>
            <a:off x="1331595" y="2860040"/>
            <a:ext cx="7170420" cy="610235"/>
            <a:chOff x="2324" y="2358"/>
            <a:chExt cx="11292" cy="961"/>
          </a:xfrm>
        </p:grpSpPr>
        <p:sp>
          <p:nvSpPr>
            <p:cNvPr id="10" name="Google Shape;481;p3"/>
            <p:cNvSpPr txBox="1"/>
            <p:nvPr/>
          </p:nvSpPr>
          <p:spPr bwMode="auto">
            <a:xfrm>
              <a:off x="3199" y="2358"/>
              <a:ext cx="10417" cy="96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2pPr>
              <a:lvl3pPr marL="1371600" marR="0" lvl="2"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3pPr>
              <a:lvl4pPr marL="1828800" marR="0" lvl="3"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4pPr>
              <a:lvl5pPr marL="2286000" marR="0" lvl="4"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5pPr>
              <a:lvl6pPr marL="2743200" marR="0" lvl="5"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6pPr>
              <a:lvl7pPr marL="3200400" marR="0" lvl="6"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7pPr>
              <a:lvl8pPr marL="3657600" marR="0" lvl="7"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8pPr>
              <a:lvl9pPr marL="4114800" marR="0" lvl="8" indent="-317500" algn="r" rtl="0">
                <a:lnSpc>
                  <a:spcPct val="100000"/>
                </a:lnSpc>
                <a:spcBef>
                  <a:spcPts val="0"/>
                </a:spcBef>
                <a:spcAft>
                  <a:spcPts val="0"/>
                </a:spcAft>
                <a:buClr>
                  <a:schemeClr val="dk1"/>
                </a:buClr>
                <a:buSzPts val="1400"/>
                <a:buFont typeface="Fira Code"/>
                <a:buNone/>
                <a:defRPr sz="14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n-GB" sz="1200"/>
                <a:t>&lt;</a:t>
              </a:r>
              <a:r>
                <a:rPr lang="es-AR" sz="1200"/>
                <a:t> </a:t>
              </a:r>
              <a:r>
                <a:rPr sz="1200"/>
                <a:t>Imprimir mensajes o valores de variables: </a:t>
              </a:r>
              <a:r>
                <a:rPr lang="es-AR" sz="1200"/>
                <a:t>Se puede usar</a:t>
              </a:r>
              <a:r>
                <a:rPr sz="1200"/>
                <a:t> la consola para imprimir mensajes o valores de variables en la ventana del navegador.</a:t>
              </a:r>
              <a:r>
                <a:rPr lang="en-GB" sz="1200"/>
                <a:t> &gt;</a:t>
              </a:r>
              <a:endParaRPr lang="en-GB" sz="1200"/>
            </a:p>
          </p:txBody>
        </p:sp>
        <p:sp>
          <p:nvSpPr>
            <p:cNvPr id="14" name="Google Shape;480;p3"/>
            <p:cNvSpPr txBox="1"/>
            <p:nvPr/>
          </p:nvSpPr>
          <p:spPr bwMode="auto">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500"/>
                <a:buNone/>
                <a:defRPr/>
              </a:pPr>
              <a:r>
                <a:rPr lang="es-AR" sz="1800"/>
                <a:t>3)</a:t>
              </a:r>
              <a:endParaRPr lang="es-AR" sz="1800"/>
            </a:p>
          </p:txBody>
        </p:sp>
      </p:grpSp>
      <p:sp>
        <p:nvSpPr>
          <p:cNvPr id="1082274483" name="Google Shape;489;p3"/>
          <p:cNvSpPr txBox="1"/>
          <p:nvPr/>
        </p:nvSpPr>
        <p:spPr bwMode="auto">
          <a:xfrm>
            <a:off x="3275965" y="1075055"/>
            <a:ext cx="3983355" cy="431799"/>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2800" b="0" i="0" u="none" strike="noStrike" cap="none">
                <a:solidFill>
                  <a:schemeClr val="lt1"/>
                </a:solidFill>
                <a:latin typeface="Fira Code"/>
                <a:ea typeface="Fira Code"/>
                <a:cs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defRPr>
            </a:lvl9pPr>
          </a:lstStyle>
          <a:p>
            <a:pPr marL="0" lvl="0" indent="0" algn="l" rtl="0">
              <a:lnSpc>
                <a:spcPct val="100000"/>
              </a:lnSpc>
              <a:spcBef>
                <a:spcPts val="0"/>
              </a:spcBef>
              <a:spcAft>
                <a:spcPts val="0"/>
              </a:spcAft>
              <a:buSzPts val="2800"/>
              <a:buNone/>
              <a:defRPr/>
            </a:pPr>
            <a:r>
              <a:rPr lang="es-AR" sz="1400">
                <a:solidFill>
                  <a:schemeClr val="accent6"/>
                </a:solidFill>
              </a:rPr>
              <a:t>&lt;</a:t>
            </a:r>
            <a:r>
              <a:rPr lang="es-MX" sz="1400">
                <a:solidFill>
                  <a:schemeClr val="accent6"/>
                </a:solidFill>
              </a:rPr>
              <a:t> La consola se utiliza principalmente </a:t>
            </a:r>
            <a:r>
              <a:rPr lang="es-AR" sz="1400">
                <a:solidFill>
                  <a:schemeClr val="accent6"/>
                </a:solidFill>
              </a:rPr>
              <a:t>&gt;</a:t>
            </a:r>
            <a:endParaRPr lang="es-AR" sz="1400">
              <a:solidFill>
                <a:schemeClr val="accent6"/>
              </a:solidFill>
            </a:endParaRPr>
          </a:p>
        </p:txBody>
      </p:sp>
      <p:sp>
        <p:nvSpPr>
          <p:cNvPr id="1461088185"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216825912" name="Google Shape;465;p1"/>
          <p:cNvSpPr txBox="1"/>
          <p:nvPr/>
        </p:nvSpPr>
        <p:spPr bwMode="auto">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MX" sz="1400">
                <a:solidFill>
                  <a:schemeClr val="accent3"/>
                </a:solidFill>
              </a:rPr>
              <a:t>Fundamentos de JavaScript</a:t>
            </a:r>
            <a:endParaRPr lang="es-MX" sz="1400">
              <a:solidFill>
                <a:schemeClr val="accent3"/>
              </a:solidFill>
            </a:endParaRPr>
          </a:p>
        </p:txBody>
      </p:sp>
      <p:sp>
        <p:nvSpPr>
          <p:cNvPr id="2080178076"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430812674"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2294284" name="Google Shape;489;p3"/>
          <p:cNvSpPr txBox="1"/>
          <p:nvPr>
            <p:ph type="title" idx="9"/>
          </p:nvPr>
        </p:nvSpPr>
        <p:spPr bwMode="auto">
          <a:xfrm>
            <a:off x="1043305" y="699769"/>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defRPr/>
            </a:pPr>
            <a:r>
              <a:rPr lang="es-AR" sz="2000"/>
              <a:t> </a:t>
            </a:r>
            <a:r>
              <a:rPr lang="en-GB" sz="2000">
                <a:solidFill>
                  <a:schemeClr val="accent6"/>
                </a:solidFill>
              </a:rPr>
              <a:t>{</a:t>
            </a:r>
            <a:endParaRPr sz="2000">
              <a:solidFill>
                <a:schemeClr val="accent6"/>
              </a:solidFill>
            </a:endParaRPr>
          </a:p>
        </p:txBody>
      </p:sp>
      <p:grpSp>
        <p:nvGrpSpPr>
          <p:cNvPr id="2034148599" name="Google Shape;490;p3"/>
          <p:cNvGrpSpPr/>
          <p:nvPr/>
        </p:nvGrpSpPr>
        <p:grpSpPr bwMode="auto">
          <a:xfrm>
            <a:off x="1084825" y="1168950"/>
            <a:ext cx="506100" cy="3336020"/>
            <a:chOff x="1084825" y="1168950"/>
            <a:chExt cx="506100" cy="3336020"/>
          </a:xfrm>
        </p:grpSpPr>
        <p:sp>
          <p:nvSpPr>
            <p:cNvPr id="491" name="Google Shape;491;p3"/>
            <p:cNvSpPr txBox="1"/>
            <p:nvPr/>
          </p:nvSpPr>
          <p:spPr bwMode="auto">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400" b="0" i="0" u="none" strike="noStrike" cap="none">
                  <a:solidFill>
                    <a:schemeClr val="accent6"/>
                  </a:solidFill>
                  <a:latin typeface="Fira Code"/>
                  <a:ea typeface="Fira Code"/>
                  <a:cs typeface="Fira Code"/>
                </a:rPr>
                <a:t>}</a:t>
              </a:r>
              <a:endParaRPr lang="en-GB" sz="2400" b="0" i="0" u="none" strike="noStrike" cap="none">
                <a:solidFill>
                  <a:schemeClr val="accent6"/>
                </a:solidFill>
                <a:latin typeface="Fira Code"/>
                <a:ea typeface="Fira Code"/>
                <a:cs typeface="Fira Code"/>
              </a:endParaRPr>
            </a:p>
          </p:txBody>
        </p:sp>
        <p:cxnSp>
          <p:nvCxnSpPr>
            <p:cNvPr id="492" name="Google Shape;492;p3"/>
            <p:cNvCxnSpPr/>
            <p:nvPr/>
          </p:nvCxnSpPr>
          <p:spPr bwMode="auto">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152892027" name="Google Shape;471;p2"/>
          <p:cNvSpPr txBox="1"/>
          <p:nvPr/>
        </p:nvSpPr>
        <p:spPr bwMode="auto">
          <a:xfrm>
            <a:off x="1907540" y="1896745"/>
            <a:ext cx="6356985" cy="13087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a:buNone/>
              <a:defRPr sz="2800" b="0" i="0" u="none" strike="noStrike" cap="none">
                <a:solidFill>
                  <a:schemeClr val="lt1"/>
                </a:solidFill>
                <a:latin typeface="Fira Code"/>
                <a:ea typeface="Fira Code"/>
                <a:cs typeface="Fira Code"/>
              </a:defRPr>
            </a:lvl1pPr>
            <a:lvl2pPr marR="0" lvl="1"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2pPr>
            <a:lvl3pPr marR="0" lvl="2"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3pPr>
            <a:lvl4pPr marR="0" lvl="3"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4pPr>
            <a:lvl5pPr marR="0" lvl="4"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5pPr>
            <a:lvl6pPr marR="0" lvl="5"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6pPr>
            <a:lvl7pPr marR="0" lvl="6"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7pPr>
            <a:lvl8pPr marR="0" lvl="7"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8pPr>
            <a:lvl9pPr marR="0" lvl="8" algn="l" rtl="0">
              <a:lnSpc>
                <a:spcPct val="100000"/>
              </a:lnSpc>
              <a:spcBef>
                <a:spcPts val="0"/>
              </a:spcBef>
              <a:spcAft>
                <a:spcPts val="0"/>
              </a:spcAft>
              <a:buClr>
                <a:schemeClr val="dk1"/>
              </a:buClr>
              <a:buSzPts val="2800"/>
              <a:buFont typeface="Fira Code"/>
              <a:buNone/>
              <a:defRPr sz="2800" b="0" i="0" u="none" strike="noStrike" cap="none">
                <a:solidFill>
                  <a:schemeClr val="dk1"/>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2400"/>
              <a:t>[</a:t>
            </a:r>
            <a:r>
              <a:rPr lang="es-MX" sz="2400"/>
              <a:t> </a:t>
            </a:r>
            <a:r>
              <a:rPr lang="es-AR" sz="2400"/>
              <a:t>Funciones</a:t>
            </a:r>
            <a:r>
              <a:rPr lang="es-ES" sz="2400"/>
              <a:t>, Objetos y Arreglos</a:t>
            </a:r>
            <a:r>
              <a:rPr lang="es-MX" sz="2400"/>
              <a:t> </a:t>
            </a:r>
            <a:r>
              <a:rPr lang="es-AR" sz="2400"/>
              <a:t>]</a:t>
            </a:r>
            <a:r>
              <a:rPr lang="es-AR" sz="2400"/>
              <a:t> </a:t>
            </a:r>
            <a:r>
              <a:rPr lang="es-AR" sz="2400">
                <a:solidFill>
                  <a:schemeClr val="accent2"/>
                </a:solidFill>
              </a:rPr>
              <a:t> </a:t>
            </a:r>
            <a:endParaRPr lang="es-AR" sz="2400">
              <a:solidFill>
                <a:schemeClr val="accent2"/>
              </a:solidFill>
            </a:endParaRPr>
          </a:p>
        </p:txBody>
      </p:sp>
      <p:sp>
        <p:nvSpPr>
          <p:cNvPr id="460614329"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73633923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981884225"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635908125" name="Google Shape;551;p5"/>
          <p:cNvGrpSpPr/>
          <p:nvPr/>
        </p:nvGrpSpPr>
        <p:grpSpPr bwMode="auto">
          <a:xfrm>
            <a:off x="1080135" y="134810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780836702"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MX" sz="2000"/>
              <a:t>¿Qué son las Funciones y los Argumentos?</a:t>
            </a:r>
            <a:r>
              <a:rPr lang="es-AR" sz="2000"/>
              <a:t> </a:t>
            </a:r>
            <a:r>
              <a:rPr lang="en-GB" sz="2000">
                <a:solidFill>
                  <a:schemeClr val="accent6"/>
                </a:solidFill>
              </a:rPr>
              <a:t>{</a:t>
            </a:r>
            <a:r>
              <a:rPr lang="en-GB" sz="2000"/>
              <a:t> </a:t>
            </a:r>
            <a:endParaRPr lang="en-GB" sz="2000"/>
          </a:p>
        </p:txBody>
      </p:sp>
      <p:grpSp>
        <p:nvGrpSpPr>
          <p:cNvPr id="1925641952" name="Group 10"/>
          <p:cNvGrpSpPr/>
          <p:nvPr/>
        </p:nvGrpSpPr>
        <p:grpSpPr bwMode="auto">
          <a:xfrm>
            <a:off x="1342390" y="1336675"/>
            <a:ext cx="7760970" cy="2449830"/>
            <a:chOff x="2114" y="2105"/>
            <a:chExt cx="12222" cy="3857"/>
          </a:xfrm>
        </p:grpSpPr>
        <p:sp>
          <p:nvSpPr>
            <p:cNvPr id="513" name="Google Shape;513;p5"/>
            <p:cNvSpPr txBox="1"/>
            <p:nvPr/>
          </p:nvSpPr>
          <p:spPr bwMode="auto">
            <a:xfrm>
              <a:off x="2114" y="4145"/>
              <a:ext cx="12222" cy="1819"/>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a:t>
              </a:r>
              <a:r>
                <a:rPr lang="es-MX"/>
                <a:t> </a:t>
              </a:r>
              <a:r>
                <a:rPr lang="en-GB"/>
                <a:t>Los </a:t>
              </a:r>
              <a:r>
                <a:rPr lang="en-GB">
                  <a:solidFill>
                    <a:srgbClr val="00B050"/>
                  </a:solidFill>
                </a:rPr>
                <a:t>argumentos </a:t>
              </a:r>
              <a:r>
                <a:rPr lang="en-GB"/>
                <a:t>son valores que se pasan a la función para que pueda realizar su tarea.</a:t>
              </a:r>
              <a:endParaRPr lang="en-GB"/>
            </a:p>
            <a:p>
              <a:pPr marL="0" lvl="0" indent="0" algn="ctr" rtl="0">
                <a:lnSpc>
                  <a:spcPct val="100000"/>
                </a:lnSpc>
                <a:spcBef>
                  <a:spcPts val="0"/>
                </a:spcBef>
                <a:spcAft>
                  <a:spcPts val="0"/>
                </a:spcAft>
                <a:buSzPts val="1400"/>
                <a:buNone/>
                <a:defRPr/>
              </a:pPr>
              <a:r>
                <a:rPr lang="en-GB"/>
                <a:t> Las funciones pueden tener cero o más argumentos, y cada argumento puede ser de cualquier tipo de datos válido en JavaScript, incluyendo números, cadenas, objetos, arreglos y funciones. Los argumentos son una forma importante de hacer que las funciones sean más flexibles y adaptables a diferentes situaciones.&gt;</a:t>
              </a:r>
              <a:endParaRPr lang="en-GB"/>
            </a:p>
          </p:txBody>
        </p:sp>
        <p:sp>
          <p:nvSpPr>
            <p:cNvPr id="1" name="Google Shape;512;p5"/>
            <p:cNvSpPr txBox="1"/>
            <p:nvPr/>
          </p:nvSpPr>
          <p:spPr bwMode="auto">
            <a:xfrm>
              <a:off x="2183" y="2105"/>
              <a:ext cx="12138" cy="192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a:t>&lt; </a:t>
              </a:r>
              <a:r>
                <a:rPr lang="es-MX"/>
                <a:t>L</a:t>
              </a:r>
              <a:r>
                <a:rPr lang="en-GB"/>
                <a:t>as </a:t>
              </a:r>
              <a:r>
                <a:rPr lang="en-GB">
                  <a:solidFill>
                    <a:srgbClr val="00B050"/>
                  </a:solidFill>
                </a:rPr>
                <a:t>funciones </a:t>
              </a:r>
              <a:r>
                <a:rPr lang="en-GB"/>
                <a:t>son bloques de código que realizan una tarea específica y se pueden reutilizar en diferentes partes del programa.</a:t>
              </a:r>
              <a:r>
                <a:rPr lang="es-MX"/>
                <a:t> Las funciones pueden tomar argumentos como entrada y pueden devolver un valor como salida. Las funciones son una parte fundamental de la programación en JavaScript y se utilizan ampliamente en la creación de aplicaciones web y en la manipulación de datos.</a:t>
              </a:r>
              <a:r>
                <a:rPr lang="en-GB"/>
                <a:t> </a:t>
              </a:r>
              <a:r>
                <a:rPr lang="en-GB"/>
                <a:t>&gt;</a:t>
              </a:r>
              <a:endParaRPr lang="en-GB"/>
            </a:p>
          </p:txBody>
        </p:sp>
      </p:grpSp>
      <p:sp>
        <p:nvSpPr>
          <p:cNvPr id="195014498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85871004"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
        <p:nvSpPr>
          <p:cNvPr id="467404021"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329791119"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23861031"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38158105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2000"/>
              <a:t>Tipos de funciones en JavaScript</a:t>
            </a:r>
            <a:r>
              <a:rPr lang="es-AR" sz="2000"/>
              <a:t> </a:t>
            </a:r>
            <a:r>
              <a:rPr lang="en-GB" sz="2000">
                <a:solidFill>
                  <a:schemeClr val="accent6"/>
                </a:solidFill>
              </a:rPr>
              <a:t>{</a:t>
            </a:r>
            <a:r>
              <a:rPr lang="en-GB" sz="2000"/>
              <a:t> </a:t>
            </a:r>
            <a:endParaRPr lang="en-GB" sz="2000"/>
          </a:p>
        </p:txBody>
      </p:sp>
      <p:sp>
        <p:nvSpPr>
          <p:cNvPr id="1849123514" name="Google Shape;512;p5"/>
          <p:cNvSpPr txBox="1"/>
          <p:nvPr/>
        </p:nvSpPr>
        <p:spPr bwMode="auto">
          <a:xfrm>
            <a:off x="1403350" y="3435985"/>
            <a:ext cx="5134610"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a:t>
            </a:r>
            <a:r>
              <a:rPr lang="en-GB" sz="1200" b="1">
                <a:solidFill>
                  <a:srgbClr val="00B050"/>
                </a:solidFill>
              </a:rPr>
              <a:t>Funciones flecha</a:t>
            </a:r>
            <a:r>
              <a:rPr lang="es-AR" sz="1200" b="1">
                <a:solidFill>
                  <a:srgbClr val="00B050"/>
                </a:solidFill>
              </a:rPr>
              <a:t>&gt;</a:t>
            </a:r>
            <a:r>
              <a:rPr lang="en-GB" sz="1200"/>
              <a:t> </a:t>
            </a:r>
            <a:r>
              <a:rPr lang="es-AR" sz="1200"/>
              <a:t>{ </a:t>
            </a:r>
            <a:r>
              <a:rPr lang="en-GB" sz="1200"/>
              <a:t> son una forma abreviada de definir funciones expresivas y se utilizan para escribir código más conciso.</a:t>
            </a:r>
            <a:r>
              <a:rPr lang="en-GB" sz="1200"/>
              <a:t> </a:t>
            </a:r>
            <a:r>
              <a:rPr lang="es-AR" sz="1200"/>
              <a:t> }</a:t>
            </a:r>
            <a:endParaRPr lang="es-AR" sz="1200"/>
          </a:p>
        </p:txBody>
      </p:sp>
      <p:sp>
        <p:nvSpPr>
          <p:cNvPr id="1332623835" name="Google Shape;512;p5"/>
          <p:cNvSpPr txBox="1"/>
          <p:nvPr/>
        </p:nvSpPr>
        <p:spPr bwMode="auto">
          <a:xfrm>
            <a:off x="1408430" y="2211070"/>
            <a:ext cx="552640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&lt;Funciones expresivas&gt;</a:t>
            </a:r>
            <a:r>
              <a:rPr lang="en-GB" sz="1200"/>
              <a:t> </a:t>
            </a:r>
            <a:r>
              <a:rPr lang="es-AR" sz="1200"/>
              <a:t>{ </a:t>
            </a:r>
            <a:r>
              <a:rPr lang="es-MX" sz="1200"/>
              <a:t>s</a:t>
            </a:r>
            <a:r>
              <a:rPr sz="1200"/>
              <a:t>e definen como una expresión en una variable en lugar de utilizar la palabra clave function. Estas funciones no se pueden llamar antes de su definición debido a que son tratadas como una expresión que se evalúa en el momento en que es asignada a la variable.</a:t>
            </a:r>
            <a:r>
              <a:rPr lang="en-GB" sz="1200"/>
              <a:t> </a:t>
            </a:r>
            <a:r>
              <a:rPr lang="es-AR" sz="1200"/>
              <a:t>}</a:t>
            </a:r>
            <a:endParaRPr lang="es-AR" sz="1200"/>
          </a:p>
        </p:txBody>
      </p:sp>
      <p:sp>
        <p:nvSpPr>
          <p:cNvPr id="1824110916" name="Google Shape;512;p5"/>
          <p:cNvSpPr txBox="1"/>
          <p:nvPr/>
        </p:nvSpPr>
        <p:spPr bwMode="auto">
          <a:xfrm>
            <a:off x="1403985" y="1101090"/>
            <a:ext cx="418020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&lt;Funciones declarativas&gt;</a:t>
            </a:r>
            <a:r>
              <a:rPr lang="en-GB" sz="1200"/>
              <a:t> </a:t>
            </a:r>
            <a:r>
              <a:rPr lang="es-AR" sz="1200"/>
              <a:t>{ </a:t>
            </a:r>
            <a:r>
              <a:rPr sz="1200"/>
              <a:t>son funciones que se definen utilizando la palabra clave function seguida del nombre de la función y se pueden invocar en cualquier parte del código, incluso antes de ser declaradas.</a:t>
            </a:r>
            <a:r>
              <a:rPr lang="en-GB" sz="1200"/>
              <a:t> </a:t>
            </a:r>
            <a:r>
              <a:rPr lang="es-AR" sz="1200"/>
              <a:t>}</a:t>
            </a:r>
            <a:endParaRPr lang="es-AR" sz="1200"/>
          </a:p>
        </p:txBody>
      </p:sp>
      <p:pic>
        <p:nvPicPr>
          <p:cNvPr id="1053960745" name="Picture 5"/>
          <p:cNvPicPr>
            <a:picLocks noChangeAspect="1"/>
          </p:cNvPicPr>
          <p:nvPr/>
        </p:nvPicPr>
        <p:blipFill rotWithShape="1">
          <a:blip r:embed="rId3"/>
          <a:stretch/>
        </p:blipFill>
        <p:spPr bwMode="auto">
          <a:xfrm>
            <a:off x="7014210" y="915670"/>
            <a:ext cx="1901190" cy="1107440"/>
          </a:xfrm>
          <a:prstGeom prst="rect">
            <a:avLst/>
          </a:prstGeom>
        </p:spPr>
      </p:pic>
      <p:pic>
        <p:nvPicPr>
          <p:cNvPr id="452121702" name="Picture 9"/>
          <p:cNvPicPr>
            <a:picLocks noChangeAspect="1"/>
          </p:cNvPicPr>
          <p:nvPr/>
        </p:nvPicPr>
        <p:blipFill rotWithShape="1">
          <a:blip r:embed="rId4"/>
          <a:stretch/>
        </p:blipFill>
        <p:spPr bwMode="auto">
          <a:xfrm>
            <a:off x="6912610" y="2186305"/>
            <a:ext cx="2002790" cy="1097280"/>
          </a:xfrm>
          <a:prstGeom prst="rect">
            <a:avLst/>
          </a:prstGeom>
        </p:spPr>
      </p:pic>
      <p:pic>
        <p:nvPicPr>
          <p:cNvPr id="695561467" name="Picture 12"/>
          <p:cNvPicPr>
            <a:picLocks noChangeAspect="1"/>
          </p:cNvPicPr>
          <p:nvPr/>
        </p:nvPicPr>
        <p:blipFill rotWithShape="1">
          <a:blip r:embed="rId5"/>
          <a:stretch/>
        </p:blipFill>
        <p:spPr bwMode="auto">
          <a:xfrm>
            <a:off x="6976110" y="3363595"/>
            <a:ext cx="1939290" cy="1108710"/>
          </a:xfrm>
          <a:prstGeom prst="rect">
            <a:avLst/>
          </a:prstGeom>
        </p:spPr>
      </p:pic>
      <p:sp>
        <p:nvSpPr>
          <p:cNvPr id="335736796"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3754293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82287533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1048275218"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08801543" name="Google Shape;551;p5"/>
          <p:cNvGrpSpPr/>
          <p:nvPr/>
        </p:nvGrpSpPr>
        <p:grpSpPr bwMode="auto">
          <a:xfrm>
            <a:off x="1006474" y="1347470"/>
            <a:ext cx="506095" cy="3263764"/>
            <a:chOff x="1080380" y="3260196"/>
            <a:chExt cx="506100" cy="117779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691096552"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2000"/>
              <a:t>Tipos de </a:t>
            </a:r>
            <a:r>
              <a:rPr lang="es-MX" sz="2000"/>
              <a:t>argumentos </a:t>
            </a:r>
            <a:r>
              <a:rPr lang="es-AR" sz="2000"/>
              <a:t>en JavaScript</a:t>
            </a:r>
            <a:r>
              <a:rPr lang="es-AR" sz="2000"/>
              <a:t> </a:t>
            </a:r>
            <a:r>
              <a:rPr lang="en-GB" sz="2000">
                <a:solidFill>
                  <a:schemeClr val="accent6"/>
                </a:solidFill>
              </a:rPr>
              <a:t>{</a:t>
            </a:r>
            <a:r>
              <a:rPr lang="en-GB" sz="2000"/>
              <a:t> </a:t>
            </a:r>
            <a:endParaRPr lang="en-GB" sz="2000"/>
          </a:p>
        </p:txBody>
      </p:sp>
      <p:sp>
        <p:nvSpPr>
          <p:cNvPr id="1353664228" name="Google Shape;512;p5"/>
          <p:cNvSpPr txBox="1"/>
          <p:nvPr/>
        </p:nvSpPr>
        <p:spPr bwMode="auto">
          <a:xfrm>
            <a:off x="1408430" y="3452495"/>
            <a:ext cx="5134610"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a:t>
            </a:r>
            <a:r>
              <a:rPr lang="en-GB" sz="1200" b="1">
                <a:solidFill>
                  <a:srgbClr val="00B050"/>
                </a:solidFill>
              </a:rPr>
              <a:t>Argumentos por defecto</a:t>
            </a:r>
            <a:r>
              <a:rPr lang="es-AR" sz="1200" b="1">
                <a:solidFill>
                  <a:srgbClr val="00B050"/>
                </a:solidFill>
              </a:rPr>
              <a:t>&gt;</a:t>
            </a:r>
            <a:r>
              <a:rPr lang="en-GB" sz="1200"/>
              <a:t> </a:t>
            </a:r>
            <a:r>
              <a:rPr lang="es-AR" sz="1200"/>
              <a:t>{</a:t>
            </a:r>
            <a:r>
              <a:rPr lang="es-MX" sz="1200"/>
              <a:t> </a:t>
            </a:r>
            <a:r>
              <a:rPr lang="en-GB" sz="1200"/>
              <a:t>son argumentos que se pueden establecer con un valor predeterminado en caso de que no se proporcione un valor para ellos al llamar a la función.</a:t>
            </a:r>
            <a:r>
              <a:rPr lang="es-MX" sz="1200"/>
              <a:t> </a:t>
            </a:r>
            <a:r>
              <a:rPr lang="es-AR" sz="1200"/>
              <a:t>}</a:t>
            </a:r>
            <a:endParaRPr lang="es-AR" sz="1200"/>
          </a:p>
        </p:txBody>
      </p:sp>
      <p:sp>
        <p:nvSpPr>
          <p:cNvPr id="809986329" name="Google Shape;512;p5"/>
          <p:cNvSpPr txBox="1"/>
          <p:nvPr/>
        </p:nvSpPr>
        <p:spPr bwMode="auto">
          <a:xfrm>
            <a:off x="1408430" y="2211070"/>
            <a:ext cx="506666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&lt;Argumentos obligatorios&gt;</a:t>
            </a:r>
            <a:r>
              <a:rPr lang="en-GB" sz="1200"/>
              <a:t> </a:t>
            </a:r>
            <a:r>
              <a:rPr lang="es-AR" sz="1200"/>
              <a:t>{ </a:t>
            </a:r>
            <a:r>
              <a:rPr sz="1200"/>
              <a:t>son los argumentos que deben ser proporcionados a la función para que esta pueda ser ejecutada correctamente. Si no se proporciona un argumento requerido, se produce un error.</a:t>
            </a:r>
            <a:r>
              <a:rPr lang="es-AR" sz="1200"/>
              <a:t>}</a:t>
            </a:r>
            <a:endParaRPr lang="es-AR" sz="1200"/>
          </a:p>
        </p:txBody>
      </p:sp>
      <p:sp>
        <p:nvSpPr>
          <p:cNvPr id="1924572573" name="Google Shape;512;p5"/>
          <p:cNvSpPr txBox="1"/>
          <p:nvPr/>
        </p:nvSpPr>
        <p:spPr bwMode="auto">
          <a:xfrm>
            <a:off x="1403985" y="1101090"/>
            <a:ext cx="4180205" cy="8597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l" rtl="0">
              <a:lnSpc>
                <a:spcPct val="100000"/>
              </a:lnSpc>
              <a:spcBef>
                <a:spcPts val="0"/>
              </a:spcBef>
              <a:spcAft>
                <a:spcPts val="0"/>
              </a:spcAft>
              <a:buSzPts val="1400"/>
              <a:buNone/>
              <a:defRPr/>
            </a:pPr>
            <a:r>
              <a:rPr lang="es-AR" sz="1200" b="1">
                <a:solidFill>
                  <a:srgbClr val="00B050"/>
                </a:solidFill>
              </a:rPr>
              <a:t>&lt;Sin argumentos&gt;</a:t>
            </a:r>
            <a:r>
              <a:rPr lang="en-GB" sz="1200"/>
              <a:t> </a:t>
            </a:r>
            <a:r>
              <a:rPr lang="es-AR" sz="1200"/>
              <a:t>{ </a:t>
            </a:r>
            <a:r>
              <a:rPr sz="1200"/>
              <a:t>no reciben ningún valor como entrada. Es decir, no necesitan que se les pase ningún valor para poder ser ejecutadas y realizar su tarea.</a:t>
            </a:r>
            <a:r>
              <a:rPr lang="en-GB" sz="1200"/>
              <a:t> </a:t>
            </a:r>
            <a:r>
              <a:rPr lang="es-AR" sz="1200"/>
              <a:t>}</a:t>
            </a:r>
            <a:endParaRPr lang="es-AR" sz="1200"/>
          </a:p>
        </p:txBody>
      </p:sp>
      <p:pic>
        <p:nvPicPr>
          <p:cNvPr id="246784894" name="Picture 8"/>
          <p:cNvPicPr>
            <a:picLocks noChangeAspect="1"/>
          </p:cNvPicPr>
          <p:nvPr/>
        </p:nvPicPr>
        <p:blipFill rotWithShape="1">
          <a:blip r:embed="rId3"/>
          <a:stretch/>
        </p:blipFill>
        <p:spPr bwMode="auto">
          <a:xfrm>
            <a:off x="5867399" y="1085215"/>
            <a:ext cx="3048000" cy="891540"/>
          </a:xfrm>
          <a:prstGeom prst="rect">
            <a:avLst/>
          </a:prstGeom>
        </p:spPr>
      </p:pic>
      <p:pic>
        <p:nvPicPr>
          <p:cNvPr id="1381245752" name="Picture 10"/>
          <p:cNvPicPr>
            <a:picLocks noChangeAspect="1"/>
          </p:cNvPicPr>
          <p:nvPr/>
        </p:nvPicPr>
        <p:blipFill rotWithShape="1">
          <a:blip r:embed="rId4"/>
          <a:stretch/>
        </p:blipFill>
        <p:spPr bwMode="auto">
          <a:xfrm>
            <a:off x="7143750" y="2171700"/>
            <a:ext cx="1771650" cy="938530"/>
          </a:xfrm>
          <a:prstGeom prst="rect">
            <a:avLst/>
          </a:prstGeom>
        </p:spPr>
      </p:pic>
      <p:pic>
        <p:nvPicPr>
          <p:cNvPr id="1677381472" name="Picture 13"/>
          <p:cNvPicPr>
            <a:picLocks noChangeAspect="1"/>
          </p:cNvPicPr>
          <p:nvPr/>
        </p:nvPicPr>
        <p:blipFill rotWithShape="1">
          <a:blip r:embed="rId5"/>
          <a:stretch/>
        </p:blipFill>
        <p:spPr bwMode="auto">
          <a:xfrm>
            <a:off x="7025640" y="3507740"/>
            <a:ext cx="1889760" cy="853440"/>
          </a:xfrm>
          <a:prstGeom prst="rect">
            <a:avLst/>
          </a:prstGeom>
        </p:spPr>
      </p:pic>
      <p:sp>
        <p:nvSpPr>
          <p:cNvPr id="2145343902"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65911695"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5809786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610400129"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800532584" name="Google Shape;551;p5"/>
          <p:cNvGrpSpPr/>
          <p:nvPr/>
        </p:nvGrpSpPr>
        <p:grpSpPr bwMode="auto">
          <a:xfrm>
            <a:off x="934720" y="1336675"/>
            <a:ext cx="506095" cy="3008613"/>
            <a:chOff x="1080380" y="3260196"/>
            <a:chExt cx="506100" cy="1195664"/>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202571644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1800"/>
              <a:t>¿Qué son los objetos? </a:t>
            </a:r>
            <a:r>
              <a:rPr lang="en-GB" sz="1800">
                <a:solidFill>
                  <a:schemeClr val="accent6"/>
                </a:solidFill>
              </a:rPr>
              <a:t>{</a:t>
            </a:r>
            <a:r>
              <a:rPr lang="en-GB" sz="1800"/>
              <a:t> </a:t>
            </a:r>
            <a:endParaRPr lang="en-GB" sz="1800"/>
          </a:p>
        </p:txBody>
      </p:sp>
      <p:sp>
        <p:nvSpPr>
          <p:cNvPr id="2068189373" name="Google Shape;512;p5"/>
          <p:cNvSpPr txBox="1"/>
          <p:nvPr/>
        </p:nvSpPr>
        <p:spPr bwMode="auto">
          <a:xfrm>
            <a:off x="1224280" y="1304290"/>
            <a:ext cx="7889240" cy="8235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lang="es-AR" sz="1600"/>
              <a:t> </a:t>
            </a:r>
            <a:r>
              <a:rPr sz="1600"/>
              <a:t>En JavaScript, los objetos son una estructura de datos que nos permite almacenar valores y funciones relacionados entre sí. Cada objeto tiene un conjunto de propiedades y métodos que lo describen y lo diferencian de otros objetos.</a:t>
            </a:r>
            <a:r>
              <a:rPr lang="es-MX" sz="1600"/>
              <a:t> </a:t>
            </a:r>
            <a:r>
              <a:rPr lang="en-GB" sz="1600"/>
              <a:t>&gt;</a:t>
            </a:r>
            <a:endParaRPr lang="en-GB" sz="1600"/>
          </a:p>
        </p:txBody>
      </p:sp>
      <p:pic>
        <p:nvPicPr>
          <p:cNvPr id="271744117" name="Picture 4"/>
          <p:cNvPicPr>
            <a:picLocks noChangeAspect="1"/>
          </p:cNvPicPr>
          <p:nvPr/>
        </p:nvPicPr>
        <p:blipFill rotWithShape="1">
          <a:blip r:embed="rId3"/>
          <a:stretch/>
        </p:blipFill>
        <p:spPr bwMode="auto">
          <a:xfrm>
            <a:off x="2432050" y="2175510"/>
            <a:ext cx="5474335" cy="2010410"/>
          </a:xfrm>
          <a:prstGeom prst="rect">
            <a:avLst/>
          </a:prstGeom>
        </p:spPr>
      </p:pic>
      <p:sp>
        <p:nvSpPr>
          <p:cNvPr id="767200044"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1585606274"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78527283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4691157"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04399409" name="Google Shape;551;p5"/>
          <p:cNvGrpSpPr/>
          <p:nvPr/>
        </p:nvGrpSpPr>
        <p:grpSpPr bwMode="auto">
          <a:xfrm>
            <a:off x="934720" y="1336675"/>
            <a:ext cx="506095" cy="3199545"/>
            <a:chOff x="1080380" y="3260196"/>
            <a:chExt cx="506100" cy="118197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8062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88226593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sz="1800"/>
              <a:t>¿Qué es la desestructuración de objetos?</a:t>
            </a:r>
            <a:r>
              <a:rPr lang="es-AR" sz="1800"/>
              <a:t> </a:t>
            </a:r>
            <a:r>
              <a:rPr lang="en-GB" sz="1800">
                <a:solidFill>
                  <a:schemeClr val="accent6"/>
                </a:solidFill>
              </a:rPr>
              <a:t>{</a:t>
            </a:r>
            <a:r>
              <a:rPr lang="en-GB" sz="1800"/>
              <a:t> </a:t>
            </a:r>
            <a:endParaRPr lang="en-GB" sz="1800"/>
          </a:p>
        </p:txBody>
      </p:sp>
      <p:sp>
        <p:nvSpPr>
          <p:cNvPr id="1317112019" name="Google Shape;512;p5"/>
          <p:cNvSpPr txBox="1"/>
          <p:nvPr/>
        </p:nvSpPr>
        <p:spPr bwMode="auto">
          <a:xfrm>
            <a:off x="1224280" y="1304290"/>
            <a:ext cx="7889240" cy="100647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lang="es-AR" sz="1600"/>
              <a:t> </a:t>
            </a:r>
            <a:r>
              <a:rPr sz="1600"/>
              <a:t>La desestructuración de objetos es una característica de JavaScript que nos permite extraer valores de un objeto y asignarlos a variables individuales de forma más conveniente. Esto nos permite escribir código más limpio y legible.</a:t>
            </a:r>
            <a:r>
              <a:rPr lang="es-MX" sz="1600"/>
              <a:t> </a:t>
            </a:r>
            <a:r>
              <a:rPr lang="en-GB" sz="1600"/>
              <a:t>&gt;</a:t>
            </a:r>
            <a:endParaRPr lang="en-GB" sz="1600"/>
          </a:p>
        </p:txBody>
      </p:sp>
      <p:pic>
        <p:nvPicPr>
          <p:cNvPr id="1443679456" name="Picture 5"/>
          <p:cNvPicPr>
            <a:picLocks noChangeAspect="1"/>
          </p:cNvPicPr>
          <p:nvPr/>
        </p:nvPicPr>
        <p:blipFill rotWithShape="1">
          <a:blip r:embed="rId3"/>
          <a:stretch/>
        </p:blipFill>
        <p:spPr bwMode="auto">
          <a:xfrm>
            <a:off x="3707765" y="2310765"/>
            <a:ext cx="2975610" cy="1990090"/>
          </a:xfrm>
          <a:prstGeom prst="rect">
            <a:avLst/>
          </a:prstGeom>
        </p:spPr>
      </p:pic>
      <p:sp>
        <p:nvSpPr>
          <p:cNvPr id="1931311614"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858757148"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2061314157"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1047541006"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9086571" name="Google Shape;551;p5"/>
          <p:cNvGrpSpPr/>
          <p:nvPr/>
        </p:nvGrpSpPr>
        <p:grpSpPr bwMode="auto">
          <a:xfrm>
            <a:off x="934720" y="1336675"/>
            <a:ext cx="506095" cy="3224541"/>
            <a:chOff x="1080380" y="3260196"/>
            <a:chExt cx="506100" cy="118032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789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352375833"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lang="es-AR" sz="1800"/>
              <a:t>¿Qué son los</a:t>
            </a:r>
            <a:r>
              <a:rPr lang="es-MX" sz="1800"/>
              <a:t> arreglos</a:t>
            </a:r>
            <a:r>
              <a:rPr lang="es-AR" sz="1800"/>
              <a:t>? </a:t>
            </a:r>
            <a:r>
              <a:rPr lang="en-GB" sz="1800">
                <a:solidFill>
                  <a:schemeClr val="accent6"/>
                </a:solidFill>
              </a:rPr>
              <a:t>{</a:t>
            </a:r>
            <a:r>
              <a:rPr lang="en-GB" sz="1800"/>
              <a:t> </a:t>
            </a:r>
            <a:endParaRPr lang="en-GB" sz="1800"/>
          </a:p>
        </p:txBody>
      </p:sp>
      <p:sp>
        <p:nvSpPr>
          <p:cNvPr id="2040911242" name="Google Shape;512;p5"/>
          <p:cNvSpPr txBox="1"/>
          <p:nvPr/>
        </p:nvSpPr>
        <p:spPr bwMode="auto">
          <a:xfrm>
            <a:off x="1224280" y="1304290"/>
            <a:ext cx="7889240" cy="100647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lang="es-AR" sz="1600"/>
              <a:t> </a:t>
            </a:r>
            <a:r>
              <a:rPr sz="1600"/>
              <a:t>En JavaScript, un arreglo es una estructura de datos que nos permite almacenar una colección de elementos en una sola variable. Cada elemento del arreglo tiene un índice numérico que nos permite acceder a él individualmente.</a:t>
            </a:r>
            <a:r>
              <a:rPr lang="es-MX" sz="1600"/>
              <a:t> </a:t>
            </a:r>
            <a:r>
              <a:rPr lang="en-GB" sz="1600"/>
              <a:t>&gt;</a:t>
            </a:r>
            <a:endParaRPr lang="en-GB" sz="1600"/>
          </a:p>
        </p:txBody>
      </p:sp>
      <p:pic>
        <p:nvPicPr>
          <p:cNvPr id="182958830" name="Picture 4"/>
          <p:cNvPicPr>
            <a:picLocks noChangeAspect="1"/>
          </p:cNvPicPr>
          <p:nvPr/>
        </p:nvPicPr>
        <p:blipFill rotWithShape="1">
          <a:blip r:embed="rId3"/>
          <a:stretch/>
        </p:blipFill>
        <p:spPr bwMode="auto">
          <a:xfrm>
            <a:off x="2660015" y="2571750"/>
            <a:ext cx="5017770" cy="899795"/>
          </a:xfrm>
          <a:prstGeom prst="rect">
            <a:avLst/>
          </a:prstGeom>
        </p:spPr>
      </p:pic>
      <p:sp>
        <p:nvSpPr>
          <p:cNvPr id="222938087"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20883052"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425985993"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1525274954"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326421523" name="Google Shape;551;p5"/>
          <p:cNvGrpSpPr/>
          <p:nvPr/>
        </p:nvGrpSpPr>
        <p:grpSpPr bwMode="auto">
          <a:xfrm>
            <a:off x="934720" y="1336675"/>
            <a:ext cx="506095" cy="3199545"/>
            <a:chOff x="1080380" y="3260196"/>
            <a:chExt cx="506100" cy="1181977"/>
          </a:xfrm>
        </p:grpSpPr>
        <p:cxnSp>
          <p:nvCxnSpPr>
            <p:cNvPr id="552" name="Google Shape;552;p5"/>
            <p:cNvCxnSpPr>
              <a:endCxn id="553" idx="0"/>
            </p:cNvCxnSpPr>
            <p:nvPr/>
          </p:nvCxnSpPr>
          <p:spPr bwMode="auto">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bwMode="auto">
            <a:xfrm>
              <a:off x="1080380" y="4261545"/>
              <a:ext cx="506100" cy="18062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defRPr/>
              </a:pPr>
              <a:r>
                <a:rPr lang="en-GB" sz="2000" b="0" i="0" u="none" strike="noStrike" cap="none">
                  <a:solidFill>
                    <a:schemeClr val="accent6"/>
                  </a:solidFill>
                  <a:latin typeface="Fira Code"/>
                  <a:ea typeface="Fira Code"/>
                  <a:cs typeface="Fira Code"/>
                </a:rPr>
                <a:t>}</a:t>
              </a:r>
              <a:endParaRPr lang="en-GB" sz="2000" b="0" i="0" u="none" strike="noStrike" cap="none">
                <a:solidFill>
                  <a:schemeClr val="accent6"/>
                </a:solidFill>
                <a:latin typeface="Fira Code"/>
                <a:ea typeface="Fira Code"/>
                <a:cs typeface="Fira Code"/>
              </a:endParaRPr>
            </a:p>
          </p:txBody>
        </p:sp>
      </p:grpSp>
      <p:sp>
        <p:nvSpPr>
          <p:cNvPr id="1410653367" name="Google Shape;515;p5"/>
          <p:cNvSpPr txBox="1"/>
          <p:nvPr>
            <p:ph type="title"/>
          </p:nvPr>
        </p:nvSpPr>
        <p:spPr bwMode="auto">
          <a:xfrm>
            <a:off x="1153160" y="627380"/>
            <a:ext cx="7990840" cy="530860"/>
          </a:xfrm>
          <a:prstGeom prst="rect">
            <a:avLst/>
          </a:prstGeom>
          <a:noFill/>
          <a:ln>
            <a:noFill/>
          </a:ln>
        </p:spPr>
        <p:txBody>
          <a:bodyPr spcFirstLastPara="1" wrap="square" lIns="91425" tIns="91425" rIns="91425" bIns="91425" anchor="ctr" anchorCtr="0">
            <a:noAutofit/>
          </a:bodyPr>
          <a:p>
            <a:pPr marL="0" lvl="0" indent="0" algn="l" rtl="0">
              <a:lnSpc>
                <a:spcPct val="100000"/>
              </a:lnSpc>
              <a:spcBef>
                <a:spcPts val="0"/>
              </a:spcBef>
              <a:spcAft>
                <a:spcPts val="0"/>
              </a:spcAft>
              <a:buSzPts val="2800"/>
              <a:buNone/>
              <a:defRPr/>
            </a:pPr>
            <a:r>
              <a:rPr sz="1800"/>
              <a:t>¿Qué es la desestructuración de arreglos?</a:t>
            </a:r>
            <a:r>
              <a:rPr lang="es-AR" sz="1800"/>
              <a:t> </a:t>
            </a:r>
            <a:r>
              <a:rPr lang="en-GB" sz="1800">
                <a:solidFill>
                  <a:schemeClr val="accent6"/>
                </a:solidFill>
              </a:rPr>
              <a:t>{</a:t>
            </a:r>
            <a:r>
              <a:rPr lang="en-GB" sz="1800"/>
              <a:t> </a:t>
            </a:r>
            <a:endParaRPr lang="en-GB" sz="1800"/>
          </a:p>
        </p:txBody>
      </p:sp>
      <p:sp>
        <p:nvSpPr>
          <p:cNvPr id="540958183" name="Google Shape;512;p5"/>
          <p:cNvSpPr txBox="1"/>
          <p:nvPr/>
        </p:nvSpPr>
        <p:spPr bwMode="auto">
          <a:xfrm>
            <a:off x="1224280" y="1304290"/>
            <a:ext cx="7889240" cy="100647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defRPr>
            </a:lvl9pPr>
          </a:lstStyle>
          <a:p>
            <a:pPr marL="0" lvl="0" indent="0" algn="ctr" rtl="0">
              <a:lnSpc>
                <a:spcPct val="100000"/>
              </a:lnSpc>
              <a:spcBef>
                <a:spcPts val="0"/>
              </a:spcBef>
              <a:spcAft>
                <a:spcPts val="0"/>
              </a:spcAft>
              <a:buSzPts val="1400"/>
              <a:buNone/>
              <a:defRPr/>
            </a:pPr>
            <a:r>
              <a:rPr lang="en-GB" sz="1600"/>
              <a:t>&lt;</a:t>
            </a:r>
            <a:r>
              <a:rPr lang="es-AR" sz="1600"/>
              <a:t> </a:t>
            </a:r>
            <a:r>
              <a:rPr sz="1600"/>
              <a:t>La desestructuración de arreglos es una característica de JavaScript que permite extraer datos de un arreglo y asignarlos a variables individuales de forma sencilla y legible. Esto puede ser útil cuando se trabaja con arreglos de datos complejos y se desea acceder a valores específicos de manera más eficiente.</a:t>
            </a:r>
            <a:r>
              <a:rPr lang="es-MX" sz="1600"/>
              <a:t> </a:t>
            </a:r>
            <a:r>
              <a:rPr lang="en-GB" sz="1600"/>
              <a:t>&gt;</a:t>
            </a:r>
            <a:endParaRPr lang="en-GB" sz="1600"/>
          </a:p>
        </p:txBody>
      </p:sp>
      <p:pic>
        <p:nvPicPr>
          <p:cNvPr id="1827957863" name="Picture 4"/>
          <p:cNvPicPr>
            <a:picLocks noChangeAspect="1"/>
          </p:cNvPicPr>
          <p:nvPr/>
        </p:nvPicPr>
        <p:blipFill rotWithShape="1">
          <a:blip r:embed="rId3"/>
          <a:stretch/>
        </p:blipFill>
        <p:spPr bwMode="auto">
          <a:xfrm>
            <a:off x="3563620" y="2456815"/>
            <a:ext cx="3133090" cy="2016760"/>
          </a:xfrm>
          <a:prstGeom prst="rect">
            <a:avLst/>
          </a:prstGeom>
        </p:spPr>
      </p:pic>
      <p:sp>
        <p:nvSpPr>
          <p:cNvPr id="357332869" name="Google Shape;466;p1"/>
          <p:cNvSpPr txBox="1"/>
          <p:nvPr/>
        </p:nvSpPr>
        <p:spPr bwMode="auto">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4200"/>
              <a:buNone/>
              <a:defRPr/>
            </a:pPr>
            <a:r>
              <a:rPr lang="es-AR" sz="1400">
                <a:solidFill>
                  <a:schemeClr val="accent3"/>
                </a:solidFill>
              </a:rPr>
              <a:t>UNIDAD 2 - </a:t>
            </a:r>
            <a:r>
              <a:rPr lang="es-AR" sz="1400" b="1">
                <a:solidFill>
                  <a:schemeClr val="accent6"/>
                </a:solidFill>
              </a:rPr>
              <a:t>Desarrollo Web con Javascript</a:t>
            </a:r>
            <a:endParaRPr lang="es-AR" sz="1400" b="1">
              <a:solidFill>
                <a:schemeClr val="accent6"/>
              </a:solidFill>
            </a:endParaRPr>
          </a:p>
        </p:txBody>
      </p:sp>
      <p:sp>
        <p:nvSpPr>
          <p:cNvPr id="920856860" name="Google Shape;476;p2"/>
          <p:cNvSpPr txBox="1"/>
          <p:nvPr/>
        </p:nvSpPr>
        <p:spPr bwMode="auto">
          <a:xfrm>
            <a:off x="709930" y="4694555"/>
            <a:ext cx="3111500" cy="357505"/>
          </a:xfrm>
          <a:prstGeom prst="rect">
            <a:avLst/>
          </a:prstGeom>
          <a:noFill/>
          <a:ln>
            <a:noFill/>
          </a:ln>
        </p:spPr>
        <p:txBody>
          <a:bodyPr spcFirstLastPara="1" wrap="square" lIns="91425" tIns="91425" rIns="91425" bIns="91425" anchor="ctr" anchorCtr="0">
            <a:noAutofit/>
          </a:bodyPr>
          <a:p>
            <a:pPr marL="0" marR="0" lvl="0" indent="0" algn="l" rtl="0">
              <a:lnSpc>
                <a:spcPct val="100000"/>
              </a:lnSpc>
              <a:spcBef>
                <a:spcPts val="0"/>
              </a:spcBef>
              <a:spcAft>
                <a:spcPts val="0"/>
              </a:spcAft>
              <a:buClr>
                <a:schemeClr val="dk2"/>
              </a:buClr>
              <a:buSzPts val="2800"/>
              <a:buFont typeface="Fira Code"/>
              <a:buNone/>
              <a:defRPr/>
            </a:pPr>
            <a:r>
              <a:rPr lang="en-GB" sz="1200" b="0" u="none" strike="noStrike" cap="none">
                <a:solidFill>
                  <a:schemeClr val="accent3"/>
                </a:solidFill>
                <a:latin typeface="Fira Code"/>
                <a:ea typeface="Fira Code"/>
                <a:cs typeface="Fira Code"/>
              </a:rPr>
              <a:t>Instituto </a:t>
            </a:r>
            <a:r>
              <a:rPr lang="en-GB" sz="1200" b="0" u="none" strike="noStrike" cap="none">
                <a:solidFill>
                  <a:schemeClr val="accent3"/>
                </a:solidFill>
                <a:latin typeface="Fira Code"/>
                <a:ea typeface="Fira Code"/>
                <a:cs typeface="Fira Code"/>
              </a:rPr>
              <a:t>Politécnico</a:t>
            </a:r>
            <a:r>
              <a:rPr lang="en-GB" sz="1200" b="0" u="none" strike="noStrike" cap="none">
                <a:solidFill>
                  <a:schemeClr val="accent3"/>
                </a:solidFill>
                <a:latin typeface="Fira Code"/>
                <a:ea typeface="Fira Code"/>
                <a:cs typeface="Fira Code"/>
              </a:rPr>
              <a:t> Formosa</a:t>
            </a:r>
            <a:endParaRPr lang="en-GB" sz="1200" b="0" u="none" strike="noStrike" cap="none">
              <a:solidFill>
                <a:schemeClr val="accent3"/>
              </a:solidFill>
              <a:latin typeface="Fira Code"/>
              <a:ea typeface="Fira Code"/>
              <a:cs typeface="Fira Code"/>
            </a:endParaRPr>
          </a:p>
        </p:txBody>
      </p:sp>
      <p:sp>
        <p:nvSpPr>
          <p:cNvPr id="1923053512" name="Google Shape;937;p25"/>
          <p:cNvSpPr txBox="1"/>
          <p:nvPr/>
        </p:nvSpPr>
        <p:spPr bwMode="auto">
          <a:xfrm>
            <a:off x="8116570" y="4694555"/>
            <a:ext cx="923925" cy="357505"/>
          </a:xfrm>
          <a:prstGeom prst="rect">
            <a:avLst/>
          </a:prstGeom>
          <a:noFill/>
          <a:ln>
            <a:noFill/>
          </a:ln>
        </p:spPr>
        <p:txBody>
          <a:bodyPr spcFirstLastPara="1" wrap="square" lIns="91425" tIns="91425" rIns="91425" bIns="91425" anchor="ctr" anchorCtr="0">
            <a:noAutofit/>
          </a:bodyPr>
          <a:p>
            <a:pPr marL="0" marR="0" lvl="0" indent="0" algn="ctr" rtl="0">
              <a:lnSpc>
                <a:spcPct val="100000"/>
              </a:lnSpc>
              <a:spcBef>
                <a:spcPts val="0"/>
              </a:spcBef>
              <a:spcAft>
                <a:spcPts val="0"/>
              </a:spcAft>
              <a:buClr>
                <a:schemeClr val="dk2"/>
              </a:buClr>
              <a:buSzPts val="4200"/>
              <a:buFont typeface="Fira Code"/>
              <a:buNone/>
              <a:defRPr/>
            </a:pPr>
            <a:r>
              <a:rPr lang="es-ES" sz="1400" b="1" i="0" u="none" strike="noStrike" cap="none">
                <a:solidFill>
                  <a:schemeClr val="accent6"/>
                </a:solidFill>
                <a:latin typeface="Fira Code"/>
                <a:ea typeface="Fira Code"/>
                <a:cs typeface="Fira Code"/>
              </a:rPr>
              <a:t>TLP1</a:t>
            </a:r>
            <a:endParaRPr lang="es-ES" sz="1400" b="1" i="0" u="none" strike="noStrike" cap="none">
              <a:solidFill>
                <a:schemeClr val="accent6"/>
              </a:solidFill>
              <a:latin typeface="Fira Code"/>
              <a:ea typeface="Fira Code"/>
              <a:cs typeface="Fira Code"/>
            </a:endParaRPr>
          </a:p>
        </p:txBody>
      </p:sp>
      <p:sp>
        <p:nvSpPr>
          <p:cNvPr id="1385358826" name="Google Shape;465;p1"/>
          <p:cNvSpPr txBox="1"/>
          <p:nvPr/>
        </p:nvSpPr>
        <p:spPr bwMode="auto">
          <a:xfrm>
            <a:off x="-260" y="11756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defRPr>
            </a:lvl9pPr>
          </a:lstStyle>
          <a:p>
            <a:pPr marL="0" lvl="0" indent="0" algn="ctr" rtl="0">
              <a:lnSpc>
                <a:spcPct val="100000"/>
              </a:lnSpc>
              <a:spcBef>
                <a:spcPts val="0"/>
              </a:spcBef>
              <a:spcAft>
                <a:spcPts val="0"/>
              </a:spcAft>
              <a:buSzPts val="2800"/>
              <a:buNone/>
              <a:defRPr/>
            </a:pPr>
            <a:r>
              <a:rPr lang="es-AR" sz="1400"/>
              <a:t>Funciones</a:t>
            </a:r>
            <a:r>
              <a:rPr lang="es-ES" sz="1400"/>
              <a:t>, Objetos y Arreglos</a:t>
            </a:r>
            <a:endParaRPr lang="es-MX" sz="1400">
              <a:solidFill>
                <a:schemeClr val="accent3"/>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57</Slides>
  <Notes>57</Notes>
  <HiddenSlides>0</HiddenSlides>
  <MMClips>2</MMClips>
  <ScaleCrop>0</ScaleCrop>
  <HeadingPairs>
    <vt:vector size="4" baseType="variant">
      <vt:variant>
        <vt:lpstr>Theme</vt:lpstr>
      </vt:variant>
      <vt:variant>
        <vt:i4>1</vt:i4>
      </vt:variant>
      <vt:variant>
        <vt:lpstr>Slide Titles</vt:lpstr>
      </vt:variant>
      <vt:variant>
        <vt:i4>57</vt:i4>
      </vt:variant>
    </vt:vector>
  </HeadingPairs>
  <TitlesOfParts>
    <vt:vector size="5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un documento ‘HTML’ {</dc:title>
  <dc:creator/>
  <cp:lastModifiedBy/>
  <cp:revision>37</cp:revision>
  <dcterms:created xsi:type="dcterms:W3CDTF">2023-03-30T02:23:00Z</dcterms:created>
  <dcterms:modified xsi:type="dcterms:W3CDTF">2026-05-21T13:41:48Z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D6BC41B201EB41A5BBCC4D2BFD1E1BF2</vt:lpwstr>
  </property>
  <property fmtid="{D5CDD505-2E9C-101B-9397-08002B2CF9AE}" pid="3" name="KSOProductBuildVer">
    <vt:lpwstr>3082-12.2.0.20796</vt:lpwstr>
  </property>
</Properties>
</file>